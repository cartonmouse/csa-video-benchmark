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  <p:sldMasterId id="2147483690" r:id="rId2"/>
  </p:sldMasterIdLst>
  <p:notesMasterIdLst>
    <p:notesMasterId r:id="rId18"/>
  </p:notesMasterIdLst>
  <p:sldIdLst>
    <p:sldId id="258" r:id="rId3"/>
    <p:sldId id="6945" r:id="rId4"/>
    <p:sldId id="6989" r:id="rId5"/>
    <p:sldId id="6990" r:id="rId6"/>
    <p:sldId id="6991" r:id="rId7"/>
    <p:sldId id="6992" r:id="rId8"/>
    <p:sldId id="6993" r:id="rId9"/>
    <p:sldId id="6994" r:id="rId10"/>
    <p:sldId id="6995" r:id="rId11"/>
    <p:sldId id="6996" r:id="rId12"/>
    <p:sldId id="6998" r:id="rId13"/>
    <p:sldId id="6997" r:id="rId14"/>
    <p:sldId id="6999" r:id="rId15"/>
    <p:sldId id="7001" r:id="rId16"/>
    <p:sldId id="700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iel Wu" initials="8" lastIdx="1" clrIdx="0">
    <p:extLst>
      <p:ext uri="{19B8F6BF-5375-455C-9EA6-DF929625EA0E}">
        <p15:presenceInfo xmlns:p15="http://schemas.microsoft.com/office/powerpoint/2012/main" userId="50789e5b9a3dbc7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4E33"/>
    <a:srgbClr val="8A6E59"/>
    <a:srgbClr val="F6C9AA"/>
    <a:srgbClr val="A9CE8B"/>
    <a:srgbClr val="BCD5EB"/>
    <a:srgbClr val="DEEED4"/>
    <a:srgbClr val="FBE285"/>
    <a:srgbClr val="F4F4F4"/>
    <a:srgbClr val="3676B3"/>
    <a:srgbClr val="B6B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31" autoAdjust="0"/>
    <p:restoredTop sz="91450" autoAdjust="0"/>
  </p:normalViewPr>
  <p:slideViewPr>
    <p:cSldViewPr snapToGrid="0">
      <p:cViewPr varScale="1">
        <p:scale>
          <a:sx n="100" d="100"/>
          <a:sy n="100" d="100"/>
        </p:scale>
        <p:origin x="68" y="8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5133E2-1106-4278-AE97-A30E017A6225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4AFF3-DC51-4039-8703-BCD2B08CFB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417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今天给大家汇报的论文题目是</a:t>
            </a:r>
            <a:r>
              <a:rPr lang="en-US" altLang="zh-CN" dirty="0"/>
              <a:t>《</a:t>
            </a:r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苏格拉底式提问：提升视觉语言模型对遥感图像的理解能力</a:t>
            </a:r>
          </a:p>
          <a:p>
            <a:r>
              <a:rPr lang="en-US" altLang="zh-CN" dirty="0"/>
              <a:t>》</a:t>
            </a:r>
            <a:r>
              <a:rPr lang="zh-CN" altLang="en-US" dirty="0"/>
              <a:t>。本文提出了一种名为 </a:t>
            </a:r>
            <a:r>
              <a:rPr lang="en-US" altLang="zh-CN" b="1" dirty="0"/>
              <a:t>RS-EoT</a:t>
            </a:r>
            <a:r>
              <a:rPr lang="zh-CN" altLang="en-US" b="1" dirty="0"/>
              <a:t>（</a:t>
            </a:r>
            <a:r>
              <a:rPr lang="en-US" altLang="zh-CN" b="1" dirty="0"/>
              <a:t>Remote Sensing Evidence-of-Thought</a:t>
            </a:r>
            <a:r>
              <a:rPr lang="zh-CN" altLang="en-US" b="1" dirty="0"/>
              <a:t>）</a:t>
            </a:r>
            <a:r>
              <a:rPr lang="en-US" altLang="zh-CN" dirty="0"/>
              <a:t> </a:t>
            </a:r>
            <a:r>
              <a:rPr lang="zh-CN" altLang="en-US" dirty="0"/>
              <a:t>的推理范式，并通过 </a:t>
            </a:r>
            <a:r>
              <a:rPr lang="en-US" altLang="zh-CN" b="1" dirty="0"/>
              <a:t>SocraticAgent</a:t>
            </a:r>
            <a:r>
              <a:rPr lang="en-US" altLang="zh-CN" dirty="0"/>
              <a:t> </a:t>
            </a:r>
            <a:r>
              <a:rPr lang="zh-CN" altLang="en-US" dirty="0"/>
              <a:t>合成数据与 </a:t>
            </a:r>
            <a:r>
              <a:rPr lang="zh-CN" altLang="en-US" b="1" dirty="0"/>
              <a:t>两阶段强化学习（</a:t>
            </a:r>
            <a:r>
              <a:rPr lang="en-US" altLang="zh-CN" b="1" dirty="0"/>
              <a:t>Grounding → VQA</a:t>
            </a:r>
            <a:r>
              <a:rPr lang="zh-CN" altLang="en-US" b="1" dirty="0"/>
              <a:t>）</a:t>
            </a:r>
            <a:r>
              <a:rPr lang="en-US" altLang="zh-CN" dirty="0"/>
              <a:t> </a:t>
            </a:r>
            <a:r>
              <a:rPr lang="zh-CN" altLang="en-US" dirty="0"/>
              <a:t>的训练流程，将该范式成功植入视觉语言模型，最终得到 </a:t>
            </a:r>
            <a:r>
              <a:rPr lang="en-US" altLang="zh-CN" dirty="0"/>
              <a:t>RS-EoT-7B</a:t>
            </a:r>
            <a:r>
              <a:rPr lang="zh-CN" altLang="en-US" dirty="0"/>
              <a:t>，在多个遥感 </a:t>
            </a:r>
            <a:r>
              <a:rPr lang="en-US" altLang="zh-CN" dirty="0"/>
              <a:t>VQA </a:t>
            </a:r>
            <a:r>
              <a:rPr lang="zh-CN" altLang="en-US" dirty="0"/>
              <a:t>与细粒度定位基准上取得 </a:t>
            </a:r>
            <a:r>
              <a:rPr lang="en-US" altLang="zh-CN" dirty="0"/>
              <a:t>SOTA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4AFF3-DC51-4039-8703-BCD2B08CFBF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447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当前的视觉语言模型在遥感任务中普遍存在一个根本缺陷</a:t>
            </a:r>
            <a:r>
              <a:rPr lang="en-US" altLang="zh-CN" dirty="0"/>
              <a:t>——</a:t>
            </a:r>
            <a:r>
              <a:rPr lang="en-US" altLang="zh-CN" b="1" dirty="0"/>
              <a:t>Glance Effect</a:t>
            </a:r>
            <a:r>
              <a:rPr lang="zh-CN" altLang="en-US" dirty="0"/>
              <a:t>：</a:t>
            </a:r>
            <a:br>
              <a:rPr lang="zh-CN" altLang="en-US" dirty="0"/>
            </a:br>
            <a:r>
              <a:rPr lang="zh-CN" altLang="en-US" dirty="0"/>
              <a:t>模型只会对图像进行一次粗略观察，随后直接进行语言生成式推理。</a:t>
            </a:r>
          </a:p>
          <a:p>
            <a:r>
              <a:rPr lang="zh-CN" altLang="en-US" dirty="0"/>
              <a:t>结果就是图中看到的 </a:t>
            </a:r>
            <a:r>
              <a:rPr lang="en-US" altLang="zh-CN" b="1" dirty="0"/>
              <a:t>pseudo reasoning</a:t>
            </a:r>
            <a:r>
              <a:rPr lang="zh-CN" altLang="en-US" b="1" dirty="0"/>
              <a:t>（伪推理）</a:t>
            </a:r>
            <a:r>
              <a:rPr lang="zh-CN" altLang="en-US" dirty="0"/>
              <a:t>：</a:t>
            </a:r>
            <a:br>
              <a:rPr lang="zh-CN" altLang="en-US" dirty="0"/>
            </a:br>
            <a:r>
              <a:rPr lang="zh-CN" altLang="en-US" dirty="0"/>
              <a:t>推理表面上“看起来合理”，但其实并没有依据视觉证据。</a:t>
            </a:r>
          </a:p>
          <a:p>
            <a:r>
              <a:rPr lang="zh-CN" altLang="en-US" dirty="0"/>
              <a:t>这导致模型在遥感中的表现很差：许多问题需要局部细节、多步判断，而模型完全不回看图像。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4AFF3-DC51-4039-8703-BCD2B08CFBF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819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EE6A8-074D-EB35-E0D3-BBBA6521B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B1D35C-0F5B-19C9-010C-CAE041645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241E9D-4FE0-1AAE-E852-017A0DC78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为了解决这个根本性问题，论文提出要重新设计推理范式。</a:t>
            </a:r>
            <a:br>
              <a:rPr lang="zh-CN" altLang="en-US" dirty="0"/>
            </a:br>
            <a:r>
              <a:rPr lang="en-US" altLang="zh-CN" dirty="0"/>
              <a:t>RS-EoT </a:t>
            </a:r>
            <a:r>
              <a:rPr lang="zh-CN" altLang="en-US" dirty="0"/>
              <a:t>的核心思想是：</a:t>
            </a:r>
            <a:br>
              <a:rPr lang="zh-CN" altLang="en-US" dirty="0"/>
            </a:br>
            <a:r>
              <a:rPr lang="zh-CN" altLang="en-US" b="1" dirty="0"/>
              <a:t>模型必须在推理过程中主动提出问题、主动寻求视觉证据，并通过证据不断修正推理链。</a:t>
            </a:r>
            <a:endParaRPr lang="zh-CN" altLang="en-US" dirty="0"/>
          </a:p>
          <a:p>
            <a:r>
              <a:rPr lang="zh-CN" altLang="en-US" dirty="0"/>
              <a:t>也就是图中的三个关键动作：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Ask</a:t>
            </a:r>
            <a:r>
              <a:rPr lang="zh-CN" altLang="en-US" dirty="0"/>
              <a:t>：提出视觉问题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Perceive</a:t>
            </a:r>
            <a:r>
              <a:rPr lang="zh-CN" altLang="en-US" dirty="0"/>
              <a:t>：回看图像并提取证据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Refine</a:t>
            </a:r>
            <a:r>
              <a:rPr lang="zh-CN" altLang="en-US" dirty="0"/>
              <a:t>：基于证据更新推理</a:t>
            </a:r>
          </a:p>
          <a:p>
            <a:r>
              <a:rPr lang="zh-CN" altLang="en-US" dirty="0"/>
              <a:t>这是首次将“逐步证据寻求”的概念引入遥感领域。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577F1B-2179-CF9E-89B2-85E43C25A6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4AFF3-DC51-4039-8703-BCD2B08CFBF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484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0C29D-B569-A351-9B34-42A6F1A68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4F37EB8-4045-2B17-CA7E-BFE6BA68CB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E4C52A3-E765-21AD-5527-E8099B9AC4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论文的贡献主要有三点：</a:t>
            </a:r>
          </a:p>
          <a:p>
            <a:r>
              <a:rPr lang="zh-CN" altLang="en-US" b="1" dirty="0"/>
              <a:t>第一</a:t>
            </a:r>
            <a:r>
              <a:rPr lang="zh-CN" altLang="en-US" dirty="0"/>
              <a:t>，提出 </a:t>
            </a:r>
            <a:r>
              <a:rPr lang="en-US" altLang="zh-CN" dirty="0"/>
              <a:t>RS-EoT </a:t>
            </a:r>
            <a:r>
              <a:rPr lang="zh-CN" altLang="en-US" dirty="0"/>
              <a:t>推理范式，使模型能够进行主动式、证据驱动的迭代推理，解决 </a:t>
            </a:r>
            <a:r>
              <a:rPr lang="en-US" altLang="zh-CN" dirty="0"/>
              <a:t>Glance Effect</a:t>
            </a:r>
            <a:r>
              <a:rPr lang="zh-CN" altLang="en-US" dirty="0"/>
              <a:t>。</a:t>
            </a:r>
          </a:p>
          <a:p>
            <a:r>
              <a:rPr lang="zh-CN" altLang="en-US" b="1" dirty="0"/>
              <a:t>第二</a:t>
            </a:r>
            <a:r>
              <a:rPr lang="zh-CN" altLang="en-US" dirty="0"/>
              <a:t>，构建了完整训练框架，包括 </a:t>
            </a:r>
            <a:r>
              <a:rPr lang="en-US" altLang="zh-CN" dirty="0"/>
              <a:t>SocraticAgent </a:t>
            </a:r>
            <a:r>
              <a:rPr lang="zh-CN" altLang="en-US" dirty="0"/>
              <a:t>自博弈数据合成 </a:t>
            </a:r>
            <a:r>
              <a:rPr lang="en-US" altLang="zh-CN" dirty="0"/>
              <a:t>+ </a:t>
            </a:r>
            <a:r>
              <a:rPr lang="zh-CN" altLang="en-US" dirty="0"/>
              <a:t>两阶段 </a:t>
            </a:r>
            <a:r>
              <a:rPr lang="en-US" altLang="zh-CN" dirty="0"/>
              <a:t>RL</a:t>
            </a:r>
            <a:r>
              <a:rPr lang="zh-CN" altLang="en-US" dirty="0"/>
              <a:t>，使模型真正掌握 </a:t>
            </a:r>
            <a:r>
              <a:rPr lang="en-US" altLang="zh-CN" dirty="0"/>
              <a:t>RS-EoT </a:t>
            </a:r>
            <a:r>
              <a:rPr lang="zh-CN" altLang="en-US" dirty="0"/>
              <a:t>行为。</a:t>
            </a:r>
          </a:p>
          <a:p>
            <a:r>
              <a:rPr lang="zh-CN" altLang="en-US" b="1" dirty="0"/>
              <a:t>第三</a:t>
            </a:r>
            <a:r>
              <a:rPr lang="zh-CN" altLang="en-US" dirty="0"/>
              <a:t>，训练得到 </a:t>
            </a:r>
            <a:r>
              <a:rPr lang="en-US" altLang="zh-CN" dirty="0"/>
              <a:t>RS-EoT-7B </a:t>
            </a:r>
            <a:r>
              <a:rPr lang="zh-CN" altLang="en-US" dirty="0"/>
              <a:t>模型，在 </a:t>
            </a:r>
            <a:r>
              <a:rPr lang="en-US" altLang="zh-CN" dirty="0"/>
              <a:t>VQA </a:t>
            </a:r>
            <a:r>
              <a:rPr lang="zh-CN" altLang="en-US" dirty="0"/>
              <a:t>和 </a:t>
            </a:r>
            <a:r>
              <a:rPr lang="en-US" altLang="zh-CN" dirty="0"/>
              <a:t>grounding </a:t>
            </a:r>
            <a:r>
              <a:rPr lang="zh-CN" altLang="en-US" dirty="0"/>
              <a:t>等多个遥感任务上取得 </a:t>
            </a:r>
            <a:r>
              <a:rPr lang="en-US" altLang="zh-CN" dirty="0"/>
              <a:t>SOTA</a:t>
            </a:r>
            <a:r>
              <a:rPr lang="zh-CN" altLang="en-US" dirty="0"/>
              <a:t>，并且推理更可信、更可解释。</a:t>
            </a:r>
          </a:p>
          <a:p>
            <a:r>
              <a:rPr lang="zh-CN" altLang="en-US" dirty="0"/>
              <a:t>整体上，本研究从“推理范式层面”弥补了遥感领域长期缺失的核心能力。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DEB843-4839-B1EE-82E0-82694FD034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4AFF3-DC51-4039-8703-BCD2B08CFBF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3923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23B3D-8862-FD68-4272-17B62056D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9EC85F3-41E4-BF70-1DB1-3960B6E96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AECAF3E-6B73-9DBE-8BD3-E8030D7767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在正式训练 </a:t>
            </a:r>
            <a:r>
              <a:rPr lang="en-US" altLang="zh-CN" dirty="0"/>
              <a:t>RS-EoT </a:t>
            </a:r>
            <a:r>
              <a:rPr lang="zh-CN" altLang="en-US" dirty="0"/>
              <a:t>之前，我们需要让模型 </a:t>
            </a:r>
            <a:r>
              <a:rPr lang="zh-CN" altLang="en-US" i="1" dirty="0"/>
              <a:t>第一次学会</a:t>
            </a:r>
            <a:r>
              <a:rPr lang="zh-CN" altLang="en-US" dirty="0"/>
              <a:t> 这种新推理方式，这就是 </a:t>
            </a:r>
            <a:r>
              <a:rPr lang="en-US" altLang="zh-CN" b="1" dirty="0"/>
              <a:t>SFT </a:t>
            </a:r>
            <a:r>
              <a:rPr lang="zh-CN" altLang="en-US" b="1" dirty="0"/>
              <a:t>冷启动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冷启动的作用类似于“教模型看示范”：</a:t>
            </a:r>
            <a:br>
              <a:rPr lang="zh-CN" altLang="en-US" dirty="0"/>
            </a:br>
            <a:r>
              <a:rPr lang="zh-CN" altLang="en-US" dirty="0"/>
              <a:t>我们通过监督微调提供 </a:t>
            </a:r>
            <a:r>
              <a:rPr lang="en-US" altLang="zh-CN" dirty="0"/>
              <a:t>RS-EoT </a:t>
            </a:r>
            <a:r>
              <a:rPr lang="zh-CN" altLang="en-US" dirty="0"/>
              <a:t>风格的标准推理链，让模型学习“如何提出问题、如何逐步推理”。</a:t>
            </a:r>
          </a:p>
          <a:p>
            <a:r>
              <a:rPr lang="zh-CN" altLang="en-US" dirty="0"/>
              <a:t>由于原始数据集中没有这样的多轮推理轨迹，因此必须人为构建。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EB80B2-B592-24F7-4894-02D7E5ECBC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4AFF3-DC51-4039-8703-BCD2B08CFBF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60313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E5A9A-88A6-7702-1039-451EA5639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0406233-9CEE-AE1D-6A5C-3EDF6EEC0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EC529C-60CA-5D1D-B937-97232BC1EC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为了生成高质量 </a:t>
            </a:r>
            <a:r>
              <a:rPr lang="en-US" altLang="zh-CN" dirty="0"/>
              <a:t>RS-EoT </a:t>
            </a:r>
            <a:r>
              <a:rPr lang="zh-CN" altLang="en-US" dirty="0"/>
              <a:t>推理链，论文设计了一个多智能体系统：</a:t>
            </a:r>
          </a:p>
          <a:p>
            <a:r>
              <a:rPr lang="en-US" altLang="zh-CN" b="1" dirty="0"/>
              <a:t>Reasoner</a:t>
            </a:r>
            <a:r>
              <a:rPr lang="zh-CN" altLang="en-US" b="1" dirty="0"/>
              <a:t>（推理者）</a:t>
            </a:r>
            <a:r>
              <a:rPr lang="zh-CN" altLang="en-US" dirty="0"/>
              <a:t>：不能看图，只能阅读问题，因此必须通过语言方式提出视觉问题。</a:t>
            </a:r>
          </a:p>
          <a:p>
            <a:r>
              <a:rPr lang="en-US" altLang="zh-CN" b="1" dirty="0"/>
              <a:t>Perceiver</a:t>
            </a:r>
            <a:r>
              <a:rPr lang="zh-CN" altLang="en-US" b="1" dirty="0"/>
              <a:t>（感知者）</a:t>
            </a:r>
            <a:r>
              <a:rPr lang="zh-CN" altLang="en-US" dirty="0"/>
              <a:t>：能看图，但不知道任务，只能忠实回答 </a:t>
            </a:r>
            <a:r>
              <a:rPr lang="en-US" altLang="zh-CN" dirty="0"/>
              <a:t>Reasoner </a:t>
            </a:r>
            <a:r>
              <a:rPr lang="zh-CN" altLang="en-US" dirty="0"/>
              <a:t>的视觉提问。</a:t>
            </a:r>
          </a:p>
          <a:p>
            <a:r>
              <a:rPr lang="en-US" altLang="zh-CN" b="1" dirty="0"/>
              <a:t>Verifier</a:t>
            </a:r>
            <a:r>
              <a:rPr lang="zh-CN" altLang="en-US" b="1" dirty="0"/>
              <a:t>（验证者）</a:t>
            </a:r>
            <a:r>
              <a:rPr lang="zh-CN" altLang="en-US" dirty="0"/>
              <a:t>：检查最终回答是否正确，只保留成功的推理链。</a:t>
            </a:r>
          </a:p>
          <a:p>
            <a:r>
              <a:rPr lang="zh-CN" altLang="en-US" dirty="0"/>
              <a:t>这种角色分工保证了推理链是 </a:t>
            </a:r>
            <a:r>
              <a:rPr lang="zh-CN" altLang="en-US" i="1" dirty="0"/>
              <a:t>真实的、逐步的、由视觉证据驱动的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8767AA-7233-5DE8-0ECD-25891DC62C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4AFF3-DC51-4039-8703-BCD2B08CFBF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86243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D6C89-5E17-9D6F-3717-E1D46AEA2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9118684-9B10-0340-D013-83CAF27F8D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B3D1EAB-3887-9492-B313-DEF2A933E3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在实际生成推理链时，很容易出现两个问题：</a:t>
            </a:r>
            <a:br>
              <a:rPr lang="zh-CN" altLang="en-US" dirty="0"/>
            </a:br>
            <a:r>
              <a:rPr lang="en-US" altLang="zh-CN" dirty="0"/>
              <a:t>Reasoner </a:t>
            </a:r>
            <a:r>
              <a:rPr lang="zh-CN" altLang="en-US" dirty="0"/>
              <a:t>问太难，</a:t>
            </a:r>
            <a:r>
              <a:rPr lang="en-US" altLang="zh-CN" dirty="0"/>
              <a:t>Perceiver </a:t>
            </a:r>
            <a:r>
              <a:rPr lang="zh-CN" altLang="en-US" dirty="0"/>
              <a:t>回答太啰嗦。</a:t>
            </a:r>
          </a:p>
          <a:p>
            <a:r>
              <a:rPr lang="zh-CN" altLang="en-US" dirty="0"/>
              <a:t>因此论文提出 </a:t>
            </a:r>
            <a:r>
              <a:rPr lang="en-US" altLang="zh-CN" b="1" dirty="0"/>
              <a:t>Self-play Prompting</a:t>
            </a:r>
            <a:r>
              <a:rPr lang="zh-CN" altLang="en-US" dirty="0"/>
              <a:t>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告诉 </a:t>
            </a:r>
            <a:r>
              <a:rPr lang="en-US" altLang="zh-CN" dirty="0"/>
              <a:t>Reasoner</a:t>
            </a:r>
            <a:r>
              <a:rPr lang="zh-CN" altLang="en-US" dirty="0"/>
              <a:t>：“</a:t>
            </a:r>
            <a:r>
              <a:rPr lang="en-US" altLang="zh-CN" dirty="0"/>
              <a:t>Perceiver </a:t>
            </a:r>
            <a:r>
              <a:rPr lang="zh-CN" altLang="en-US" dirty="0"/>
              <a:t>很弱，所以你必须问简单的问题。”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告诉 </a:t>
            </a:r>
            <a:r>
              <a:rPr lang="en-US" altLang="zh-CN" dirty="0"/>
              <a:t>Perceiver</a:t>
            </a:r>
            <a:r>
              <a:rPr lang="zh-CN" altLang="en-US" dirty="0"/>
              <a:t>：“</a:t>
            </a:r>
            <a:r>
              <a:rPr lang="en-US" altLang="zh-CN" dirty="0"/>
              <a:t>Reasoner </a:t>
            </a:r>
            <a:r>
              <a:rPr lang="zh-CN" altLang="en-US" dirty="0"/>
              <a:t>很弱，所以你必须回答简洁准确。”</a:t>
            </a:r>
          </a:p>
          <a:p>
            <a:r>
              <a:rPr lang="zh-CN" altLang="en-US" dirty="0"/>
              <a:t>该机制确保对话呈现出逐步推进、紧扣证据、不跳步的特性。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91166D-BA1D-1BF2-4756-33A8637437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4AFF3-DC51-4039-8703-BCD2B08CFBF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71944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705B7-1C19-7496-61F5-878F40F36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AFA1E7D-8247-22E7-7752-0570FD230D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04E16F-F8A4-2B54-FD0B-33F87AA04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通过 </a:t>
            </a:r>
            <a:r>
              <a:rPr lang="en-US" altLang="zh-CN" dirty="0"/>
              <a:t>SocraticAgent</a:t>
            </a:r>
            <a:r>
              <a:rPr lang="zh-CN" altLang="en-US" dirty="0"/>
              <a:t>，我们最终获得了 </a:t>
            </a:r>
            <a:r>
              <a:rPr lang="en-US" altLang="zh-CN" dirty="0"/>
              <a:t>RS-EoT-4K</a:t>
            </a:r>
            <a:r>
              <a:rPr lang="zh-CN" altLang="en-US" dirty="0"/>
              <a:t>：一个包含约 </a:t>
            </a:r>
            <a:r>
              <a:rPr lang="en-US" altLang="zh-CN" dirty="0"/>
              <a:t>4.3K </a:t>
            </a:r>
            <a:r>
              <a:rPr lang="zh-CN" altLang="en-US" dirty="0"/>
              <a:t>条高质量推理轨迹的数据集。</a:t>
            </a:r>
            <a:br>
              <a:rPr lang="zh-CN" altLang="en-US" dirty="0"/>
            </a:br>
            <a:r>
              <a:rPr lang="zh-CN" altLang="en-US" dirty="0"/>
              <a:t>数据覆盖 </a:t>
            </a:r>
            <a:r>
              <a:rPr lang="en-US" altLang="zh-CN" dirty="0"/>
              <a:t>RGB</a:t>
            </a:r>
            <a:r>
              <a:rPr lang="zh-CN" altLang="en-US" dirty="0"/>
              <a:t>、</a:t>
            </a:r>
            <a:r>
              <a:rPr lang="en-US" altLang="zh-CN" dirty="0"/>
              <a:t>IR</a:t>
            </a:r>
            <a:r>
              <a:rPr lang="zh-CN" altLang="en-US" dirty="0"/>
              <a:t>、</a:t>
            </a:r>
            <a:r>
              <a:rPr lang="en-US" altLang="zh-CN" dirty="0"/>
              <a:t>SAR </a:t>
            </a:r>
            <a:r>
              <a:rPr lang="zh-CN" altLang="en-US" dirty="0"/>
              <a:t>等不同模态，推理链按照右下角模板格式统一整理。</a:t>
            </a:r>
          </a:p>
          <a:p>
            <a:r>
              <a:rPr lang="zh-CN" altLang="en-US" dirty="0"/>
              <a:t>这些数据用于模型的 </a:t>
            </a:r>
            <a:r>
              <a:rPr lang="en-US" altLang="zh-CN" dirty="0"/>
              <a:t>SFT</a:t>
            </a:r>
            <a:r>
              <a:rPr lang="zh-CN" altLang="en-US" dirty="0"/>
              <a:t>，使模型真正学会“如何执行 </a:t>
            </a:r>
            <a:r>
              <a:rPr lang="en-US" altLang="zh-CN" dirty="0"/>
              <a:t>RS-EoT </a:t>
            </a:r>
            <a:r>
              <a:rPr lang="zh-CN" altLang="en-US" dirty="0"/>
              <a:t>风格推理”。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466ED5-9434-7425-4AD4-8E8B6816DE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4AFF3-DC51-4039-8703-BCD2B08CFBF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11896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8815E-C4C3-882A-6D7F-B3ABF6BEE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5462602-978C-341F-0BAC-CC581F11E0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1E3FB7F-0139-47B0-A927-49D408227B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冷启动之后，模型虽然会 </a:t>
            </a:r>
            <a:r>
              <a:rPr lang="en-US" altLang="zh-CN" dirty="0"/>
              <a:t>RS-EoT</a:t>
            </a:r>
            <a:r>
              <a:rPr lang="zh-CN" altLang="en-US" dirty="0"/>
              <a:t>，但还不够强。</a:t>
            </a:r>
            <a:br>
              <a:rPr lang="zh-CN" altLang="en-US" dirty="0"/>
            </a:br>
            <a:r>
              <a:rPr lang="zh-CN" altLang="en-US" dirty="0"/>
              <a:t>因此第一阶段 </a:t>
            </a:r>
            <a:r>
              <a:rPr lang="en-US" altLang="zh-CN" dirty="0"/>
              <a:t>RL </a:t>
            </a:r>
            <a:r>
              <a:rPr lang="zh-CN" altLang="en-US" dirty="0"/>
              <a:t>的目标是让模型 </a:t>
            </a:r>
            <a:r>
              <a:rPr lang="zh-CN" altLang="en-US" b="1" dirty="0"/>
              <a:t>看得更准</a:t>
            </a:r>
            <a:r>
              <a:rPr lang="zh-CN" altLang="en-US" dirty="0"/>
              <a:t>，尤其是增强细粒度证据定位能力。</a:t>
            </a:r>
          </a:p>
          <a:p>
            <a:r>
              <a:rPr lang="zh-CN" altLang="en-US" dirty="0"/>
              <a:t>做法是让模型输出 </a:t>
            </a:r>
            <a:r>
              <a:rPr lang="en-US" altLang="zh-CN" dirty="0"/>
              <a:t>bbox</a:t>
            </a:r>
            <a:r>
              <a:rPr lang="zh-CN" altLang="en-US" dirty="0"/>
              <a:t>，并用 </a:t>
            </a:r>
            <a:r>
              <a:rPr lang="en-US" altLang="zh-CN" dirty="0"/>
              <a:t>IoU </a:t>
            </a:r>
            <a:r>
              <a:rPr lang="zh-CN" altLang="en-US" dirty="0"/>
              <a:t>作为奖励信号。</a:t>
            </a:r>
            <a:br>
              <a:rPr lang="zh-CN" altLang="en-US" dirty="0"/>
            </a:br>
            <a:r>
              <a:rPr lang="zh-CN" altLang="en-US" dirty="0"/>
              <a:t>类似于让模型练习“视觉精确度”：框画得越准，奖励越高。</a:t>
            </a:r>
          </a:p>
          <a:p>
            <a:r>
              <a:rPr lang="zh-CN" altLang="en-US" dirty="0"/>
              <a:t>这一步非常关键，为后续高质量推理提供基础。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60B368-5294-CBC7-3794-C43401988C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4AFF3-DC51-4039-8703-BCD2B08CFBF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7343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E105C-26CB-6EC7-DD11-C9DA8B68D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75AB12-ED41-9A58-10D7-A37BE8313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00F83E7-55CA-AB92-7E1F-D97766ADDC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第二阶段 </a:t>
            </a:r>
            <a:r>
              <a:rPr lang="en-US" altLang="zh-CN" dirty="0"/>
              <a:t>RL </a:t>
            </a:r>
            <a:r>
              <a:rPr lang="zh-CN" altLang="en-US" dirty="0"/>
              <a:t>的目标是让模型 </a:t>
            </a:r>
            <a:r>
              <a:rPr lang="zh-CN" altLang="en-US" b="1" dirty="0"/>
              <a:t>答得稳</a:t>
            </a:r>
            <a:r>
              <a:rPr lang="zh-CN" altLang="en-US" dirty="0"/>
              <a:t>，也就是提高推理的稳定性和泛化能力。</a:t>
            </a:r>
          </a:p>
          <a:p>
            <a:r>
              <a:rPr lang="zh-CN" altLang="en-US" dirty="0"/>
              <a:t>遥感 </a:t>
            </a:r>
            <a:r>
              <a:rPr lang="en-US" altLang="zh-CN" dirty="0"/>
              <a:t>VQA </a:t>
            </a:r>
            <a:r>
              <a:rPr lang="zh-CN" altLang="en-US" dirty="0"/>
              <a:t>原本很简单（大量 </a:t>
            </a:r>
            <a:r>
              <a:rPr lang="en-US" altLang="zh-CN" dirty="0"/>
              <a:t>Yes/No</a:t>
            </a:r>
            <a:r>
              <a:rPr lang="zh-CN" altLang="en-US" dirty="0"/>
              <a:t>），容易被模型“投机取巧”，因此论文将其重构为多选题。</a:t>
            </a:r>
          </a:p>
          <a:p>
            <a:r>
              <a:rPr lang="zh-CN" altLang="en-US" dirty="0"/>
              <a:t>模型需要对每个选项进行逐项验证，从而必须回到图像检查证据。</a:t>
            </a:r>
          </a:p>
          <a:p>
            <a:r>
              <a:rPr lang="zh-CN" altLang="en-US" dirty="0"/>
              <a:t>配合分级奖励（</a:t>
            </a:r>
            <a:r>
              <a:rPr lang="en-US" altLang="zh-CN" dirty="0"/>
              <a:t>graded reward</a:t>
            </a:r>
            <a:r>
              <a:rPr lang="zh-CN" altLang="en-US" dirty="0"/>
              <a:t>），模型能够稳定学习逐项证据验证的行为，避免 </a:t>
            </a:r>
            <a:r>
              <a:rPr lang="en-US" altLang="zh-CN" dirty="0"/>
              <a:t>reward hacking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D7BD6D-5638-F89C-F961-58E94E834D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4AFF3-DC51-4039-8703-BCD2B08CFBF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1203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8EE74-C474-C3AF-D1E1-1F5E9ADDA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E6A3693-EB7A-DED9-4ACD-F4942B0F1C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1CD09E-91F9-6EF3-2FAC-A64A5488A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在所有遥感 </a:t>
            </a:r>
            <a:r>
              <a:rPr lang="en-US" altLang="zh-CN" dirty="0"/>
              <a:t>VQA </a:t>
            </a:r>
            <a:r>
              <a:rPr lang="zh-CN" altLang="en-US" dirty="0"/>
              <a:t>和 </a:t>
            </a:r>
            <a:r>
              <a:rPr lang="en-US" altLang="zh-CN" dirty="0"/>
              <a:t>grounding </a:t>
            </a:r>
            <a:r>
              <a:rPr lang="zh-CN" altLang="en-US" dirty="0"/>
              <a:t>基准中，</a:t>
            </a:r>
            <a:r>
              <a:rPr lang="en-US" altLang="zh-CN" dirty="0"/>
              <a:t>RS-EoT-7B </a:t>
            </a:r>
            <a:r>
              <a:rPr lang="zh-CN" altLang="en-US" dirty="0"/>
              <a:t>取得全面 </a:t>
            </a:r>
            <a:r>
              <a:rPr lang="en-US" altLang="zh-CN" dirty="0"/>
              <a:t>SOTA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重点在于：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推理更稳定（</a:t>
            </a:r>
            <a:r>
              <a:rPr lang="en-US" altLang="zh-CN" dirty="0"/>
              <a:t>Conv@5</a:t>
            </a:r>
            <a:r>
              <a:rPr lang="zh-CN" altLang="en-US" dirty="0"/>
              <a:t>、</a:t>
            </a:r>
            <a:r>
              <a:rPr lang="en-US" altLang="zh-CN" dirty="0"/>
              <a:t>Pass@5 </a:t>
            </a:r>
            <a:r>
              <a:rPr lang="zh-CN" altLang="en-US" dirty="0"/>
              <a:t>显著领先）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定位更精确（</a:t>
            </a:r>
            <a:r>
              <a:rPr lang="en-US" altLang="zh-CN" dirty="0"/>
              <a:t>mIoU</a:t>
            </a:r>
            <a:r>
              <a:rPr lang="zh-CN" altLang="en-US" dirty="0"/>
              <a:t>、</a:t>
            </a:r>
            <a:r>
              <a:rPr lang="en-US" altLang="zh-CN" dirty="0"/>
              <a:t>IoU@70 </a:t>
            </a:r>
            <a:r>
              <a:rPr lang="zh-CN" altLang="en-US" dirty="0"/>
              <a:t>领先幅度明显）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与传统“伪推理”模型差距巨大</a:t>
            </a:r>
          </a:p>
          <a:p>
            <a:r>
              <a:rPr lang="zh-CN" altLang="en-US" dirty="0"/>
              <a:t>说明 </a:t>
            </a:r>
            <a:r>
              <a:rPr lang="en-US" altLang="zh-CN" dirty="0"/>
              <a:t>RS-EoT </a:t>
            </a:r>
            <a:r>
              <a:rPr lang="zh-CN" altLang="en-US" dirty="0"/>
              <a:t>的推理范式比单纯堆模型规模更有价值。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166046-026A-8BFC-AF61-B01E0B34B0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4AFF3-DC51-4039-8703-BCD2B08CFBF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8089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0E14F-F60B-61BD-00AC-15C8D8B28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98EA0F-92CD-96CE-10F2-5C56645AF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64C3703-AC93-2EDE-C1E6-C2B914D0E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本文从根本上重塑了遥感推理的流程。</a:t>
            </a:r>
          </a:p>
          <a:p>
            <a:r>
              <a:rPr lang="zh-CN" altLang="en-US" b="1" dirty="0"/>
              <a:t>第一</a:t>
            </a:r>
            <a:r>
              <a:rPr lang="zh-CN" altLang="en-US" dirty="0"/>
              <a:t>，提出 </a:t>
            </a:r>
            <a:r>
              <a:rPr lang="en-US" altLang="zh-CN" dirty="0"/>
              <a:t>RS-EoT</a:t>
            </a:r>
            <a:r>
              <a:rPr lang="zh-CN" altLang="en-US" dirty="0"/>
              <a:t>，使推理从“看一次就回答”变成“反复查证再回答”。</a:t>
            </a:r>
          </a:p>
          <a:p>
            <a:r>
              <a:rPr lang="zh-CN" altLang="en-US" b="1" dirty="0"/>
              <a:t>第二</a:t>
            </a:r>
            <a:r>
              <a:rPr lang="zh-CN" altLang="en-US" dirty="0"/>
              <a:t>，构建了 </a:t>
            </a:r>
            <a:r>
              <a:rPr lang="en-US" altLang="zh-CN" dirty="0"/>
              <a:t>SocraticAgent + </a:t>
            </a:r>
            <a:r>
              <a:rPr lang="zh-CN" altLang="en-US" dirty="0"/>
              <a:t>两阶段 </a:t>
            </a:r>
            <a:r>
              <a:rPr lang="en-US" altLang="zh-CN" dirty="0"/>
              <a:t>RL</a:t>
            </a:r>
            <a:r>
              <a:rPr lang="zh-CN" altLang="en-US" dirty="0"/>
              <a:t>，使模型真正掌握这种推理行为。</a:t>
            </a:r>
          </a:p>
          <a:p>
            <a:r>
              <a:rPr lang="zh-CN" altLang="en-US" b="1" dirty="0"/>
              <a:t>第三</a:t>
            </a:r>
            <a:r>
              <a:rPr lang="zh-CN" altLang="en-US" dirty="0"/>
              <a:t>，最终模型 </a:t>
            </a:r>
            <a:r>
              <a:rPr lang="en-US" altLang="zh-CN" dirty="0"/>
              <a:t>RS-EoT-7B </a:t>
            </a:r>
            <a:r>
              <a:rPr lang="zh-CN" altLang="en-US" dirty="0"/>
              <a:t>在所有遥感任务上取得 </a:t>
            </a:r>
            <a:r>
              <a:rPr lang="en-US" altLang="zh-CN" dirty="0"/>
              <a:t>SOTA</a:t>
            </a:r>
            <a:r>
              <a:rPr lang="zh-CN" altLang="en-US" dirty="0"/>
              <a:t>，推理链清晰且可信。</a:t>
            </a:r>
          </a:p>
          <a:p>
            <a:r>
              <a:rPr lang="zh-CN" altLang="en-US" dirty="0"/>
              <a:t>论文的核心意义在于：</a:t>
            </a:r>
            <a:br>
              <a:rPr lang="zh-CN" altLang="en-US" dirty="0"/>
            </a:br>
            <a:r>
              <a:rPr lang="zh-CN" altLang="en-US" b="1" dirty="0"/>
              <a:t>让 </a:t>
            </a:r>
            <a:r>
              <a:rPr lang="en-US" altLang="zh-CN" b="1" dirty="0"/>
              <a:t>VLM </a:t>
            </a:r>
            <a:r>
              <a:rPr lang="zh-CN" altLang="en-US" b="1" dirty="0"/>
              <a:t>从语言幻觉式推理，变成真正的视觉证据驱动推理。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6720D4-AAED-E5A2-0744-D43ED94588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4AFF3-DC51-4039-8703-BCD2B08CFBF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6634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4AFF3-DC51-4039-8703-BCD2B08CFBF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146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E177A-969A-D145-B411-CF3627141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9B999B4-3BE6-D33D-69A0-6D7DE83913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C34D3C-C768-F807-F2DE-1A1EB4364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论文的贡献主要有三点：</a:t>
            </a:r>
          </a:p>
          <a:p>
            <a:r>
              <a:rPr lang="zh-CN" altLang="en-US" b="1" dirty="0"/>
              <a:t>第一</a:t>
            </a:r>
            <a:r>
              <a:rPr lang="zh-CN" altLang="en-US" dirty="0"/>
              <a:t>，提出 </a:t>
            </a:r>
            <a:r>
              <a:rPr lang="en-US" altLang="zh-CN" dirty="0"/>
              <a:t>RS-EoT </a:t>
            </a:r>
            <a:r>
              <a:rPr lang="zh-CN" altLang="en-US" dirty="0"/>
              <a:t>推理范式，使模型能够进行主动式、证据驱动的迭代推理，解决 </a:t>
            </a:r>
            <a:r>
              <a:rPr lang="en-US" altLang="zh-CN" dirty="0"/>
              <a:t>Glance Effect</a:t>
            </a:r>
            <a:r>
              <a:rPr lang="zh-CN" altLang="en-US" dirty="0"/>
              <a:t>。</a:t>
            </a:r>
          </a:p>
          <a:p>
            <a:r>
              <a:rPr lang="zh-CN" altLang="en-US" b="1" dirty="0"/>
              <a:t>第二</a:t>
            </a:r>
            <a:r>
              <a:rPr lang="zh-CN" altLang="en-US" dirty="0"/>
              <a:t>，构建了完整训练框架，包括 </a:t>
            </a:r>
            <a:r>
              <a:rPr lang="en-US" altLang="zh-CN" dirty="0"/>
              <a:t>SocraticAgent </a:t>
            </a:r>
            <a:r>
              <a:rPr lang="zh-CN" altLang="en-US" dirty="0"/>
              <a:t>自博弈数据合成 </a:t>
            </a:r>
            <a:r>
              <a:rPr lang="en-US" altLang="zh-CN" dirty="0"/>
              <a:t>+ </a:t>
            </a:r>
            <a:r>
              <a:rPr lang="zh-CN" altLang="en-US" dirty="0"/>
              <a:t>两阶段 </a:t>
            </a:r>
            <a:r>
              <a:rPr lang="en-US" altLang="zh-CN" dirty="0"/>
              <a:t>RL</a:t>
            </a:r>
            <a:r>
              <a:rPr lang="zh-CN" altLang="en-US" dirty="0"/>
              <a:t>，使模型真正掌握 </a:t>
            </a:r>
            <a:r>
              <a:rPr lang="en-US" altLang="zh-CN" dirty="0"/>
              <a:t>RS-EoT </a:t>
            </a:r>
            <a:r>
              <a:rPr lang="zh-CN" altLang="en-US" dirty="0"/>
              <a:t>行为。</a:t>
            </a:r>
          </a:p>
          <a:p>
            <a:r>
              <a:rPr lang="zh-CN" altLang="en-US" b="1" dirty="0"/>
              <a:t>第三</a:t>
            </a:r>
            <a:r>
              <a:rPr lang="zh-CN" altLang="en-US" dirty="0"/>
              <a:t>，训练得到 </a:t>
            </a:r>
            <a:r>
              <a:rPr lang="en-US" altLang="zh-CN" dirty="0"/>
              <a:t>RS-EoT-7B </a:t>
            </a:r>
            <a:r>
              <a:rPr lang="zh-CN" altLang="en-US" dirty="0"/>
              <a:t>模型，在 </a:t>
            </a:r>
            <a:r>
              <a:rPr lang="en-US" altLang="zh-CN" dirty="0"/>
              <a:t>VQA </a:t>
            </a:r>
            <a:r>
              <a:rPr lang="zh-CN" altLang="en-US" dirty="0"/>
              <a:t>和 </a:t>
            </a:r>
            <a:r>
              <a:rPr lang="en-US" altLang="zh-CN" dirty="0"/>
              <a:t>grounding </a:t>
            </a:r>
            <a:r>
              <a:rPr lang="zh-CN" altLang="en-US" dirty="0"/>
              <a:t>等多个遥感任务上取得 </a:t>
            </a:r>
            <a:r>
              <a:rPr lang="en-US" altLang="zh-CN" dirty="0"/>
              <a:t>SOTA</a:t>
            </a:r>
            <a:r>
              <a:rPr lang="zh-CN" altLang="en-US" dirty="0"/>
              <a:t>，并且推理更可信、更可解释。</a:t>
            </a:r>
          </a:p>
          <a:p>
            <a:r>
              <a:rPr lang="zh-CN" altLang="en-US" dirty="0"/>
              <a:t>整体上，本研究从“推理范式层面”弥补了遥感领域长期缺失的核心能力。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42F560-1616-3DA0-5DB3-832A19B46B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4AFF3-DC51-4039-8703-BCD2B08CFBF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2874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D01F73F-CDA2-4DF8-AEB1-AAE92DF7DF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0DD8F05-89B4-4F43-B518-EDC34B444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F61975-E89C-4E67-AA11-1E0E2A3CE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5475" y="6389460"/>
            <a:ext cx="513218" cy="365125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fld id="{B96431A7-A439-48DC-9DBC-6BA34343210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5" name="标题占位符 1">
            <a:extLst>
              <a:ext uri="{FF2B5EF4-FFF2-40B4-BE49-F238E27FC236}">
                <a16:creationId xmlns:a16="http://schemas.microsoft.com/office/drawing/2014/main" id="{DDDD3DEB-532E-8097-F903-1E0485B81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81" y="135917"/>
            <a:ext cx="11205119" cy="7165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  </a:t>
            </a:r>
          </a:p>
        </p:txBody>
      </p:sp>
    </p:spTree>
    <p:extLst>
      <p:ext uri="{BB962C8B-B14F-4D97-AF65-F5344CB8AC3E}">
        <p14:creationId xmlns:p14="http://schemas.microsoft.com/office/powerpoint/2010/main" val="1491706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D077E4A-F8A7-4050-BB99-2619B0E1EE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AABE0E0-529E-4391-AF40-288B42115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0F0C6724-6536-0F43-5AE0-F88B23A8BF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5475" y="6389460"/>
            <a:ext cx="513218" cy="365125"/>
          </a:xfrm>
          <a:prstGeom prst="rect">
            <a:avLst/>
          </a:prstGeom>
        </p:spPr>
        <p:txBody>
          <a:bodyPr/>
          <a:lstStyle>
            <a:lvl1pPr algn="ctr">
              <a:defRPr sz="1800" b="1">
                <a:latin typeface="+mn-lt"/>
              </a:defRPr>
            </a:lvl1pPr>
          </a:lstStyle>
          <a:p>
            <a:fld id="{B96431A7-A439-48DC-9DBC-6BA34343210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435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11625475" y="6389460"/>
            <a:ext cx="513218" cy="365125"/>
          </a:xfrm>
          <a:prstGeom prst="rect">
            <a:avLst/>
          </a:prstGeom>
        </p:spPr>
        <p:txBody>
          <a:bodyPr/>
          <a:lstStyle>
            <a:lvl1pPr>
              <a:defRPr lang="zh-CN" altLang="en-US" smtClean="0"/>
            </a:lvl1pPr>
          </a:lstStyle>
          <a:p>
            <a:fld id="{3F538418-090C-4777-8878-56A9A7DB6096}" type="slidenum">
              <a:rPr lang="en-US" altLang="zh-CN" smtClean="0"/>
              <a:pPr/>
              <a:t>‹#›</a:t>
            </a:fld>
            <a:endParaRPr lang="en-US" dirty="0"/>
          </a:p>
        </p:txBody>
      </p:sp>
      <p:sp>
        <p:nvSpPr>
          <p:cNvPr id="4" name="标题占位符 1">
            <a:extLst>
              <a:ext uri="{FF2B5EF4-FFF2-40B4-BE49-F238E27FC236}">
                <a16:creationId xmlns:a16="http://schemas.microsoft.com/office/drawing/2014/main" id="{6FE6407D-EB0F-456A-B8AB-959E611C3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81" y="135917"/>
            <a:ext cx="11205119" cy="7165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  </a:t>
            </a:r>
          </a:p>
        </p:txBody>
      </p:sp>
    </p:spTree>
    <p:extLst>
      <p:ext uri="{BB962C8B-B14F-4D97-AF65-F5344CB8AC3E}">
        <p14:creationId xmlns:p14="http://schemas.microsoft.com/office/powerpoint/2010/main" val="2149569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4167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BC209A18-83AA-447A-BDC5-A1574B3374F1}"/>
              </a:ext>
            </a:extLst>
          </p:cNvPr>
          <p:cNvGrpSpPr/>
          <p:nvPr userDrawn="1"/>
        </p:nvGrpSpPr>
        <p:grpSpPr>
          <a:xfrm>
            <a:off x="4680" y="521207"/>
            <a:ext cx="12178534" cy="6284317"/>
            <a:chOff x="46784" y="800618"/>
            <a:chExt cx="10832709" cy="6098632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C68B33BD-EC77-43F2-B93B-161ACAD4CF0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16" b="7816"/>
            <a:stretch/>
          </p:blipFill>
          <p:spPr>
            <a:xfrm>
              <a:off x="46784" y="805849"/>
              <a:ext cx="10832709" cy="6093401"/>
            </a:xfrm>
            <a:prstGeom prst="rect">
              <a:avLst/>
            </a:prstGeom>
          </p:spPr>
        </p:pic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283EA1F-D53B-4079-83DE-3444CE751AE8}"/>
                </a:ext>
              </a:extLst>
            </p:cNvPr>
            <p:cNvSpPr/>
            <p:nvPr userDrawn="1"/>
          </p:nvSpPr>
          <p:spPr>
            <a:xfrm>
              <a:off x="46784" y="800618"/>
              <a:ext cx="10832708" cy="6086200"/>
            </a:xfrm>
            <a:prstGeom prst="rect">
              <a:avLst/>
            </a:prstGeom>
            <a:gradFill flip="none" rotWithShape="1">
              <a:gsLst>
                <a:gs pos="70000">
                  <a:schemeClr val="bg1">
                    <a:lumMod val="82000"/>
                    <a:lumOff val="18000"/>
                  </a:schemeClr>
                </a:gs>
                <a:gs pos="0">
                  <a:schemeClr val="bg1"/>
                </a:gs>
                <a:gs pos="100000">
                  <a:schemeClr val="bg1">
                    <a:alpha val="69000"/>
                  </a:scheme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64">
                <a:defRPr/>
              </a:pPr>
              <a:endPara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F4EDEAF5-4F7B-41F8-AB22-645449759108}"/>
              </a:ext>
            </a:extLst>
          </p:cNvPr>
          <p:cNvSpPr/>
          <p:nvPr userDrawn="1"/>
        </p:nvSpPr>
        <p:spPr>
          <a:xfrm>
            <a:off x="3240" y="6812280"/>
            <a:ext cx="12178412" cy="4571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A48B89C9-CAD0-4D5B-81B2-70D81163E72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680" y="863600"/>
            <a:ext cx="11277600" cy="14400"/>
          </a:xfrm>
          <a:prstGeom prst="rect">
            <a:avLst/>
          </a:prstGeom>
          <a:gradFill rotWithShape="1">
            <a:gsLst>
              <a:gs pos="0">
                <a:schemeClr val="accent1">
                  <a:lumMod val="75000"/>
                </a:schemeClr>
              </a:gs>
              <a:gs pos="61000">
                <a:srgbClr val="FF9900">
                  <a:lumMod val="96000"/>
                  <a:lumOff val="4000"/>
                  <a:alpha val="66000"/>
                </a:srgbClr>
              </a:gs>
              <a:gs pos="96000">
                <a:srgbClr val="0033CC">
                  <a:alpha val="20000"/>
                  <a:lumMod val="38000"/>
                  <a:lumOff val="62000"/>
                </a:srgbClr>
              </a:gs>
            </a:gsLst>
            <a:lin ang="0" scaled="1"/>
          </a:gradFill>
          <a:ln w="25400" algn="ctr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zh-CN" altLang="en-US" sz="100" b="1">
              <a:solidFill>
                <a:srgbClr val="009999"/>
              </a:solidFill>
              <a:latin typeface="Garamond" pitchFamily="18" charset="0"/>
            </a:endParaRPr>
          </a:p>
        </p:txBody>
      </p:sp>
      <p:sp>
        <p:nvSpPr>
          <p:cNvPr id="15" name="等腰三角形 14">
            <a:extLst>
              <a:ext uri="{FF2B5EF4-FFF2-40B4-BE49-F238E27FC236}">
                <a16:creationId xmlns:a16="http://schemas.microsoft.com/office/drawing/2014/main" id="{0C962AA4-6198-4FDB-ACB7-08499C033B4F}"/>
              </a:ext>
            </a:extLst>
          </p:cNvPr>
          <p:cNvSpPr/>
          <p:nvPr userDrawn="1"/>
        </p:nvSpPr>
        <p:spPr>
          <a:xfrm>
            <a:off x="172992" y="6369050"/>
            <a:ext cx="665208" cy="482193"/>
          </a:xfrm>
          <a:prstGeom prst="triangle">
            <a:avLst>
              <a:gd name="adj" fmla="val 50607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C4FA01D-5192-4C31-8AE5-F83A3282FFFC}"/>
              </a:ext>
            </a:extLst>
          </p:cNvPr>
          <p:cNvSpPr/>
          <p:nvPr userDrawn="1"/>
        </p:nvSpPr>
        <p:spPr>
          <a:xfrm>
            <a:off x="-1524" y="6377733"/>
            <a:ext cx="519703" cy="4394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41C43994-7030-49B0-BA9A-0713FA51E85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3307" y="6418540"/>
            <a:ext cx="448341" cy="439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148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9" r:id="rId3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Tx/>
        <a:buBlip>
          <a:blip r:embed="rId7"/>
        </a:buBlip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Tx/>
        <a:buBlip>
          <a:blip r:embed="rId7"/>
        </a:buBlip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Tx/>
        <a:buBlip>
          <a:blip r:embed="rId7"/>
        </a:buBlip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Tx/>
        <a:buBlip>
          <a:blip r:embed="rId7"/>
        </a:buBlip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Tx/>
        <a:buBlip>
          <a:blip r:embed="rId7"/>
        </a:buBlip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EC813598-483C-472E-A94D-97C3261DEFAF}"/>
              </a:ext>
            </a:extLst>
          </p:cNvPr>
          <p:cNvGrpSpPr/>
          <p:nvPr userDrawn="1"/>
        </p:nvGrpSpPr>
        <p:grpSpPr>
          <a:xfrm>
            <a:off x="4680" y="521207"/>
            <a:ext cx="12178534" cy="6284317"/>
            <a:chOff x="46784" y="800618"/>
            <a:chExt cx="10832709" cy="6098632"/>
          </a:xfrm>
        </p:grpSpPr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3337120D-E58B-4928-A8B9-70AC2FAA51A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16" b="7816"/>
            <a:stretch/>
          </p:blipFill>
          <p:spPr>
            <a:xfrm>
              <a:off x="46784" y="805849"/>
              <a:ext cx="10832709" cy="6093401"/>
            </a:xfrm>
            <a:prstGeom prst="rect">
              <a:avLst/>
            </a:prstGeom>
          </p:spPr>
        </p:pic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530D4A6F-9478-454E-AE3D-02E39DA303C9}"/>
                </a:ext>
              </a:extLst>
            </p:cNvPr>
            <p:cNvSpPr/>
            <p:nvPr userDrawn="1"/>
          </p:nvSpPr>
          <p:spPr>
            <a:xfrm>
              <a:off x="46784" y="800618"/>
              <a:ext cx="10832708" cy="6086200"/>
            </a:xfrm>
            <a:prstGeom prst="rect">
              <a:avLst/>
            </a:prstGeom>
            <a:gradFill flip="none" rotWithShape="1">
              <a:gsLst>
                <a:gs pos="70000">
                  <a:schemeClr val="bg1">
                    <a:lumMod val="82000"/>
                    <a:lumOff val="18000"/>
                  </a:schemeClr>
                </a:gs>
                <a:gs pos="0">
                  <a:schemeClr val="bg1"/>
                </a:gs>
                <a:gs pos="100000">
                  <a:schemeClr val="bg1">
                    <a:alpha val="69000"/>
                  </a:scheme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64">
                <a:defRPr/>
              </a:pPr>
              <a:endPara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F4EDEAF5-4F7B-41F8-AB22-645449759108}"/>
              </a:ext>
            </a:extLst>
          </p:cNvPr>
          <p:cNvSpPr/>
          <p:nvPr userDrawn="1"/>
        </p:nvSpPr>
        <p:spPr>
          <a:xfrm>
            <a:off x="3240" y="6812280"/>
            <a:ext cx="12178412" cy="4571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等腰三角形 14">
            <a:extLst>
              <a:ext uri="{FF2B5EF4-FFF2-40B4-BE49-F238E27FC236}">
                <a16:creationId xmlns:a16="http://schemas.microsoft.com/office/drawing/2014/main" id="{0C962AA4-6198-4FDB-ACB7-08499C033B4F}"/>
              </a:ext>
            </a:extLst>
          </p:cNvPr>
          <p:cNvSpPr/>
          <p:nvPr userDrawn="1"/>
        </p:nvSpPr>
        <p:spPr>
          <a:xfrm>
            <a:off x="172992" y="6369050"/>
            <a:ext cx="665208" cy="482193"/>
          </a:xfrm>
          <a:prstGeom prst="triangle">
            <a:avLst>
              <a:gd name="adj" fmla="val 50607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C4FA01D-5192-4C31-8AE5-F83A3282FFFC}"/>
              </a:ext>
            </a:extLst>
          </p:cNvPr>
          <p:cNvSpPr/>
          <p:nvPr userDrawn="1"/>
        </p:nvSpPr>
        <p:spPr>
          <a:xfrm>
            <a:off x="-1524" y="6377733"/>
            <a:ext cx="519703" cy="4394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41C43994-7030-49B0-BA9A-0713FA51E85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3307" y="6418540"/>
            <a:ext cx="448341" cy="439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07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Tx/>
        <a:buBlip>
          <a:blip r:embed="rId5"/>
        </a:buBlip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Tx/>
        <a:buBlip>
          <a:blip r:embed="rId5"/>
        </a:buBlip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Tx/>
        <a:buBlip>
          <a:blip r:embed="rId5"/>
        </a:buBlip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Tx/>
        <a:buBlip>
          <a:blip r:embed="rId5"/>
        </a:buBlip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Tx/>
        <a:buBlip>
          <a:blip r:embed="rId5"/>
        </a:buBlip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4">
            <a:extLst>
              <a:ext uri="{FF2B5EF4-FFF2-40B4-BE49-F238E27FC236}">
                <a16:creationId xmlns:a16="http://schemas.microsoft.com/office/drawing/2014/main" id="{23628169-1BDD-4D0F-AB3D-DDEF931964D2}"/>
              </a:ext>
            </a:extLst>
          </p:cNvPr>
          <p:cNvSpPr txBox="1">
            <a:spLocks/>
          </p:cNvSpPr>
          <p:nvPr/>
        </p:nvSpPr>
        <p:spPr bwMode="auto">
          <a:xfrm>
            <a:off x="1965430" y="4280453"/>
            <a:ext cx="8583300" cy="655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Calibri" pitchFamily="34" charset="0"/>
                <a:ea typeface="+mj-ea"/>
                <a:cs typeface="Times New Roman" pitchFamily="18" charset="0"/>
              </a:defRPr>
            </a:lvl1pPr>
            <a:lvl2pPr algn="ctr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defRPr>
            </a:lvl2pPr>
            <a:lvl3pPr algn="ctr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defRPr>
            </a:lvl3pPr>
            <a:lvl4pPr algn="ctr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defRPr>
            </a:lvl4pPr>
            <a:lvl5pPr algn="ctr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  <a:ea typeface="黑体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  <a:ea typeface="黑体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  <a:ea typeface="黑体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  <a:ea typeface="黑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cs typeface="Calibri" panose="020F0502020204030204" pitchFamily="34" charset="0"/>
              </a:rPr>
              <a:t>RS-EoT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cs typeface="Calibri" panose="020F0502020204030204" pitchFamily="34" charset="0"/>
              </a:rPr>
              <a:t>：面向遥感的迭代式证据寻求推理范式 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cs typeface="Calibri" panose="020F0502020204030204" pitchFamily="34" charset="0"/>
              </a:rPr>
              <a:t>+ SocraticAgent + 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cs typeface="Calibri" panose="020F0502020204030204" pitchFamily="34" charset="0"/>
              </a:rPr>
              <a:t>两阶段 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cs typeface="Calibri" panose="020F0502020204030204" pitchFamily="34" charset="0"/>
              </a:rPr>
              <a:t>RL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2F9EB0D-D458-4462-9B43-743DF1CA4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938" y="0"/>
            <a:ext cx="2664755" cy="79905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4ED566EF-4167-44D1-B68A-5FE46FC6A831}"/>
              </a:ext>
            </a:extLst>
          </p:cNvPr>
          <p:cNvSpPr/>
          <p:nvPr/>
        </p:nvSpPr>
        <p:spPr>
          <a:xfrm>
            <a:off x="0" y="2329585"/>
            <a:ext cx="12192000" cy="1875934"/>
          </a:xfrm>
          <a:prstGeom prst="rect">
            <a:avLst/>
          </a:prstGeom>
          <a:solidFill>
            <a:srgbClr val="2F55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8EAE2C7-3C02-45A9-8D2E-D661837D9EF2}"/>
              </a:ext>
            </a:extLst>
          </p:cNvPr>
          <p:cNvSpPr/>
          <p:nvPr/>
        </p:nvSpPr>
        <p:spPr>
          <a:xfrm>
            <a:off x="618075" y="3387556"/>
            <a:ext cx="10929346" cy="669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苏格拉底式提问：提升视觉语言模型对遥感图像的理解能力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EDB7529-50AD-9091-331A-5D034065258A}"/>
              </a:ext>
            </a:extLst>
          </p:cNvPr>
          <p:cNvSpPr txBox="1"/>
          <p:nvPr/>
        </p:nvSpPr>
        <p:spPr>
          <a:xfrm>
            <a:off x="1927060" y="2448583"/>
            <a:ext cx="83113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Asking like Socrates: Socrates helps VLMs understand remote sensing images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36DC9C3-B397-D2E8-5491-3EF30AE884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1732" y="4903502"/>
            <a:ext cx="1104900" cy="13144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3E174AC-8241-9FDE-0F78-8B84C593E4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4213425" y="4870165"/>
            <a:ext cx="1190625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122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标题 8">
            <a:extLst>
              <a:ext uri="{FF2B5EF4-FFF2-40B4-BE49-F238E27FC236}">
                <a16:creationId xmlns:a16="http://schemas.microsoft.com/office/drawing/2014/main" id="{626968B3-E96A-B1F7-D749-D447CD3FF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0B2A6C"/>
                </a:solidFill>
              </a:rPr>
              <a:t>研究</a:t>
            </a:r>
            <a:r>
              <a:rPr lang="zh-CN" altLang="en-US" sz="3200" dirty="0">
                <a:solidFill>
                  <a:srgbClr val="0B2A6C"/>
                </a:solidFill>
              </a:rPr>
              <a:t>背景：为什么遥感需要新的推理范式？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1392F1C-7119-1BDD-7727-F2BB19ECF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739" y="1192696"/>
            <a:ext cx="7081962" cy="221311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6025167-6CBB-915D-FF33-17D0B71AD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5001" y="1186070"/>
            <a:ext cx="4249464" cy="2091359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6E1EF053-C79A-91FD-FCB6-DD652CCF6376}"/>
              </a:ext>
            </a:extLst>
          </p:cNvPr>
          <p:cNvGrpSpPr/>
          <p:nvPr/>
        </p:nvGrpSpPr>
        <p:grpSpPr>
          <a:xfrm>
            <a:off x="8052790" y="3604588"/>
            <a:ext cx="3673887" cy="1199325"/>
            <a:chOff x="811973" y="1802293"/>
            <a:chExt cx="3673887" cy="2551046"/>
          </a:xfrm>
        </p:grpSpPr>
        <p:sp>
          <p:nvSpPr>
            <p:cNvPr id="17" name="íṡḷîḓê">
              <a:extLst>
                <a:ext uri="{FF2B5EF4-FFF2-40B4-BE49-F238E27FC236}">
                  <a16:creationId xmlns:a16="http://schemas.microsoft.com/office/drawing/2014/main" id="{EFFBBB96-A45D-6EA0-AE97-89A1BD51065B}"/>
                </a:ext>
              </a:extLst>
            </p:cNvPr>
            <p:cNvSpPr/>
            <p:nvPr/>
          </p:nvSpPr>
          <p:spPr>
            <a:xfrm>
              <a:off x="811973" y="1802293"/>
              <a:ext cx="3673887" cy="2551046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8ABFC05F-450F-25F9-6524-16EDBD39B1FA}"/>
                </a:ext>
              </a:extLst>
            </p:cNvPr>
            <p:cNvSpPr txBox="1"/>
            <p:nvPr/>
          </p:nvSpPr>
          <p:spPr>
            <a:xfrm>
              <a:off x="974035" y="1908312"/>
              <a:ext cx="3352800" cy="2348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“</a:t>
              </a:r>
              <a:r>
                <a:rPr lang="zh-CN" altLang="en-US" b="1" dirty="0"/>
                <a:t>只看一眼</a:t>
              </a:r>
              <a:r>
                <a:rPr lang="en-US" altLang="zh-CN" dirty="0"/>
                <a:t>”</a:t>
              </a:r>
              <a:r>
                <a:rPr lang="zh-CN" altLang="en-US" dirty="0"/>
                <a:t>效应</a:t>
              </a:r>
              <a:r>
                <a:rPr lang="en-US" altLang="zh-CN" dirty="0"/>
                <a:t>(Glance Effect)</a:t>
              </a:r>
              <a:r>
                <a:rPr lang="zh-CN" altLang="en-US" dirty="0"/>
                <a:t>：检查一次图像之后就不再回看，直接进行推理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386DFF47-07A5-B169-2AA7-FF081BF8244A}"/>
              </a:ext>
            </a:extLst>
          </p:cNvPr>
          <p:cNvGrpSpPr/>
          <p:nvPr/>
        </p:nvGrpSpPr>
        <p:grpSpPr>
          <a:xfrm>
            <a:off x="1903782" y="3604588"/>
            <a:ext cx="3673887" cy="1205952"/>
            <a:chOff x="1903782" y="3604588"/>
            <a:chExt cx="3673887" cy="1205952"/>
          </a:xfrm>
        </p:grpSpPr>
        <p:sp>
          <p:nvSpPr>
            <p:cNvPr id="22" name="íṡḷîḓê">
              <a:extLst>
                <a:ext uri="{FF2B5EF4-FFF2-40B4-BE49-F238E27FC236}">
                  <a16:creationId xmlns:a16="http://schemas.microsoft.com/office/drawing/2014/main" id="{EF110BF7-210C-BB4B-7C1F-7A5B6DB2BACD}"/>
                </a:ext>
              </a:extLst>
            </p:cNvPr>
            <p:cNvSpPr/>
            <p:nvPr/>
          </p:nvSpPr>
          <p:spPr>
            <a:xfrm>
              <a:off x="1903782" y="3611215"/>
              <a:ext cx="3673887" cy="1199325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990F113C-7AFA-296C-C558-9728EDFB4AF2}"/>
                </a:ext>
              </a:extLst>
            </p:cNvPr>
            <p:cNvSpPr txBox="1"/>
            <p:nvPr/>
          </p:nvSpPr>
          <p:spPr>
            <a:xfrm>
              <a:off x="2112226" y="3604588"/>
              <a:ext cx="3352800" cy="11041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易出现</a:t>
              </a:r>
              <a:r>
                <a:rPr lang="zh-CN" altLang="en-US" b="1" dirty="0"/>
                <a:t>伪推理</a:t>
              </a:r>
              <a:r>
                <a:rPr lang="zh-CN" altLang="en-US" dirty="0"/>
                <a:t>（</a:t>
              </a:r>
              <a:r>
                <a:rPr lang="en-US" altLang="zh-CN" dirty="0"/>
                <a:t>pseudo reasoning</a:t>
              </a:r>
              <a:r>
                <a:rPr lang="zh-CN" altLang="en-US" dirty="0"/>
                <a:t>）：仅依赖于</a:t>
              </a:r>
              <a:r>
                <a:rPr lang="zh-CN" altLang="en-US" b="1" dirty="0"/>
                <a:t>语言的自洽性</a:t>
              </a:r>
              <a:r>
                <a:rPr lang="zh-CN" altLang="en-US" dirty="0"/>
                <a:t>，而不是</a:t>
              </a:r>
              <a:r>
                <a:rPr lang="zh-CN" altLang="en-US" b="1" dirty="0"/>
                <a:t>视觉依据</a:t>
              </a:r>
            </a:p>
          </p:txBody>
        </p:sp>
      </p:grpSp>
      <p:sp>
        <p:nvSpPr>
          <p:cNvPr id="24" name="íṡḷîḓê">
            <a:extLst>
              <a:ext uri="{FF2B5EF4-FFF2-40B4-BE49-F238E27FC236}">
                <a16:creationId xmlns:a16="http://schemas.microsoft.com/office/drawing/2014/main" id="{BF6EE529-C06B-7693-1494-8E4E39768B55}"/>
              </a:ext>
            </a:extLst>
          </p:cNvPr>
          <p:cNvSpPr/>
          <p:nvPr/>
        </p:nvSpPr>
        <p:spPr>
          <a:xfrm>
            <a:off x="2254965" y="5320746"/>
            <a:ext cx="8605192" cy="662612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1">
                <a:lumMod val="6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7514346-C0D0-8610-3FD4-55B91430B24C}"/>
              </a:ext>
            </a:extLst>
          </p:cNvPr>
          <p:cNvSpPr txBox="1"/>
          <p:nvPr/>
        </p:nvSpPr>
        <p:spPr>
          <a:xfrm>
            <a:off x="2470035" y="5453266"/>
            <a:ext cx="8635288" cy="411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b="1" dirty="0"/>
              <a:t>核心问题：</a:t>
            </a:r>
            <a:r>
              <a:rPr lang="zh-CN" altLang="en-US" dirty="0"/>
              <a:t>现有 </a:t>
            </a:r>
            <a:r>
              <a:rPr lang="en-US" altLang="zh-CN" dirty="0"/>
              <a:t>VLM </a:t>
            </a:r>
            <a:r>
              <a:rPr lang="zh-CN" altLang="en-US" dirty="0"/>
              <a:t>并不会主动寻找视觉证据，导致在遥感任务上推理失败。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726483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 advTm="346">
        <p:fade/>
      </p:transition>
    </mc:Choice>
    <mc:Fallback xmlns="">
      <p:transition advTm="346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ADE5D-BE66-75F0-AFAD-68CD9FFC3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标题 8">
            <a:extLst>
              <a:ext uri="{FF2B5EF4-FFF2-40B4-BE49-F238E27FC236}">
                <a16:creationId xmlns:a16="http://schemas.microsoft.com/office/drawing/2014/main" id="{41F69DC1-6AC8-34AB-09D4-4E9F82A7C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0B2A6C"/>
                </a:solidFill>
              </a:rPr>
              <a:t>研究</a:t>
            </a:r>
            <a:r>
              <a:rPr lang="zh-CN" altLang="en-US" sz="3200" dirty="0">
                <a:solidFill>
                  <a:srgbClr val="0B2A6C"/>
                </a:solidFill>
              </a:rPr>
              <a:t>背景：为什么遥感需要新的推理范式？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5082816-9159-87AC-7F01-EC7DA873B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256" y="3647661"/>
            <a:ext cx="5143464" cy="264049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8C55182-1BE7-145E-2247-C0D443D200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18" y="864291"/>
            <a:ext cx="11559924" cy="2707169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1EC3CC78-CDA2-903A-9EC2-8AEC7D767A3A}"/>
              </a:ext>
            </a:extLst>
          </p:cNvPr>
          <p:cNvGrpSpPr/>
          <p:nvPr/>
        </p:nvGrpSpPr>
        <p:grpSpPr>
          <a:xfrm>
            <a:off x="770721" y="3796745"/>
            <a:ext cx="5530688" cy="2232994"/>
            <a:chOff x="1903782" y="3604588"/>
            <a:chExt cx="3673887" cy="2232994"/>
          </a:xfrm>
        </p:grpSpPr>
        <p:sp>
          <p:nvSpPr>
            <p:cNvPr id="16" name="íṡḷîḓê">
              <a:extLst>
                <a:ext uri="{FF2B5EF4-FFF2-40B4-BE49-F238E27FC236}">
                  <a16:creationId xmlns:a16="http://schemas.microsoft.com/office/drawing/2014/main" id="{7B84C424-395C-98D3-2900-ECC0A5903E95}"/>
                </a:ext>
              </a:extLst>
            </p:cNvPr>
            <p:cNvSpPr/>
            <p:nvPr/>
          </p:nvSpPr>
          <p:spPr>
            <a:xfrm>
              <a:off x="1903782" y="3611215"/>
              <a:ext cx="3673887" cy="2226367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C735FB3B-45B2-310B-B43A-0F42018B60EF}"/>
                </a:ext>
              </a:extLst>
            </p:cNvPr>
            <p:cNvSpPr txBox="1"/>
            <p:nvPr/>
          </p:nvSpPr>
          <p:spPr>
            <a:xfrm>
              <a:off x="2112226" y="3604588"/>
              <a:ext cx="3352800" cy="2142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论文提出的解决方向</a:t>
              </a:r>
              <a:r>
                <a:rPr lang="en-US" altLang="zh-CN" dirty="0"/>
                <a:t>:</a:t>
              </a:r>
            </a:p>
            <a:p>
              <a:pPr marL="742950" lvl="1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en-US" altLang="zh-CN" dirty="0"/>
                <a:t>RS-EoT</a:t>
              </a:r>
              <a:r>
                <a:rPr lang="zh-CN" altLang="en-US" dirty="0"/>
                <a:t>：迭代式、证据驱动的推理范式</a:t>
              </a:r>
              <a:endParaRPr lang="en-US" altLang="zh-CN" dirty="0"/>
            </a:p>
            <a:p>
              <a:pPr marL="742950" lvl="1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目标：让模型在推理过程中</a:t>
              </a:r>
              <a:endParaRPr lang="en-US" altLang="zh-CN" dirty="0"/>
            </a:p>
            <a:p>
              <a:pPr marL="1200150" lvl="2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提出问题（</a:t>
              </a:r>
              <a:r>
                <a:rPr lang="en-US" altLang="zh-CN" dirty="0"/>
                <a:t>ask</a:t>
              </a:r>
              <a:r>
                <a:rPr lang="zh-CN" altLang="en-US" dirty="0"/>
                <a:t>）</a:t>
              </a:r>
              <a:endParaRPr lang="en-US" altLang="zh-CN" dirty="0"/>
            </a:p>
            <a:p>
              <a:pPr marL="1200150" lvl="2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查看图像（</a:t>
              </a:r>
              <a:r>
                <a:rPr lang="en-US" altLang="zh-CN" dirty="0"/>
                <a:t>perceive</a:t>
              </a:r>
              <a:r>
                <a:rPr lang="zh-CN" altLang="en-US" dirty="0"/>
                <a:t>）</a:t>
              </a:r>
              <a:endParaRPr lang="en-US" altLang="zh-CN" dirty="0"/>
            </a:p>
            <a:p>
              <a:pPr marL="1200150" lvl="2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根据证据修正推理（</a:t>
              </a:r>
              <a:r>
                <a:rPr lang="en-US" altLang="zh-CN" dirty="0"/>
                <a:t>refine</a:t>
              </a:r>
              <a:r>
                <a:rPr lang="zh-CN" altLang="en-US" dirty="0"/>
                <a:t>）</a:t>
              </a:r>
              <a:endParaRPr lang="zh-CN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987910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 advTm="346">
        <p:fade/>
      </p:transition>
    </mc:Choice>
    <mc:Fallback xmlns="">
      <p:transition advTm="346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16D88-4EF0-0F87-CA70-F36741DCA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标题 8">
            <a:extLst>
              <a:ext uri="{FF2B5EF4-FFF2-40B4-BE49-F238E27FC236}">
                <a16:creationId xmlns:a16="http://schemas.microsoft.com/office/drawing/2014/main" id="{DA9B9AD7-E2AB-019A-D2FB-CAFE4C0F2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0B2A6C"/>
                </a:solidFill>
              </a:rPr>
              <a:t>主要贡献</a:t>
            </a:r>
            <a:endParaRPr lang="zh-CN" altLang="en-US" sz="3200" dirty="0">
              <a:solidFill>
                <a:srgbClr val="0B2A6C"/>
              </a:solidFill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C845F0A-AC47-E09A-A514-DF68460195AF}"/>
              </a:ext>
            </a:extLst>
          </p:cNvPr>
          <p:cNvGrpSpPr/>
          <p:nvPr/>
        </p:nvGrpSpPr>
        <p:grpSpPr>
          <a:xfrm>
            <a:off x="340024" y="1133058"/>
            <a:ext cx="5530688" cy="1808926"/>
            <a:chOff x="1903782" y="3604588"/>
            <a:chExt cx="3673887" cy="1808926"/>
          </a:xfrm>
        </p:grpSpPr>
        <p:sp>
          <p:nvSpPr>
            <p:cNvPr id="16" name="íṡḷîḓê">
              <a:extLst>
                <a:ext uri="{FF2B5EF4-FFF2-40B4-BE49-F238E27FC236}">
                  <a16:creationId xmlns:a16="http://schemas.microsoft.com/office/drawing/2014/main" id="{8B7F7D45-E7F5-EE40-72E9-D0AE61DDC468}"/>
                </a:ext>
              </a:extLst>
            </p:cNvPr>
            <p:cNvSpPr/>
            <p:nvPr/>
          </p:nvSpPr>
          <p:spPr>
            <a:xfrm>
              <a:off x="1903782" y="3611216"/>
              <a:ext cx="3673887" cy="1802298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443BA89A-6D06-07CB-CA0A-00CB270AF762}"/>
                </a:ext>
              </a:extLst>
            </p:cNvPr>
            <p:cNvSpPr txBox="1"/>
            <p:nvPr/>
          </p:nvSpPr>
          <p:spPr>
            <a:xfrm>
              <a:off x="2112226" y="3604588"/>
              <a:ext cx="3352800" cy="1796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b="1" dirty="0"/>
                <a:t>贡献 </a:t>
              </a:r>
              <a:r>
                <a:rPr lang="en-US" altLang="zh-CN" b="1" dirty="0"/>
                <a:t>1</a:t>
              </a:r>
              <a:r>
                <a:rPr lang="zh-CN" altLang="en-US" dirty="0"/>
                <a:t>：提出 </a:t>
              </a:r>
              <a:r>
                <a:rPr lang="en-US" altLang="zh-CN" dirty="0"/>
                <a:t>RS-EoT </a:t>
              </a:r>
              <a:r>
                <a:rPr lang="zh-CN" altLang="en-US" dirty="0"/>
                <a:t>推理范式</a:t>
              </a:r>
              <a:endParaRPr lang="en-US" altLang="zh-CN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每一步推理可主动</a:t>
              </a:r>
              <a:r>
                <a:rPr lang="zh-CN" altLang="en-US" b="1" dirty="0"/>
                <a:t>提出视觉问题</a:t>
              </a:r>
              <a:r>
                <a:rPr lang="zh-CN" altLang="en-US" dirty="0"/>
                <a:t>并</a:t>
              </a:r>
              <a:r>
                <a:rPr lang="zh-CN" altLang="en-US" b="1" dirty="0"/>
                <a:t>检索局部证据</a:t>
              </a:r>
              <a:endParaRPr lang="en-US" altLang="zh-CN" b="1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解决传统 </a:t>
              </a:r>
              <a:r>
                <a:rPr lang="en-US" altLang="zh-CN" dirty="0"/>
                <a:t>VLM “</a:t>
              </a:r>
              <a:r>
                <a:rPr lang="zh-CN" altLang="en-US" b="1" dirty="0"/>
                <a:t>只看一眼”（</a:t>
              </a:r>
              <a:r>
                <a:rPr lang="en-US" altLang="zh-CN" b="1" dirty="0"/>
                <a:t>Glance Effect</a:t>
              </a:r>
              <a:r>
                <a:rPr lang="zh-CN" altLang="en-US" b="1" dirty="0"/>
                <a:t>）</a:t>
              </a:r>
              <a:r>
                <a:rPr lang="zh-CN" altLang="en-US" dirty="0"/>
                <a:t>导致的伪推理问题</a:t>
              </a:r>
              <a:endParaRPr lang="zh-CN" altLang="en-US" b="1" dirty="0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106966F1-8293-FF03-8EDC-3B014FA6AE67}"/>
              </a:ext>
            </a:extLst>
          </p:cNvPr>
          <p:cNvGrpSpPr/>
          <p:nvPr/>
        </p:nvGrpSpPr>
        <p:grpSpPr>
          <a:xfrm>
            <a:off x="5905938" y="1133058"/>
            <a:ext cx="5530688" cy="3279916"/>
            <a:chOff x="1903782" y="3604588"/>
            <a:chExt cx="3673887" cy="3279916"/>
          </a:xfrm>
        </p:grpSpPr>
        <p:sp>
          <p:nvSpPr>
            <p:cNvPr id="4" name="íṡḷîḓê">
              <a:extLst>
                <a:ext uri="{FF2B5EF4-FFF2-40B4-BE49-F238E27FC236}">
                  <a16:creationId xmlns:a16="http://schemas.microsoft.com/office/drawing/2014/main" id="{3AA8A6E2-E419-C4FF-DDB0-DAB2C1951A95}"/>
                </a:ext>
              </a:extLst>
            </p:cNvPr>
            <p:cNvSpPr/>
            <p:nvPr/>
          </p:nvSpPr>
          <p:spPr>
            <a:xfrm>
              <a:off x="1903782" y="3611215"/>
              <a:ext cx="3673887" cy="3273289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CA48C3AD-7ED3-9276-3F5F-A01BC714B8DC}"/>
                </a:ext>
              </a:extLst>
            </p:cNvPr>
            <p:cNvSpPr txBox="1"/>
            <p:nvPr/>
          </p:nvSpPr>
          <p:spPr>
            <a:xfrm>
              <a:off x="2112226" y="3604588"/>
              <a:ext cx="3352800" cy="31816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b="1" dirty="0"/>
                <a:t>贡献 </a:t>
              </a:r>
              <a:r>
                <a:rPr lang="en-US" altLang="zh-CN" b="1" dirty="0"/>
                <a:t>2</a:t>
              </a:r>
              <a:r>
                <a:rPr lang="zh-CN" altLang="en-US" dirty="0"/>
                <a:t>：构建完整 </a:t>
              </a:r>
              <a:r>
                <a:rPr lang="en-US" altLang="zh-CN" b="1" dirty="0"/>
                <a:t>RS-EoT </a:t>
              </a:r>
              <a:r>
                <a:rPr lang="zh-CN" altLang="en-US" b="1" dirty="0"/>
                <a:t>训练框架</a:t>
              </a:r>
              <a:r>
                <a:rPr lang="en-US" altLang="zh-CN" b="1" dirty="0"/>
                <a:t>SocraticAgent</a:t>
              </a:r>
              <a:r>
                <a:rPr lang="zh-CN" altLang="en-US" dirty="0"/>
                <a:t>：基于 </a:t>
              </a:r>
              <a:r>
                <a:rPr lang="en-US" altLang="zh-CN" dirty="0"/>
                <a:t>Reasoner–Perceiver </a:t>
              </a:r>
              <a:r>
                <a:rPr lang="zh-CN" altLang="en-US" dirty="0"/>
                <a:t>的自博弈系统→ 合成结构化、多轮、证据扎实的 </a:t>
              </a:r>
              <a:r>
                <a:rPr lang="en-US" altLang="zh-CN" dirty="0"/>
                <a:t>RS-EoT </a:t>
              </a:r>
              <a:r>
                <a:rPr lang="zh-CN" altLang="en-US" dirty="0"/>
                <a:t>推理轨迹（</a:t>
              </a:r>
              <a:r>
                <a:rPr lang="en-US" altLang="zh-CN" dirty="0"/>
                <a:t>RS-EoT-4K</a:t>
              </a:r>
              <a:r>
                <a:rPr lang="zh-CN" altLang="en-US" dirty="0"/>
                <a:t>）</a:t>
              </a:r>
              <a:endParaRPr lang="en-US" altLang="zh-CN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b="1" dirty="0"/>
                <a:t>两阶段强化学习（</a:t>
              </a:r>
              <a:r>
                <a:rPr lang="en-US" altLang="zh-CN" b="1" dirty="0"/>
                <a:t>RL</a:t>
              </a:r>
              <a:r>
                <a:rPr lang="zh-CN" altLang="en-US" b="1" dirty="0"/>
                <a:t>）</a:t>
              </a:r>
              <a:r>
                <a:rPr lang="zh-CN" altLang="en-US" dirty="0"/>
                <a:t>：</a:t>
              </a:r>
              <a:endParaRPr lang="en-US" altLang="zh-CN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en-US" altLang="zh-CN" dirty="0"/>
                <a:t>Stage 1</a:t>
              </a:r>
              <a:r>
                <a:rPr lang="zh-CN" altLang="en-US" dirty="0"/>
                <a:t>（</a:t>
              </a:r>
              <a:r>
                <a:rPr lang="en-US" altLang="zh-CN" dirty="0"/>
                <a:t>Grounding</a:t>
              </a:r>
              <a:r>
                <a:rPr lang="zh-CN" altLang="en-US" dirty="0"/>
                <a:t>）：让模型“看得准”（定位证据）。</a:t>
              </a:r>
              <a:endParaRPr lang="en-US" altLang="zh-CN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en-US" altLang="zh-CN" dirty="0"/>
                <a:t>Stage 2</a:t>
              </a:r>
              <a:r>
                <a:rPr lang="zh-CN" altLang="en-US" dirty="0"/>
                <a:t>（</a:t>
              </a:r>
              <a:r>
                <a:rPr lang="en-US" altLang="zh-CN" dirty="0"/>
                <a:t>VQA MCQ</a:t>
              </a:r>
              <a:r>
                <a:rPr lang="zh-CN" altLang="en-US" dirty="0"/>
                <a:t>）：让模型“答得稳”（基于证据逐项验证）。</a:t>
              </a:r>
              <a:endParaRPr lang="zh-CN" altLang="en-US" b="1" dirty="0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07C8EAE3-1652-4E9B-E161-D9A833456EF7}"/>
              </a:ext>
            </a:extLst>
          </p:cNvPr>
          <p:cNvGrpSpPr/>
          <p:nvPr/>
        </p:nvGrpSpPr>
        <p:grpSpPr>
          <a:xfrm>
            <a:off x="273765" y="3412433"/>
            <a:ext cx="5530688" cy="2368180"/>
            <a:chOff x="1903782" y="3611215"/>
            <a:chExt cx="3673887" cy="2368180"/>
          </a:xfrm>
        </p:grpSpPr>
        <p:sp>
          <p:nvSpPr>
            <p:cNvPr id="7" name="íṡḷîḓê">
              <a:extLst>
                <a:ext uri="{FF2B5EF4-FFF2-40B4-BE49-F238E27FC236}">
                  <a16:creationId xmlns:a16="http://schemas.microsoft.com/office/drawing/2014/main" id="{24ED42DC-C3F8-A88C-1BE2-637C4B01C044}"/>
                </a:ext>
              </a:extLst>
            </p:cNvPr>
            <p:cNvSpPr/>
            <p:nvPr/>
          </p:nvSpPr>
          <p:spPr>
            <a:xfrm>
              <a:off x="1903782" y="3611215"/>
              <a:ext cx="3673887" cy="2226367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26247E1-BD0A-9CD0-3B19-F062ACB632CD}"/>
                </a:ext>
              </a:extLst>
            </p:cNvPr>
            <p:cNvSpPr txBox="1"/>
            <p:nvPr/>
          </p:nvSpPr>
          <p:spPr>
            <a:xfrm>
              <a:off x="2043824" y="3836501"/>
              <a:ext cx="3352800" cy="2142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b="1" dirty="0"/>
                <a:t>贡献 </a:t>
              </a:r>
              <a:r>
                <a:rPr lang="en-US" altLang="zh-CN" b="1" dirty="0"/>
                <a:t>3</a:t>
              </a:r>
              <a:r>
                <a:rPr lang="zh-CN" altLang="en-US" dirty="0"/>
                <a:t>：训练得到 </a:t>
              </a:r>
              <a:r>
                <a:rPr lang="en-US" altLang="zh-CN" dirty="0"/>
                <a:t>RS-EoT-7B </a:t>
              </a:r>
              <a:r>
                <a:rPr lang="zh-CN" altLang="en-US" dirty="0"/>
                <a:t>模型（</a:t>
              </a:r>
              <a:r>
                <a:rPr lang="en-US" altLang="zh-CN" dirty="0"/>
                <a:t>SOTA</a:t>
              </a:r>
              <a:r>
                <a:rPr lang="zh-CN" altLang="en-US" dirty="0"/>
                <a:t>）</a:t>
              </a:r>
              <a:endParaRPr lang="en-US" altLang="zh-CN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在多个遥感 </a:t>
              </a:r>
              <a:r>
                <a:rPr lang="en-US" altLang="zh-CN" dirty="0"/>
                <a:t>VQA </a:t>
              </a:r>
              <a:r>
                <a:rPr lang="zh-CN" altLang="en-US" dirty="0"/>
                <a:t>与细粒度 </a:t>
              </a:r>
              <a:r>
                <a:rPr lang="en-US" altLang="zh-CN" dirty="0"/>
                <a:t>grounding </a:t>
              </a:r>
              <a:r>
                <a:rPr lang="zh-CN" altLang="en-US" dirty="0"/>
                <a:t>基准上取得全面 </a:t>
              </a:r>
              <a:r>
                <a:rPr lang="en-US" altLang="zh-CN" dirty="0"/>
                <a:t>SOTA</a:t>
              </a:r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显著缓解 </a:t>
              </a:r>
              <a:r>
                <a:rPr lang="en-US" altLang="zh-CN" dirty="0"/>
                <a:t>Glance Effect</a:t>
              </a:r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展现出真正的视觉证据驱动推理，而非语言幻觉</a:t>
              </a:r>
              <a:endParaRPr lang="zh-CN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154123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 advTm="346">
        <p:fade/>
      </p:transition>
    </mc:Choice>
    <mc:Fallback xmlns="">
      <p:transition advTm="346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85823-A272-A466-D7A9-ED706FBA8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标题 8">
            <a:extLst>
              <a:ext uri="{FF2B5EF4-FFF2-40B4-BE49-F238E27FC236}">
                <a16:creationId xmlns:a16="http://schemas.microsoft.com/office/drawing/2014/main" id="{0F5EE203-844C-7FE9-2BBB-372C8BD39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0B2A6C"/>
                </a:solidFill>
              </a:rPr>
              <a:t>RS-EoT</a:t>
            </a:r>
            <a:r>
              <a:rPr lang="zh-CN" altLang="en-US" dirty="0">
                <a:solidFill>
                  <a:srgbClr val="0B2A6C"/>
                </a:solidFill>
              </a:rPr>
              <a:t>框架（一）</a:t>
            </a:r>
            <a:r>
              <a:rPr lang="en-US" altLang="zh-CN" dirty="0">
                <a:solidFill>
                  <a:srgbClr val="0B2A6C"/>
                </a:solidFill>
              </a:rPr>
              <a:t>: SFT — SocraticAgent </a:t>
            </a:r>
            <a:r>
              <a:rPr lang="zh-CN" altLang="en-US" dirty="0">
                <a:solidFill>
                  <a:srgbClr val="0B2A6C"/>
                </a:solidFill>
              </a:rPr>
              <a:t>冷启动</a:t>
            </a:r>
            <a:endParaRPr lang="zh-CN" altLang="en-US" sz="3200" dirty="0">
              <a:solidFill>
                <a:srgbClr val="0B2A6C"/>
              </a:solidFill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137F21C-5FCA-3C54-08A1-A8CFB509A9CD}"/>
              </a:ext>
            </a:extLst>
          </p:cNvPr>
          <p:cNvGrpSpPr/>
          <p:nvPr/>
        </p:nvGrpSpPr>
        <p:grpSpPr>
          <a:xfrm>
            <a:off x="134617" y="984169"/>
            <a:ext cx="4178966" cy="3150510"/>
            <a:chOff x="1903782" y="3836501"/>
            <a:chExt cx="3673887" cy="2001081"/>
          </a:xfrm>
        </p:grpSpPr>
        <p:sp>
          <p:nvSpPr>
            <p:cNvPr id="7" name="íṡḷîḓê">
              <a:extLst>
                <a:ext uri="{FF2B5EF4-FFF2-40B4-BE49-F238E27FC236}">
                  <a16:creationId xmlns:a16="http://schemas.microsoft.com/office/drawing/2014/main" id="{80A074F0-D543-A58F-99F8-21587FEE27C5}"/>
                </a:ext>
              </a:extLst>
            </p:cNvPr>
            <p:cNvSpPr/>
            <p:nvPr/>
          </p:nvSpPr>
          <p:spPr>
            <a:xfrm>
              <a:off x="1903782" y="3876359"/>
              <a:ext cx="3673887" cy="1961223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B123183-E5AE-7F2F-1444-92FADCCE06CD}"/>
                </a:ext>
              </a:extLst>
            </p:cNvPr>
            <p:cNvSpPr txBox="1"/>
            <p:nvPr/>
          </p:nvSpPr>
          <p:spPr>
            <a:xfrm>
              <a:off x="2043824" y="3836501"/>
              <a:ext cx="3352800" cy="19786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b="1" dirty="0"/>
                <a:t>冷启动：</a:t>
              </a:r>
              <a:r>
                <a:rPr lang="zh-CN" altLang="en-US" dirty="0"/>
                <a:t>让模型第一次学会某种全新能力的过程</a:t>
              </a:r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    在</a:t>
              </a:r>
              <a:r>
                <a:rPr lang="en-US" altLang="zh-CN" dirty="0"/>
                <a:t>SFT</a:t>
              </a:r>
              <a:r>
                <a:rPr lang="zh-CN" altLang="en-US" dirty="0"/>
                <a:t>阶段的冷启动阶段为：</a:t>
              </a:r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        通过监督微调</a:t>
              </a:r>
              <a:r>
                <a:rPr lang="en-US" altLang="zh-CN" dirty="0"/>
                <a:t>SFT</a:t>
              </a:r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en-US" altLang="zh-CN" dirty="0"/>
                <a:t>        </a:t>
              </a:r>
              <a:r>
                <a:rPr lang="zh-CN" altLang="en-US" dirty="0"/>
                <a:t>给模型大量标准示例（期望的推理形式，结构，步骤，问答模式）</a:t>
              </a:r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        让模型第一次掌握我们希望它执行的新推理方式</a:t>
              </a:r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endParaRPr lang="zh-CN" altLang="en-US" b="1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endParaRPr lang="zh-CN" altLang="en-US" b="1" dirty="0"/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0B09244D-D98F-6220-9323-9ACE7542F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703" y="1252330"/>
            <a:ext cx="7450123" cy="4538870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0EA0A81F-0567-A873-BE4A-BDE32F11FC24}"/>
              </a:ext>
            </a:extLst>
          </p:cNvPr>
          <p:cNvGrpSpPr/>
          <p:nvPr/>
        </p:nvGrpSpPr>
        <p:grpSpPr>
          <a:xfrm>
            <a:off x="253887" y="4207564"/>
            <a:ext cx="4178966" cy="2226366"/>
            <a:chOff x="1909607" y="3830064"/>
            <a:chExt cx="3673887" cy="1414101"/>
          </a:xfrm>
        </p:grpSpPr>
        <p:sp>
          <p:nvSpPr>
            <p:cNvPr id="13" name="íṡḷîḓê">
              <a:extLst>
                <a:ext uri="{FF2B5EF4-FFF2-40B4-BE49-F238E27FC236}">
                  <a16:creationId xmlns:a16="http://schemas.microsoft.com/office/drawing/2014/main" id="{4D948650-CD84-E47D-FD6F-1F859C18696E}"/>
                </a:ext>
              </a:extLst>
            </p:cNvPr>
            <p:cNvSpPr/>
            <p:nvPr/>
          </p:nvSpPr>
          <p:spPr>
            <a:xfrm>
              <a:off x="1909607" y="3830064"/>
              <a:ext cx="3673887" cy="1414101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8FFE396-029A-4066-4112-98D708E5D347}"/>
                </a:ext>
              </a:extLst>
            </p:cNvPr>
            <p:cNvSpPr txBox="1"/>
            <p:nvPr/>
          </p:nvSpPr>
          <p:spPr>
            <a:xfrm>
              <a:off x="2043824" y="3836501"/>
              <a:ext cx="3352800" cy="1361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b="1" dirty="0"/>
                <a:t>为什么需要 </a:t>
              </a:r>
              <a:r>
                <a:rPr lang="en-US" altLang="zh-CN" b="1" dirty="0"/>
                <a:t>SFT </a:t>
              </a:r>
              <a:r>
                <a:rPr lang="zh-CN" altLang="en-US" b="1" dirty="0"/>
                <a:t>冷启动</a:t>
              </a:r>
              <a:r>
                <a:rPr lang="en-US" altLang="zh-CN" b="1" dirty="0"/>
                <a:t>:</a:t>
              </a:r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模型原本不具备 </a:t>
              </a:r>
              <a:r>
                <a:rPr lang="en-US" altLang="zh-CN" dirty="0"/>
                <a:t>RS-EoT </a:t>
              </a:r>
              <a:r>
                <a:rPr lang="zh-CN" altLang="en-US" dirty="0"/>
                <a:t>推理方式</a:t>
              </a:r>
              <a:endParaRPr lang="en-US" altLang="zh-CN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数据集中缺乏“多轮提问 </a:t>
              </a:r>
              <a:r>
                <a:rPr lang="en-US" altLang="zh-CN" dirty="0"/>
                <a:t>+ </a:t>
              </a:r>
              <a:r>
                <a:rPr lang="zh-CN" altLang="en-US" dirty="0"/>
                <a:t>证据寻求”的推理轨迹</a:t>
              </a:r>
              <a:endParaRPr lang="en-US" altLang="zh-CN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必须“先教会模型 </a:t>
              </a:r>
              <a:r>
                <a:rPr lang="en-US" altLang="zh-CN" dirty="0"/>
                <a:t>RS-EoT </a:t>
              </a:r>
              <a:r>
                <a:rPr lang="zh-CN" altLang="en-US" dirty="0"/>
                <a:t>推理结构”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9576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 advTm="346">
        <p:fade/>
      </p:transition>
    </mc:Choice>
    <mc:Fallback xmlns="">
      <p:transition advTm="346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5DFD3-A195-DB9E-2944-1E3394E77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标题 8">
            <a:extLst>
              <a:ext uri="{FF2B5EF4-FFF2-40B4-BE49-F238E27FC236}">
                <a16:creationId xmlns:a16="http://schemas.microsoft.com/office/drawing/2014/main" id="{E9E079C1-136B-EC5C-5AD0-9818FCC87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0B2A6C"/>
                </a:solidFill>
              </a:rPr>
              <a:t>RS-EoT</a:t>
            </a:r>
            <a:r>
              <a:rPr lang="zh-CN" altLang="en-US" dirty="0">
                <a:solidFill>
                  <a:srgbClr val="0B2A6C"/>
                </a:solidFill>
              </a:rPr>
              <a:t>框架（一）</a:t>
            </a:r>
            <a:r>
              <a:rPr lang="en-US" altLang="zh-CN" dirty="0">
                <a:solidFill>
                  <a:srgbClr val="0B2A6C"/>
                </a:solidFill>
              </a:rPr>
              <a:t>: SFT — SocraticAgent </a:t>
            </a:r>
            <a:r>
              <a:rPr lang="zh-CN" altLang="en-US" dirty="0">
                <a:solidFill>
                  <a:srgbClr val="0B2A6C"/>
                </a:solidFill>
              </a:rPr>
              <a:t>冷启动</a:t>
            </a:r>
            <a:endParaRPr lang="zh-CN" altLang="en-US" sz="3200" dirty="0">
              <a:solidFill>
                <a:srgbClr val="0B2A6C"/>
              </a:solidFill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2090632-3096-0C2A-2233-64D3083BB913}"/>
              </a:ext>
            </a:extLst>
          </p:cNvPr>
          <p:cNvGrpSpPr/>
          <p:nvPr/>
        </p:nvGrpSpPr>
        <p:grpSpPr>
          <a:xfrm>
            <a:off x="134617" y="984169"/>
            <a:ext cx="4178966" cy="5605381"/>
            <a:chOff x="1903782" y="3836501"/>
            <a:chExt cx="3673887" cy="3560320"/>
          </a:xfrm>
        </p:grpSpPr>
        <p:sp>
          <p:nvSpPr>
            <p:cNvPr id="7" name="íṡḷîḓê">
              <a:extLst>
                <a:ext uri="{FF2B5EF4-FFF2-40B4-BE49-F238E27FC236}">
                  <a16:creationId xmlns:a16="http://schemas.microsoft.com/office/drawing/2014/main" id="{29081AD7-12B8-FAA3-7B5F-EA140A2AE210}"/>
                </a:ext>
              </a:extLst>
            </p:cNvPr>
            <p:cNvSpPr/>
            <p:nvPr/>
          </p:nvSpPr>
          <p:spPr>
            <a:xfrm>
              <a:off x="1903782" y="3876359"/>
              <a:ext cx="3673887" cy="1961223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1273669-AB72-9B30-3410-2CD7CA69956C}"/>
                </a:ext>
              </a:extLst>
            </p:cNvPr>
            <p:cNvSpPr txBox="1"/>
            <p:nvPr/>
          </p:nvSpPr>
          <p:spPr>
            <a:xfrm>
              <a:off x="2043824" y="3836501"/>
              <a:ext cx="3352800" cy="3560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en-US" altLang="zh-CN" b="1" dirty="0"/>
                <a:t>Reasoner</a:t>
              </a:r>
              <a:r>
                <a:rPr lang="zh-CN" altLang="en-US" b="1" dirty="0"/>
                <a:t>（推理者）</a:t>
              </a:r>
              <a:r>
                <a:rPr lang="zh-CN" altLang="en-US" dirty="0"/>
                <a:t>不能看图，只能读任务</a:t>
              </a:r>
              <a:endParaRPr lang="en-US" altLang="zh-CN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负责语言推理、提出视觉问题</a:t>
              </a:r>
              <a:endParaRPr lang="en-US" altLang="zh-CN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在获取回答后更新推理链</a:t>
              </a:r>
              <a:endParaRPr lang="en-US" altLang="zh-CN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直到得出最终结论</a:t>
              </a:r>
              <a:endParaRPr lang="en-US" altLang="zh-CN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endParaRPr lang="en-US" altLang="zh-CN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en-US" altLang="zh-CN" b="1" dirty="0"/>
                <a:t>2. Perceiver</a:t>
              </a:r>
              <a:r>
                <a:rPr lang="zh-CN" altLang="en-US" b="1" dirty="0"/>
                <a:t>（感知者）</a:t>
              </a:r>
              <a:r>
                <a:rPr lang="zh-CN" altLang="en-US" dirty="0"/>
                <a:t>能看图，但不懂任务</a:t>
              </a:r>
              <a:endParaRPr lang="en-US" altLang="zh-CN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只能回答 </a:t>
              </a:r>
              <a:r>
                <a:rPr lang="en-US" altLang="zh-CN" dirty="0"/>
                <a:t>Reasoner </a:t>
              </a:r>
              <a:r>
                <a:rPr lang="zh-CN" altLang="en-US" dirty="0"/>
                <a:t>的视觉问题</a:t>
              </a:r>
              <a:endParaRPr lang="en-US" altLang="zh-CN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提供局部、精确、必要的视觉证据</a:t>
              </a:r>
              <a:endParaRPr lang="en-US" altLang="zh-CN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endParaRPr lang="en-US" altLang="zh-CN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en-US" altLang="zh-CN" b="1" dirty="0"/>
                <a:t>3. Verifier</a:t>
              </a:r>
              <a:r>
                <a:rPr lang="zh-CN" altLang="en-US" b="1" dirty="0"/>
                <a:t>（验证者）</a:t>
              </a:r>
              <a:r>
                <a:rPr lang="zh-CN" altLang="en-US" dirty="0"/>
                <a:t>检查最终答案是否正确</a:t>
              </a:r>
              <a:endParaRPr lang="en-US" altLang="zh-CN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若正确，则整个多轮对话可作为高质量 </a:t>
              </a:r>
              <a:r>
                <a:rPr lang="en-US" altLang="zh-CN" dirty="0"/>
                <a:t>RS-EoT </a:t>
              </a:r>
              <a:r>
                <a:rPr lang="zh-CN" altLang="en-US" dirty="0"/>
                <a:t>数据</a:t>
              </a: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21719C4C-B984-36A4-213C-B3BF18F49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703" y="1252330"/>
            <a:ext cx="7450123" cy="453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588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 advTm="346">
        <p:fade/>
      </p:transition>
    </mc:Choice>
    <mc:Fallback xmlns="">
      <p:transition advTm="346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226DF-F034-3F2C-37F5-EC1CE6613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标题 8">
            <a:extLst>
              <a:ext uri="{FF2B5EF4-FFF2-40B4-BE49-F238E27FC236}">
                <a16:creationId xmlns:a16="http://schemas.microsoft.com/office/drawing/2014/main" id="{6D29BA3E-B2E1-5257-E90A-C2F81DE86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0B2A6C"/>
                </a:solidFill>
              </a:rPr>
              <a:t>RS-EoT</a:t>
            </a:r>
            <a:r>
              <a:rPr lang="zh-CN" altLang="en-US" dirty="0">
                <a:solidFill>
                  <a:srgbClr val="0B2A6C"/>
                </a:solidFill>
              </a:rPr>
              <a:t>框架（一）</a:t>
            </a:r>
            <a:r>
              <a:rPr lang="en-US" altLang="zh-CN" dirty="0">
                <a:solidFill>
                  <a:srgbClr val="0B2A6C"/>
                </a:solidFill>
              </a:rPr>
              <a:t>: SFT — SocraticAgent </a:t>
            </a:r>
            <a:r>
              <a:rPr lang="zh-CN" altLang="en-US" dirty="0">
                <a:solidFill>
                  <a:srgbClr val="0B2A6C"/>
                </a:solidFill>
              </a:rPr>
              <a:t>冷启动</a:t>
            </a:r>
            <a:endParaRPr lang="zh-CN" altLang="en-US" sz="3200" dirty="0">
              <a:solidFill>
                <a:srgbClr val="0B2A6C"/>
              </a:solidFill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8CC5159-CD3E-C12B-2E2E-E4BCCA7BB8C7}"/>
              </a:ext>
            </a:extLst>
          </p:cNvPr>
          <p:cNvGrpSpPr/>
          <p:nvPr/>
        </p:nvGrpSpPr>
        <p:grpSpPr>
          <a:xfrm>
            <a:off x="134616" y="984171"/>
            <a:ext cx="4563279" cy="4912883"/>
            <a:chOff x="1903782" y="3836501"/>
            <a:chExt cx="3673887" cy="3120472"/>
          </a:xfrm>
        </p:grpSpPr>
        <p:sp>
          <p:nvSpPr>
            <p:cNvPr id="7" name="íṡḷîḓê">
              <a:extLst>
                <a:ext uri="{FF2B5EF4-FFF2-40B4-BE49-F238E27FC236}">
                  <a16:creationId xmlns:a16="http://schemas.microsoft.com/office/drawing/2014/main" id="{11F23599-C86C-2A0E-C0ED-598EC3BF8557}"/>
                </a:ext>
              </a:extLst>
            </p:cNvPr>
            <p:cNvSpPr/>
            <p:nvPr/>
          </p:nvSpPr>
          <p:spPr>
            <a:xfrm>
              <a:off x="1903782" y="3876359"/>
              <a:ext cx="3673887" cy="1961223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50F076C-E33F-7B38-7CE5-6BCEEA30261D}"/>
                </a:ext>
              </a:extLst>
            </p:cNvPr>
            <p:cNvSpPr txBox="1"/>
            <p:nvPr/>
          </p:nvSpPr>
          <p:spPr>
            <a:xfrm>
              <a:off x="2043824" y="3836501"/>
              <a:ext cx="3352800" cy="3120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b="1" dirty="0"/>
                <a:t>自博弈提示机制（</a:t>
              </a:r>
              <a:r>
                <a:rPr lang="en-US" altLang="zh-CN" b="1" dirty="0"/>
                <a:t>Self-play Prompting</a:t>
              </a:r>
              <a:r>
                <a:rPr lang="zh-CN" altLang="en-US" b="1" dirty="0"/>
                <a:t>）</a:t>
              </a:r>
              <a:endParaRPr lang="en-US" altLang="zh-CN" b="1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防止 </a:t>
              </a:r>
              <a:r>
                <a:rPr lang="en-US" altLang="zh-CN" dirty="0"/>
                <a:t>Reasoner </a:t>
              </a:r>
              <a:r>
                <a:rPr lang="zh-CN" altLang="en-US" dirty="0"/>
                <a:t>问太难 </a:t>
              </a:r>
              <a:r>
                <a:rPr lang="en-US" altLang="zh-CN" dirty="0"/>
                <a:t>/ Perceiver </a:t>
              </a:r>
              <a:r>
                <a:rPr lang="zh-CN" altLang="en-US" dirty="0"/>
                <a:t>回答太啰嗦</a:t>
              </a:r>
              <a:endParaRPr lang="en-US" altLang="zh-CN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endParaRPr lang="en-US" altLang="zh-CN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告知 </a:t>
              </a:r>
              <a:r>
                <a:rPr lang="en-US" altLang="zh-CN" b="1" dirty="0"/>
                <a:t>Reasoner</a:t>
              </a:r>
              <a:r>
                <a:rPr lang="zh-CN" altLang="en-US" dirty="0"/>
                <a:t>：“</a:t>
              </a:r>
              <a:r>
                <a:rPr lang="en-US" altLang="zh-CN" dirty="0"/>
                <a:t>Perceiver </a:t>
              </a:r>
              <a:r>
                <a:rPr lang="zh-CN" altLang="en-US" dirty="0"/>
                <a:t>无法理解复杂问题。”→ 强制 </a:t>
              </a:r>
              <a:r>
                <a:rPr lang="en-US" altLang="zh-CN" dirty="0"/>
                <a:t>Reasoner </a:t>
              </a:r>
              <a:r>
                <a:rPr lang="zh-CN" altLang="en-US" dirty="0"/>
                <a:t>分解任务、逐步提问</a:t>
              </a:r>
              <a:endParaRPr lang="en-US" altLang="zh-CN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endParaRPr lang="en-US" altLang="zh-CN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告知 </a:t>
              </a:r>
              <a:r>
                <a:rPr lang="en-US" altLang="zh-CN" b="1" dirty="0"/>
                <a:t>Perceiver</a:t>
              </a:r>
              <a:r>
                <a:rPr lang="zh-CN" altLang="en-US" dirty="0"/>
                <a:t>：“</a:t>
              </a:r>
              <a:r>
                <a:rPr lang="en-US" altLang="zh-CN" dirty="0"/>
                <a:t>Reasoner </a:t>
              </a:r>
              <a:r>
                <a:rPr lang="zh-CN" altLang="en-US" dirty="0"/>
                <a:t>的推理能力很弱。”→ 强制 </a:t>
              </a:r>
              <a:r>
                <a:rPr lang="en-US" altLang="zh-CN" dirty="0"/>
                <a:t>Perceiver </a:t>
              </a:r>
              <a:r>
                <a:rPr lang="zh-CN" altLang="en-US" dirty="0"/>
                <a:t>回答简洁、准确、不跑题</a:t>
              </a:r>
              <a:endParaRPr lang="en-US" altLang="zh-CN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endParaRPr lang="en-US" altLang="zh-CN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以便生成结构清晰、逐步推进、基于证据的 </a:t>
              </a:r>
              <a:r>
                <a:rPr lang="en-US" altLang="zh-CN" dirty="0"/>
                <a:t>RS-EoT </a:t>
              </a:r>
              <a:r>
                <a:rPr lang="zh-CN" altLang="en-US" dirty="0"/>
                <a:t>推理链。</a:t>
              </a: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30594C5D-0CDC-3A2B-179A-336F22BC3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703" y="1252330"/>
            <a:ext cx="7450123" cy="453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455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 advTm="346">
        <p:fade/>
      </p:transition>
    </mc:Choice>
    <mc:Fallback xmlns="">
      <p:transition advTm="346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22FE2-D3FC-5D4E-9C73-254057527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标题 8">
            <a:extLst>
              <a:ext uri="{FF2B5EF4-FFF2-40B4-BE49-F238E27FC236}">
                <a16:creationId xmlns:a16="http://schemas.microsoft.com/office/drawing/2014/main" id="{62D37EA6-4822-A4F1-9ECE-73645D8CA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0B2A6C"/>
                </a:solidFill>
              </a:rPr>
              <a:t>RS-EoT</a:t>
            </a:r>
            <a:r>
              <a:rPr lang="zh-CN" altLang="en-US" dirty="0">
                <a:solidFill>
                  <a:srgbClr val="0B2A6C"/>
                </a:solidFill>
              </a:rPr>
              <a:t>框架（一）</a:t>
            </a:r>
            <a:r>
              <a:rPr lang="en-US" altLang="zh-CN" dirty="0">
                <a:solidFill>
                  <a:srgbClr val="0B2A6C"/>
                </a:solidFill>
              </a:rPr>
              <a:t>: SFT — SocraticAgent </a:t>
            </a:r>
            <a:r>
              <a:rPr lang="zh-CN" altLang="en-US" dirty="0">
                <a:solidFill>
                  <a:srgbClr val="0B2A6C"/>
                </a:solidFill>
              </a:rPr>
              <a:t>冷启动</a:t>
            </a:r>
            <a:endParaRPr lang="zh-CN" altLang="en-US" sz="3200" dirty="0">
              <a:solidFill>
                <a:srgbClr val="0B2A6C"/>
              </a:solidFill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527D436-66A0-3624-71CE-4AF9081DA513}"/>
              </a:ext>
            </a:extLst>
          </p:cNvPr>
          <p:cNvGrpSpPr/>
          <p:nvPr/>
        </p:nvGrpSpPr>
        <p:grpSpPr>
          <a:xfrm>
            <a:off x="134616" y="984172"/>
            <a:ext cx="4563279" cy="2441515"/>
            <a:chOff x="1903782" y="3836501"/>
            <a:chExt cx="3673887" cy="2001081"/>
          </a:xfrm>
        </p:grpSpPr>
        <p:sp>
          <p:nvSpPr>
            <p:cNvPr id="7" name="íṡḷîḓê">
              <a:extLst>
                <a:ext uri="{FF2B5EF4-FFF2-40B4-BE49-F238E27FC236}">
                  <a16:creationId xmlns:a16="http://schemas.microsoft.com/office/drawing/2014/main" id="{37F9D181-2F56-3897-E1D2-C963BCCCA5AE}"/>
                </a:ext>
              </a:extLst>
            </p:cNvPr>
            <p:cNvSpPr/>
            <p:nvPr/>
          </p:nvSpPr>
          <p:spPr>
            <a:xfrm>
              <a:off x="1903782" y="3876359"/>
              <a:ext cx="3673887" cy="1961223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C3E8AF6-627A-0746-F373-D6EF5939C6EA}"/>
                </a:ext>
              </a:extLst>
            </p:cNvPr>
            <p:cNvSpPr txBox="1"/>
            <p:nvPr/>
          </p:nvSpPr>
          <p:spPr>
            <a:xfrm>
              <a:off x="2043824" y="3836501"/>
              <a:ext cx="3352800" cy="15810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b="1" dirty="0"/>
                <a:t>最终得到：</a:t>
              </a:r>
              <a:endParaRPr lang="en-US" altLang="zh-CN" b="1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en-US" altLang="zh-CN" dirty="0"/>
                <a:t>RS-EoT-4K </a:t>
              </a:r>
              <a:r>
                <a:rPr lang="zh-CN" altLang="en-US" dirty="0"/>
                <a:t>数据集大约 </a:t>
              </a:r>
              <a:r>
                <a:rPr lang="en-US" altLang="zh-CN" dirty="0"/>
                <a:t>4.3K </a:t>
              </a:r>
              <a:r>
                <a:rPr lang="zh-CN" altLang="en-US" dirty="0"/>
                <a:t>条</a:t>
              </a:r>
              <a:r>
                <a:rPr lang="zh-CN" altLang="en-US" b="1" dirty="0"/>
                <a:t>多轮推理轨迹</a:t>
              </a:r>
              <a:endParaRPr lang="en-US" altLang="zh-CN" b="1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覆盖 </a:t>
              </a:r>
              <a:r>
                <a:rPr lang="en-US" altLang="zh-CN" dirty="0"/>
                <a:t>RGB(</a:t>
              </a:r>
              <a:r>
                <a:rPr lang="zh-CN" altLang="en-US" dirty="0"/>
                <a:t>可见光</a:t>
              </a:r>
              <a:r>
                <a:rPr lang="en-US" altLang="zh-CN" dirty="0"/>
                <a:t>)/ IR(</a:t>
              </a:r>
              <a:r>
                <a:rPr lang="zh-CN" altLang="en-US" dirty="0"/>
                <a:t>红外</a:t>
              </a:r>
              <a:r>
                <a:rPr lang="en-US" altLang="zh-CN" dirty="0"/>
                <a:t>) / SAR(</a:t>
              </a:r>
              <a:r>
                <a:rPr lang="zh-CN" altLang="en-US" dirty="0"/>
                <a:t>合成孔径雷达</a:t>
              </a:r>
              <a:r>
                <a:rPr lang="en-US" altLang="zh-CN" dirty="0"/>
                <a:t>)</a:t>
              </a:r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用于 </a:t>
              </a:r>
              <a:r>
                <a:rPr lang="en-US" altLang="zh-CN" dirty="0"/>
                <a:t>SFT </a:t>
              </a:r>
              <a:r>
                <a:rPr lang="zh-CN" altLang="en-US" dirty="0"/>
                <a:t>冷启动，使模型“学会” </a:t>
              </a:r>
              <a:r>
                <a:rPr lang="en-US" altLang="zh-CN" dirty="0"/>
                <a:t>RS-EoT </a:t>
              </a:r>
              <a:r>
                <a:rPr lang="zh-CN" altLang="en-US" dirty="0"/>
                <a:t>的推理方式</a:t>
              </a: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8AB4FDED-1F0D-F0E2-9BB3-A3FAF2AC6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703" y="1252330"/>
            <a:ext cx="7450123" cy="453887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08EADF9-74A3-B0EA-2F35-14DAF66C2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53" y="3550756"/>
            <a:ext cx="4586324" cy="2187436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28FCF723-505F-7F02-3404-2F90ED655EFA}"/>
              </a:ext>
            </a:extLst>
          </p:cNvPr>
          <p:cNvGrpSpPr/>
          <p:nvPr/>
        </p:nvGrpSpPr>
        <p:grpSpPr>
          <a:xfrm>
            <a:off x="114737" y="5801335"/>
            <a:ext cx="4563279" cy="440433"/>
            <a:chOff x="1903782" y="3836503"/>
            <a:chExt cx="3673887" cy="360982"/>
          </a:xfrm>
        </p:grpSpPr>
        <p:sp>
          <p:nvSpPr>
            <p:cNvPr id="15" name="íṡḷîḓê">
              <a:extLst>
                <a:ext uri="{FF2B5EF4-FFF2-40B4-BE49-F238E27FC236}">
                  <a16:creationId xmlns:a16="http://schemas.microsoft.com/office/drawing/2014/main" id="{25E4EB19-7D06-30CE-5A73-7F047075529E}"/>
                </a:ext>
              </a:extLst>
            </p:cNvPr>
            <p:cNvSpPr/>
            <p:nvPr/>
          </p:nvSpPr>
          <p:spPr>
            <a:xfrm>
              <a:off x="1903782" y="3876359"/>
              <a:ext cx="3673887" cy="321126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lnSpcReduction="10000"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E80A25DB-F2E8-4113-5976-A6F593802B3E}"/>
                </a:ext>
              </a:extLst>
            </p:cNvPr>
            <p:cNvSpPr txBox="1"/>
            <p:nvPr/>
          </p:nvSpPr>
          <p:spPr>
            <a:xfrm>
              <a:off x="2043824" y="3836503"/>
              <a:ext cx="3352800" cy="3373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ctr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推理轨迹格式模板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3435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 advTm="346">
        <p:fade/>
      </p:transition>
    </mc:Choice>
    <mc:Fallback xmlns="">
      <p:transition advTm="346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B7290-A098-3A70-A34A-8C52A065D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标题 8">
            <a:extLst>
              <a:ext uri="{FF2B5EF4-FFF2-40B4-BE49-F238E27FC236}">
                <a16:creationId xmlns:a16="http://schemas.microsoft.com/office/drawing/2014/main" id="{7A2F8136-58F4-395B-0331-28EA47570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rgbClr val="0B2A6C"/>
                </a:solidFill>
              </a:rPr>
              <a:t>RS-EoT</a:t>
            </a:r>
            <a:r>
              <a:rPr lang="zh-CN" altLang="en-US" dirty="0">
                <a:solidFill>
                  <a:srgbClr val="0B2A6C"/>
                </a:solidFill>
              </a:rPr>
              <a:t>框架（二）</a:t>
            </a:r>
            <a:r>
              <a:rPr lang="en-US" altLang="zh-CN" dirty="0">
                <a:solidFill>
                  <a:srgbClr val="0B2A6C"/>
                </a:solidFill>
              </a:rPr>
              <a:t>: </a:t>
            </a:r>
            <a:r>
              <a:rPr lang="zh-CN" altLang="en-US" dirty="0">
                <a:solidFill>
                  <a:srgbClr val="0B2A6C"/>
                </a:solidFill>
              </a:rPr>
              <a:t>两阶段强化学习（</a:t>
            </a:r>
            <a:r>
              <a:rPr lang="en-US" altLang="zh-CN" dirty="0">
                <a:solidFill>
                  <a:srgbClr val="0B2A6C"/>
                </a:solidFill>
              </a:rPr>
              <a:t>RL-Grounding + RL-VQA</a:t>
            </a:r>
            <a:r>
              <a:rPr lang="zh-CN" altLang="en-US" dirty="0">
                <a:solidFill>
                  <a:srgbClr val="0B2A6C"/>
                </a:solidFill>
              </a:rPr>
              <a:t>）</a:t>
            </a:r>
            <a:endParaRPr lang="zh-CN" altLang="en-US" sz="3200" dirty="0">
              <a:solidFill>
                <a:srgbClr val="0B2A6C"/>
              </a:solidFill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454B8E6-EF5D-AF77-1A91-6139B701F431}"/>
              </a:ext>
            </a:extLst>
          </p:cNvPr>
          <p:cNvGrpSpPr/>
          <p:nvPr/>
        </p:nvGrpSpPr>
        <p:grpSpPr>
          <a:xfrm>
            <a:off x="108112" y="964295"/>
            <a:ext cx="4563279" cy="838002"/>
            <a:chOff x="1903782" y="3836501"/>
            <a:chExt cx="3673887" cy="2001081"/>
          </a:xfrm>
        </p:grpSpPr>
        <p:sp>
          <p:nvSpPr>
            <p:cNvPr id="7" name="íṡḷîḓê">
              <a:extLst>
                <a:ext uri="{FF2B5EF4-FFF2-40B4-BE49-F238E27FC236}">
                  <a16:creationId xmlns:a16="http://schemas.microsoft.com/office/drawing/2014/main" id="{D8B1D975-373D-CB6B-56A6-4E04348CBA9D}"/>
                </a:ext>
              </a:extLst>
            </p:cNvPr>
            <p:cNvSpPr/>
            <p:nvPr/>
          </p:nvSpPr>
          <p:spPr>
            <a:xfrm>
              <a:off x="1903782" y="3876359"/>
              <a:ext cx="3673887" cy="1961223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8577B71-274D-7FB2-5556-96DCBE5F3FBD}"/>
                </a:ext>
              </a:extLst>
            </p:cNvPr>
            <p:cNvSpPr txBox="1"/>
            <p:nvPr/>
          </p:nvSpPr>
          <p:spPr>
            <a:xfrm>
              <a:off x="2043824" y="3836501"/>
              <a:ext cx="3352800" cy="9060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en-US" altLang="zh-CN" b="1" dirty="0"/>
                <a:t>Stage 1</a:t>
              </a:r>
              <a:r>
                <a:rPr lang="zh-CN" altLang="en-US" b="1" dirty="0"/>
                <a:t>：</a:t>
              </a:r>
              <a:r>
                <a:rPr lang="en-US" altLang="zh-CN" b="1" dirty="0"/>
                <a:t>Grounding RL —— </a:t>
              </a:r>
              <a:r>
                <a:rPr lang="zh-CN" altLang="en-US" b="1" dirty="0"/>
                <a:t>让模型“看得更准”</a:t>
              </a:r>
              <a:endParaRPr lang="en-US" altLang="zh-CN" b="1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endParaRPr lang="zh-CN" altLang="en-US" dirty="0"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10CF85C-C277-C895-59A6-5B6F0B3585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5644"/>
          <a:stretch/>
        </p:blipFill>
        <p:spPr>
          <a:xfrm>
            <a:off x="5103123" y="2359715"/>
            <a:ext cx="6939927" cy="2583346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54E4F85D-411E-F2DB-E89D-CD8791D05E00}"/>
              </a:ext>
            </a:extLst>
          </p:cNvPr>
          <p:cNvGrpSpPr/>
          <p:nvPr/>
        </p:nvGrpSpPr>
        <p:grpSpPr>
          <a:xfrm>
            <a:off x="108112" y="1925078"/>
            <a:ext cx="4563279" cy="2489143"/>
            <a:chOff x="1903782" y="3836501"/>
            <a:chExt cx="3673887" cy="5943873"/>
          </a:xfrm>
        </p:grpSpPr>
        <p:sp>
          <p:nvSpPr>
            <p:cNvPr id="5" name="íṡḷîḓê">
              <a:extLst>
                <a:ext uri="{FF2B5EF4-FFF2-40B4-BE49-F238E27FC236}">
                  <a16:creationId xmlns:a16="http://schemas.microsoft.com/office/drawing/2014/main" id="{7F86CA3C-5D18-AA4E-D8F0-555830D85220}"/>
                </a:ext>
              </a:extLst>
            </p:cNvPr>
            <p:cNvSpPr/>
            <p:nvPr/>
          </p:nvSpPr>
          <p:spPr>
            <a:xfrm>
              <a:off x="1903782" y="3876360"/>
              <a:ext cx="3673887" cy="5837747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18F554A-1AEB-2019-84C2-F1FBEE18B8C4}"/>
                </a:ext>
              </a:extLst>
            </p:cNvPr>
            <p:cNvSpPr txBox="1"/>
            <p:nvPr/>
          </p:nvSpPr>
          <p:spPr>
            <a:xfrm>
              <a:off x="2043824" y="3836501"/>
              <a:ext cx="3352800" cy="59438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b="1" dirty="0"/>
                <a:t>方法</a:t>
              </a:r>
              <a:endParaRPr lang="en-US" altLang="zh-CN" b="1" dirty="0"/>
            </a:p>
            <a:p>
              <a:pPr marL="742950" lvl="1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让模型输出目标的 </a:t>
              </a:r>
              <a:r>
                <a:rPr lang="en-US" altLang="zh-CN" dirty="0"/>
                <a:t>bounding box</a:t>
              </a:r>
              <a:r>
                <a:rPr lang="zh-CN" altLang="en-US" dirty="0"/>
                <a:t>：</a:t>
              </a:r>
              <a:r>
                <a:rPr lang="en-US" altLang="zh-CN" dirty="0"/>
                <a:t>"[x1, y1, x2, y2]“</a:t>
              </a:r>
            </a:p>
            <a:p>
              <a:pPr marL="742950" lvl="1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奖励基于 </a:t>
              </a:r>
              <a:r>
                <a:rPr lang="en-US" altLang="zh-CN" dirty="0"/>
                <a:t>IoU</a:t>
              </a:r>
              <a:r>
                <a:rPr lang="zh-CN" altLang="en-US" dirty="0"/>
                <a:t>（越接近真实框奖励越高）</a:t>
              </a:r>
              <a:endParaRPr lang="en-US" altLang="zh-CN" dirty="0"/>
            </a:p>
            <a:p>
              <a:pPr marL="742950" lvl="1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加入格式约束奖励，确保输出规范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3EF81CC-51E5-B0F2-BA03-3EC2FAB0B295}"/>
              </a:ext>
            </a:extLst>
          </p:cNvPr>
          <p:cNvGrpSpPr/>
          <p:nvPr/>
        </p:nvGrpSpPr>
        <p:grpSpPr>
          <a:xfrm>
            <a:off x="108112" y="4668277"/>
            <a:ext cx="4536775" cy="1692767"/>
            <a:chOff x="2053153" y="5861788"/>
            <a:chExt cx="3652549" cy="4042191"/>
          </a:xfrm>
        </p:grpSpPr>
        <p:sp>
          <p:nvSpPr>
            <p:cNvPr id="13" name="íṡḷîḓê">
              <a:extLst>
                <a:ext uri="{FF2B5EF4-FFF2-40B4-BE49-F238E27FC236}">
                  <a16:creationId xmlns:a16="http://schemas.microsoft.com/office/drawing/2014/main" id="{BB3E708A-997D-A397-1B4A-9BCEC3C394AC}"/>
                </a:ext>
              </a:extLst>
            </p:cNvPr>
            <p:cNvSpPr/>
            <p:nvPr/>
          </p:nvSpPr>
          <p:spPr>
            <a:xfrm>
              <a:off x="2053153" y="6091518"/>
              <a:ext cx="3652549" cy="3812461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D39F2D0-B17B-6932-754A-D6B46E58EBEF}"/>
                </a:ext>
              </a:extLst>
            </p:cNvPr>
            <p:cNvSpPr txBox="1"/>
            <p:nvPr/>
          </p:nvSpPr>
          <p:spPr>
            <a:xfrm>
              <a:off x="2081167" y="5861788"/>
              <a:ext cx="3352800" cy="34634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b="1" dirty="0"/>
                <a:t>意义</a:t>
              </a:r>
              <a:endParaRPr lang="en-US" altLang="zh-CN" b="1" dirty="0"/>
            </a:p>
            <a:p>
              <a:pPr marL="742950" lvl="1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en-US" altLang="zh-CN" dirty="0"/>
                <a:t>Grounding </a:t>
              </a:r>
              <a:r>
                <a:rPr lang="zh-CN" altLang="en-US" dirty="0"/>
                <a:t>天生需要细粒度证据</a:t>
              </a:r>
              <a:endParaRPr lang="en-US" altLang="zh-CN" dirty="0"/>
            </a:p>
            <a:p>
              <a:pPr marL="742950" lvl="1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强迫模型在 </a:t>
              </a:r>
              <a:r>
                <a:rPr lang="en-US" altLang="zh-CN" dirty="0"/>
                <a:t>RS-EoT </a:t>
              </a:r>
              <a:r>
                <a:rPr lang="zh-CN" altLang="en-US" dirty="0"/>
                <a:t>推理中更精确地关注视觉细节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3354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 advTm="346">
        <p:fade/>
      </p:transition>
    </mc:Choice>
    <mc:Fallback xmlns="">
      <p:transition advTm="346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527E7-43AE-822E-57A5-22207F5A9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标题 8">
            <a:extLst>
              <a:ext uri="{FF2B5EF4-FFF2-40B4-BE49-F238E27FC236}">
                <a16:creationId xmlns:a16="http://schemas.microsoft.com/office/drawing/2014/main" id="{922D0798-59A2-C703-DD0B-603E7C17C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rgbClr val="0B2A6C"/>
                </a:solidFill>
              </a:rPr>
              <a:t>RS-EoT</a:t>
            </a:r>
            <a:r>
              <a:rPr lang="zh-CN" altLang="en-US" dirty="0">
                <a:solidFill>
                  <a:srgbClr val="0B2A6C"/>
                </a:solidFill>
              </a:rPr>
              <a:t>框架（二）</a:t>
            </a:r>
            <a:r>
              <a:rPr lang="en-US" altLang="zh-CN" dirty="0">
                <a:solidFill>
                  <a:srgbClr val="0B2A6C"/>
                </a:solidFill>
              </a:rPr>
              <a:t>: </a:t>
            </a:r>
            <a:r>
              <a:rPr lang="zh-CN" altLang="en-US" dirty="0">
                <a:solidFill>
                  <a:srgbClr val="0B2A6C"/>
                </a:solidFill>
              </a:rPr>
              <a:t>两阶段强化学习（</a:t>
            </a:r>
            <a:r>
              <a:rPr lang="en-US" altLang="zh-CN" dirty="0">
                <a:solidFill>
                  <a:srgbClr val="0B2A6C"/>
                </a:solidFill>
              </a:rPr>
              <a:t>RL-Grounding + RL-VQA</a:t>
            </a:r>
            <a:r>
              <a:rPr lang="zh-CN" altLang="en-US" dirty="0">
                <a:solidFill>
                  <a:srgbClr val="0B2A6C"/>
                </a:solidFill>
              </a:rPr>
              <a:t>）</a:t>
            </a:r>
            <a:endParaRPr lang="zh-CN" altLang="en-US" sz="3200" dirty="0">
              <a:solidFill>
                <a:srgbClr val="0B2A6C"/>
              </a:solidFill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9B302CD-997A-CF09-BE62-F6CC7AA64123}"/>
              </a:ext>
            </a:extLst>
          </p:cNvPr>
          <p:cNvGrpSpPr/>
          <p:nvPr/>
        </p:nvGrpSpPr>
        <p:grpSpPr>
          <a:xfrm>
            <a:off x="108112" y="964295"/>
            <a:ext cx="4563279" cy="838002"/>
            <a:chOff x="1903782" y="3836501"/>
            <a:chExt cx="3673887" cy="2001081"/>
          </a:xfrm>
        </p:grpSpPr>
        <p:sp>
          <p:nvSpPr>
            <p:cNvPr id="7" name="íṡḷîḓê">
              <a:extLst>
                <a:ext uri="{FF2B5EF4-FFF2-40B4-BE49-F238E27FC236}">
                  <a16:creationId xmlns:a16="http://schemas.microsoft.com/office/drawing/2014/main" id="{2DD92700-AB07-4EE3-9DF1-903F4B052312}"/>
                </a:ext>
              </a:extLst>
            </p:cNvPr>
            <p:cNvSpPr/>
            <p:nvPr/>
          </p:nvSpPr>
          <p:spPr>
            <a:xfrm>
              <a:off x="1903782" y="3876359"/>
              <a:ext cx="3673887" cy="1961223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2966047-188D-3CC8-0EED-EC18501AB009}"/>
                </a:ext>
              </a:extLst>
            </p:cNvPr>
            <p:cNvSpPr txBox="1"/>
            <p:nvPr/>
          </p:nvSpPr>
          <p:spPr>
            <a:xfrm>
              <a:off x="2043824" y="3836501"/>
              <a:ext cx="3352800" cy="18098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en-US" altLang="zh-CN" b="1" dirty="0"/>
                <a:t>Stage 2</a:t>
              </a:r>
              <a:r>
                <a:rPr lang="zh-CN" altLang="en-US" b="1" dirty="0"/>
                <a:t>：</a:t>
              </a:r>
              <a:r>
                <a:rPr lang="en-US" altLang="zh-CN" b="1" dirty="0"/>
                <a:t>VQA RL —— </a:t>
              </a:r>
              <a:r>
                <a:rPr lang="zh-CN" altLang="en-US" b="1" dirty="0"/>
                <a:t>让模型“答得更稳、更可靠”</a:t>
              </a:r>
              <a:endParaRPr lang="zh-CN" altLang="en-US" dirty="0"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23B8B91-A0FA-0A1B-F50F-69B90C99A7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763" b="3424"/>
          <a:stretch/>
        </p:blipFill>
        <p:spPr>
          <a:xfrm>
            <a:off x="5189261" y="2040834"/>
            <a:ext cx="6939927" cy="313414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B8D0F5BF-4B8D-2EC9-C209-D14883CB5734}"/>
              </a:ext>
            </a:extLst>
          </p:cNvPr>
          <p:cNvGrpSpPr/>
          <p:nvPr/>
        </p:nvGrpSpPr>
        <p:grpSpPr>
          <a:xfrm>
            <a:off x="108112" y="1925078"/>
            <a:ext cx="4563279" cy="1474105"/>
            <a:chOff x="1903782" y="3836501"/>
            <a:chExt cx="3673887" cy="3463431"/>
          </a:xfrm>
        </p:grpSpPr>
        <p:sp>
          <p:nvSpPr>
            <p:cNvPr id="5" name="íṡḷîḓê">
              <a:extLst>
                <a:ext uri="{FF2B5EF4-FFF2-40B4-BE49-F238E27FC236}">
                  <a16:creationId xmlns:a16="http://schemas.microsoft.com/office/drawing/2014/main" id="{C32CFBF4-E7A9-08B1-B78F-9F7358DA3CC7}"/>
                </a:ext>
              </a:extLst>
            </p:cNvPr>
            <p:cNvSpPr/>
            <p:nvPr/>
          </p:nvSpPr>
          <p:spPr>
            <a:xfrm>
              <a:off x="1903782" y="3876359"/>
              <a:ext cx="3673887" cy="1961223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7A671C4-69CC-89D9-822D-2E883238A945}"/>
                </a:ext>
              </a:extLst>
            </p:cNvPr>
            <p:cNvSpPr txBox="1"/>
            <p:nvPr/>
          </p:nvSpPr>
          <p:spPr>
            <a:xfrm>
              <a:off x="2043824" y="3836501"/>
              <a:ext cx="3352800" cy="34634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b="1" dirty="0"/>
                <a:t>难点现状：</a:t>
              </a:r>
              <a:endParaRPr lang="en-US" altLang="zh-CN" b="1" dirty="0"/>
            </a:p>
            <a:p>
              <a:pPr marL="742950" lvl="1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en-US" altLang="zh-CN" dirty="0"/>
                <a:t>VQA </a:t>
              </a:r>
              <a:r>
                <a:rPr lang="zh-CN" altLang="en-US" dirty="0"/>
                <a:t>过于简单（很多 </a:t>
              </a:r>
              <a:r>
                <a:rPr lang="en-US" altLang="zh-CN" dirty="0"/>
                <a:t>Yes/No</a:t>
              </a:r>
              <a:r>
                <a:rPr lang="zh-CN" altLang="en-US" dirty="0"/>
                <a:t>）→ 模型容易</a:t>
              </a:r>
              <a:r>
                <a:rPr lang="zh-CN" altLang="en-US" b="1" dirty="0"/>
                <a:t>奖励投机</a:t>
              </a:r>
              <a:r>
                <a:rPr lang="zh-CN" altLang="en-US" dirty="0"/>
                <a:t>（乱猜也能得高分）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B49C3F9F-D7A4-5CEB-B878-48A25B033236}"/>
              </a:ext>
            </a:extLst>
          </p:cNvPr>
          <p:cNvGrpSpPr/>
          <p:nvPr/>
        </p:nvGrpSpPr>
        <p:grpSpPr>
          <a:xfrm>
            <a:off x="74981" y="3661113"/>
            <a:ext cx="5013854" cy="2031325"/>
            <a:chOff x="1903782" y="3836501"/>
            <a:chExt cx="3673887" cy="4772627"/>
          </a:xfrm>
        </p:grpSpPr>
        <p:sp>
          <p:nvSpPr>
            <p:cNvPr id="8" name="íṡḷîḓê">
              <a:extLst>
                <a:ext uri="{FF2B5EF4-FFF2-40B4-BE49-F238E27FC236}">
                  <a16:creationId xmlns:a16="http://schemas.microsoft.com/office/drawing/2014/main" id="{ABDD4204-604C-221C-CC22-3559293FAB97}"/>
                </a:ext>
              </a:extLst>
            </p:cNvPr>
            <p:cNvSpPr/>
            <p:nvPr/>
          </p:nvSpPr>
          <p:spPr>
            <a:xfrm>
              <a:off x="1903782" y="3876359"/>
              <a:ext cx="3673887" cy="1961223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26FCE78D-CFDC-6D5C-54FC-900452D1EFEB}"/>
                </a:ext>
              </a:extLst>
            </p:cNvPr>
            <p:cNvSpPr txBox="1"/>
            <p:nvPr/>
          </p:nvSpPr>
          <p:spPr>
            <a:xfrm>
              <a:off x="2043824" y="3836501"/>
              <a:ext cx="3352800" cy="47726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b="1" dirty="0"/>
                <a:t>解决方案：重构多选题（</a:t>
              </a:r>
              <a:r>
                <a:rPr lang="en-US" altLang="zh-CN" b="1" dirty="0"/>
                <a:t>MCQ</a:t>
              </a:r>
              <a:r>
                <a:rPr lang="zh-CN" altLang="en-US" b="1" dirty="0"/>
                <a:t>）格式</a:t>
              </a:r>
              <a:endParaRPr lang="en-US" altLang="zh-CN" b="1" dirty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dirty="0"/>
                <a:t>对同一张图的多个 </a:t>
              </a:r>
              <a:r>
                <a:rPr lang="en-US" altLang="zh-CN" dirty="0"/>
                <a:t>QA </a:t>
              </a:r>
              <a:r>
                <a:rPr lang="zh-CN" altLang="en-US" dirty="0"/>
                <a:t>对（</a:t>
              </a:r>
              <a:r>
                <a:rPr lang="en-US" altLang="zh-CN" dirty="0"/>
                <a:t>10–15 </a:t>
              </a:r>
              <a:r>
                <a:rPr lang="zh-CN" altLang="en-US" dirty="0"/>
                <a:t>个）：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zh-CN" altLang="en-US" dirty="0"/>
                <a:t>选出一部分 </a:t>
              </a:r>
              <a:r>
                <a:rPr lang="en-US" altLang="zh-CN" dirty="0"/>
                <a:t>QA </a:t>
              </a:r>
              <a:r>
                <a:rPr lang="zh-CN" altLang="en-US" dirty="0"/>
                <a:t>对保持正确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zh-CN" altLang="en-US" dirty="0"/>
                <a:t>随机“</a:t>
              </a:r>
              <a:r>
                <a:rPr lang="zh-CN" altLang="en-US" b="1" dirty="0"/>
                <a:t>反转</a:t>
              </a:r>
              <a:r>
                <a:rPr lang="zh-CN" altLang="en-US" dirty="0"/>
                <a:t>”部分 </a:t>
              </a:r>
              <a:r>
                <a:rPr lang="en-US" altLang="zh-CN" dirty="0"/>
                <a:t>QA </a:t>
              </a:r>
              <a:r>
                <a:rPr lang="zh-CN" altLang="en-US" dirty="0"/>
                <a:t>对（制造错误选项）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zh-CN" altLang="en-US" dirty="0"/>
                <a:t>形成一个多选题：</a:t>
              </a:r>
              <a:br>
                <a:rPr lang="zh-CN" altLang="en-US" dirty="0"/>
              </a:br>
              <a:r>
                <a:rPr lang="zh-CN" altLang="en-US" b="1" dirty="0"/>
                <a:t>“哪些 </a:t>
              </a:r>
              <a:r>
                <a:rPr lang="en-US" altLang="zh-CN" b="1" dirty="0"/>
                <a:t>QA </a:t>
              </a:r>
              <a:r>
                <a:rPr lang="zh-CN" altLang="en-US" b="1" dirty="0"/>
                <a:t>对是正确的？”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8132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 advTm="346">
        <p:fade/>
      </p:transition>
    </mc:Choice>
    <mc:Fallback xmlns="">
      <p:transition advTm="346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FD0AB-F36B-22C2-22BC-50034AEE5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标题 8">
            <a:extLst>
              <a:ext uri="{FF2B5EF4-FFF2-40B4-BE49-F238E27FC236}">
                <a16:creationId xmlns:a16="http://schemas.microsoft.com/office/drawing/2014/main" id="{B1231E81-E56C-6157-C8F3-63355F6B3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0B2A6C"/>
                </a:solidFill>
              </a:rPr>
              <a:t>实验结果概览</a:t>
            </a:r>
            <a:endParaRPr lang="zh-CN" altLang="en-US" sz="3200" dirty="0">
              <a:solidFill>
                <a:srgbClr val="0B2A6C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D74CEDA-0E46-17DA-28E6-6D978EBAD612}"/>
              </a:ext>
            </a:extLst>
          </p:cNvPr>
          <p:cNvGrpSpPr/>
          <p:nvPr/>
        </p:nvGrpSpPr>
        <p:grpSpPr>
          <a:xfrm>
            <a:off x="1300806" y="5129441"/>
            <a:ext cx="10129193" cy="880419"/>
            <a:chOff x="1903782" y="3876354"/>
            <a:chExt cx="3676292" cy="4694082"/>
          </a:xfrm>
        </p:grpSpPr>
        <p:sp>
          <p:nvSpPr>
            <p:cNvPr id="8" name="íṡḷîḓê">
              <a:extLst>
                <a:ext uri="{FF2B5EF4-FFF2-40B4-BE49-F238E27FC236}">
                  <a16:creationId xmlns:a16="http://schemas.microsoft.com/office/drawing/2014/main" id="{8140020F-F3E7-479A-B8CC-B88A06A5CBE8}"/>
                </a:ext>
              </a:extLst>
            </p:cNvPr>
            <p:cNvSpPr/>
            <p:nvPr/>
          </p:nvSpPr>
          <p:spPr>
            <a:xfrm>
              <a:off x="1903782" y="3876354"/>
              <a:ext cx="3676292" cy="4694082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ED6CD43-D032-FD35-6F49-E5E902D17D7B}"/>
                </a:ext>
              </a:extLst>
            </p:cNvPr>
            <p:cNvSpPr txBox="1"/>
            <p:nvPr/>
          </p:nvSpPr>
          <p:spPr>
            <a:xfrm>
              <a:off x="2063063" y="4649037"/>
              <a:ext cx="3352800" cy="3446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ctr">
                <a:buFont typeface="Wingdings" panose="05000000000000000000" pitchFamily="2" charset="2"/>
                <a:buChar char="Ø"/>
              </a:pPr>
              <a:r>
                <a:rPr lang="en-US" altLang="zh-CN" b="1" dirty="0"/>
                <a:t>RS-EoT-7B </a:t>
              </a:r>
              <a:r>
                <a:rPr lang="zh-CN" altLang="en-US" b="1" dirty="0"/>
                <a:t>在所有遥感 </a:t>
              </a:r>
              <a:r>
                <a:rPr lang="en-US" altLang="zh-CN" b="1" dirty="0"/>
                <a:t>VQA </a:t>
              </a:r>
              <a:r>
                <a:rPr lang="zh-CN" altLang="en-US" b="1" dirty="0"/>
                <a:t>与细粒度定位任务中均取得最佳成绩，展现出最稳定、最可信、最强的证据驱动推理能力。</a:t>
              </a:r>
              <a:endParaRPr lang="zh-CN" altLang="en-US" dirty="0"/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BB654CBF-E68B-C28F-7225-C08FF0407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317" y="825362"/>
            <a:ext cx="11417370" cy="417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380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 advTm="346">
        <p:fade/>
      </p:transition>
    </mc:Choice>
    <mc:Fallback xmlns="">
      <p:transition advTm="346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71B55-1F66-0DA2-0B93-9782329B7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标题 8">
            <a:extLst>
              <a:ext uri="{FF2B5EF4-FFF2-40B4-BE49-F238E27FC236}">
                <a16:creationId xmlns:a16="http://schemas.microsoft.com/office/drawing/2014/main" id="{A6F8B938-045B-E9B5-76B0-D3445F506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0B2A6C"/>
                </a:solidFill>
              </a:rPr>
              <a:t>总结</a:t>
            </a:r>
            <a:endParaRPr lang="zh-CN" altLang="en-US" sz="3200" dirty="0">
              <a:solidFill>
                <a:srgbClr val="0B2A6C"/>
              </a:solidFill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1CAFC6B8-AD17-9228-C0DD-F948181A8F49}"/>
              </a:ext>
            </a:extLst>
          </p:cNvPr>
          <p:cNvGrpSpPr/>
          <p:nvPr/>
        </p:nvGrpSpPr>
        <p:grpSpPr>
          <a:xfrm>
            <a:off x="320146" y="1027041"/>
            <a:ext cx="5530688" cy="1808926"/>
            <a:chOff x="1903782" y="3604588"/>
            <a:chExt cx="3673887" cy="1808926"/>
          </a:xfrm>
        </p:grpSpPr>
        <p:sp>
          <p:nvSpPr>
            <p:cNvPr id="21" name="íṡḷîḓê">
              <a:extLst>
                <a:ext uri="{FF2B5EF4-FFF2-40B4-BE49-F238E27FC236}">
                  <a16:creationId xmlns:a16="http://schemas.microsoft.com/office/drawing/2014/main" id="{44712417-22D8-6B78-7002-6F3E28138D54}"/>
                </a:ext>
              </a:extLst>
            </p:cNvPr>
            <p:cNvSpPr/>
            <p:nvPr/>
          </p:nvSpPr>
          <p:spPr>
            <a:xfrm>
              <a:off x="1903782" y="3611216"/>
              <a:ext cx="3673887" cy="1802298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2995F3C2-4068-4669-A7D6-6ABBBB76ECE6}"/>
                </a:ext>
              </a:extLst>
            </p:cNvPr>
            <p:cNvSpPr txBox="1"/>
            <p:nvPr/>
          </p:nvSpPr>
          <p:spPr>
            <a:xfrm>
              <a:off x="2112226" y="3604588"/>
              <a:ext cx="3352800" cy="1796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en-US" altLang="zh-CN" b="1" dirty="0"/>
                <a:t>1.</a:t>
              </a:r>
              <a:r>
                <a:rPr lang="zh-CN" altLang="en-US" b="1" dirty="0"/>
                <a:t>提出了新的 </a:t>
              </a:r>
              <a:r>
                <a:rPr lang="en-US" altLang="zh-CN" b="1" dirty="0"/>
                <a:t>RS-EoT </a:t>
              </a:r>
              <a:r>
                <a:rPr lang="zh-CN" altLang="en-US" b="1" dirty="0"/>
                <a:t>推理范式</a:t>
              </a:r>
              <a:endParaRPr lang="en-US" altLang="zh-CN" b="1" dirty="0"/>
            </a:p>
            <a:p>
              <a:pPr marL="742950" lvl="1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语言驱动推理</a:t>
              </a:r>
              <a:endParaRPr lang="en-US" altLang="zh-CN" dirty="0"/>
            </a:p>
            <a:p>
              <a:pPr marL="742950" lvl="1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迭代式证据寻求</a:t>
              </a:r>
              <a:endParaRPr lang="en-US" altLang="zh-CN" dirty="0"/>
            </a:p>
            <a:p>
              <a:pPr marL="742950" lvl="1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针对遥感任务中“扫视效应（只看一眼）”导致的伪推理问题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F2B26C4E-FE40-90D0-B1C3-294285606454}"/>
              </a:ext>
            </a:extLst>
          </p:cNvPr>
          <p:cNvGrpSpPr/>
          <p:nvPr/>
        </p:nvGrpSpPr>
        <p:grpSpPr>
          <a:xfrm>
            <a:off x="5905938" y="967406"/>
            <a:ext cx="5530688" cy="2623934"/>
            <a:chOff x="1903782" y="3383569"/>
            <a:chExt cx="3673887" cy="3500935"/>
          </a:xfrm>
        </p:grpSpPr>
        <p:sp>
          <p:nvSpPr>
            <p:cNvPr id="24" name="íṡḷîḓê">
              <a:extLst>
                <a:ext uri="{FF2B5EF4-FFF2-40B4-BE49-F238E27FC236}">
                  <a16:creationId xmlns:a16="http://schemas.microsoft.com/office/drawing/2014/main" id="{01C7734F-EE23-0D41-82F7-C973EADFA4B6}"/>
                </a:ext>
              </a:extLst>
            </p:cNvPr>
            <p:cNvSpPr/>
            <p:nvPr/>
          </p:nvSpPr>
          <p:spPr>
            <a:xfrm>
              <a:off x="1903782" y="3611215"/>
              <a:ext cx="3673887" cy="3273289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F216BCB4-BF2F-B9C2-72A9-E9166E844271}"/>
                </a:ext>
              </a:extLst>
            </p:cNvPr>
            <p:cNvSpPr txBox="1"/>
            <p:nvPr/>
          </p:nvSpPr>
          <p:spPr>
            <a:xfrm>
              <a:off x="2112226" y="3383569"/>
              <a:ext cx="3352800" cy="24891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en-US" altLang="zh-CN" b="1" dirty="0"/>
                <a:t>2.</a:t>
              </a:r>
              <a:r>
                <a:rPr lang="zh-CN" altLang="en-US" b="1" dirty="0"/>
                <a:t>构建了完整训练框架，让模型真正“学会”</a:t>
              </a:r>
              <a:r>
                <a:rPr lang="en-US" altLang="zh-CN" b="1" dirty="0"/>
                <a:t>RS-EoT</a:t>
              </a:r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en-US" altLang="zh-CN" b="1" dirty="0"/>
                <a:t>SocraticAgent</a:t>
              </a:r>
              <a:r>
                <a:rPr lang="zh-CN" altLang="en-US" dirty="0"/>
                <a:t>：自动生成结构化、多轮、证据真实的推理链 → 用于 </a:t>
              </a:r>
              <a:r>
                <a:rPr lang="en-US" altLang="zh-CN" dirty="0"/>
                <a:t>SFT </a:t>
              </a:r>
              <a:r>
                <a:rPr lang="zh-CN" altLang="en-US" dirty="0"/>
                <a:t>冷启动</a:t>
              </a:r>
              <a:endParaRPr lang="en-US" altLang="zh-CN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b="1" dirty="0"/>
                <a:t>两阶段 </a:t>
              </a:r>
              <a:r>
                <a:rPr lang="en-US" altLang="zh-CN" b="1" dirty="0"/>
                <a:t>RL</a:t>
              </a:r>
              <a:r>
                <a:rPr lang="zh-CN" altLang="en-US" b="1" dirty="0"/>
                <a:t>：</a:t>
              </a:r>
              <a:endParaRPr lang="en-US" altLang="zh-CN" b="1" dirty="0"/>
            </a:p>
            <a:p>
              <a:pPr marL="742950" lvl="1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en-US" altLang="zh-CN" b="1" dirty="0"/>
                <a:t>Stage 1</a:t>
              </a:r>
              <a:r>
                <a:rPr lang="zh-CN" altLang="en-US" b="1" dirty="0"/>
                <a:t>：</a:t>
              </a:r>
              <a:r>
                <a:rPr lang="zh-CN" altLang="en-US" dirty="0"/>
                <a:t>强化视觉证据定位</a:t>
              </a:r>
              <a:endParaRPr lang="en-US" altLang="zh-CN" dirty="0"/>
            </a:p>
            <a:p>
              <a:pPr marL="742950" lvl="1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en-US" altLang="zh-CN" b="1" dirty="0"/>
                <a:t>Stage 2</a:t>
              </a:r>
              <a:r>
                <a:rPr lang="zh-CN" altLang="en-US" b="1" dirty="0"/>
                <a:t>：</a:t>
              </a:r>
              <a:r>
                <a:rPr lang="zh-CN" altLang="en-US" dirty="0"/>
                <a:t>提升推理稳定性与泛化能力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452FCB78-D42E-9C64-5330-95F01E7F7985}"/>
              </a:ext>
            </a:extLst>
          </p:cNvPr>
          <p:cNvGrpSpPr/>
          <p:nvPr/>
        </p:nvGrpSpPr>
        <p:grpSpPr>
          <a:xfrm>
            <a:off x="326774" y="2941981"/>
            <a:ext cx="5530688" cy="2368180"/>
            <a:chOff x="1903782" y="3611215"/>
            <a:chExt cx="3673887" cy="2368180"/>
          </a:xfrm>
        </p:grpSpPr>
        <p:sp>
          <p:nvSpPr>
            <p:cNvPr id="27" name="íṡḷîḓê">
              <a:extLst>
                <a:ext uri="{FF2B5EF4-FFF2-40B4-BE49-F238E27FC236}">
                  <a16:creationId xmlns:a16="http://schemas.microsoft.com/office/drawing/2014/main" id="{B0F42726-5EDC-3A5C-19BA-BC7D37BCF097}"/>
                </a:ext>
              </a:extLst>
            </p:cNvPr>
            <p:cNvSpPr/>
            <p:nvPr/>
          </p:nvSpPr>
          <p:spPr>
            <a:xfrm>
              <a:off x="1903782" y="3611215"/>
              <a:ext cx="3673887" cy="2226367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7865D75E-C6BB-9BC8-7BC9-C66859F522A6}"/>
                </a:ext>
              </a:extLst>
            </p:cNvPr>
            <p:cNvSpPr txBox="1"/>
            <p:nvPr/>
          </p:nvSpPr>
          <p:spPr>
            <a:xfrm>
              <a:off x="2043824" y="3836501"/>
              <a:ext cx="3352800" cy="2142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en-US" altLang="zh-CN" b="1" dirty="0"/>
                <a:t>3.</a:t>
              </a:r>
              <a:r>
                <a:rPr lang="zh-CN" altLang="en-US" b="1" dirty="0"/>
                <a:t>训练得到 </a:t>
              </a:r>
              <a:r>
                <a:rPr lang="en-US" altLang="zh-CN" b="1" dirty="0"/>
                <a:t>RS-EoT-7B</a:t>
              </a:r>
              <a:r>
                <a:rPr lang="zh-CN" altLang="en-US" b="1" dirty="0"/>
                <a:t>（全面 </a:t>
              </a:r>
              <a:r>
                <a:rPr lang="en-US" altLang="zh-CN" b="1" dirty="0"/>
                <a:t>SOTA</a:t>
              </a:r>
              <a:r>
                <a:rPr lang="zh-CN" altLang="en-US" b="1" dirty="0"/>
                <a:t>）</a:t>
              </a:r>
              <a:endParaRPr lang="en-US" altLang="zh-CN" b="1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在所有遥感 </a:t>
              </a:r>
              <a:r>
                <a:rPr lang="en-US" altLang="zh-CN" dirty="0"/>
                <a:t>VQA</a:t>
              </a:r>
              <a:r>
                <a:rPr lang="zh-CN" altLang="en-US" dirty="0"/>
                <a:t>、细粒度 </a:t>
              </a:r>
              <a:r>
                <a:rPr lang="en-US" altLang="zh-CN" dirty="0"/>
                <a:t>grounding </a:t>
              </a:r>
              <a:r>
                <a:rPr lang="zh-CN" altLang="en-US" dirty="0"/>
                <a:t>基准上领先</a:t>
              </a:r>
              <a:endParaRPr lang="en-US" altLang="zh-CN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推理可解释、可验证、可逐步确认</a:t>
              </a:r>
              <a:endParaRPr lang="en-US" altLang="zh-CN" dirty="0"/>
            </a:p>
            <a:p>
              <a:pPr marL="285750" indent="-285750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有效克服“伪推理”问题，体现真正的视觉推理能力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67E54BA-657A-5938-BF69-20B93EE975F3}"/>
              </a:ext>
            </a:extLst>
          </p:cNvPr>
          <p:cNvGrpSpPr/>
          <p:nvPr/>
        </p:nvGrpSpPr>
        <p:grpSpPr>
          <a:xfrm>
            <a:off x="2637586" y="5588294"/>
            <a:ext cx="9474901" cy="863601"/>
            <a:chOff x="2046174" y="3611215"/>
            <a:chExt cx="3338030" cy="3132825"/>
          </a:xfrm>
        </p:grpSpPr>
        <p:sp>
          <p:nvSpPr>
            <p:cNvPr id="30" name="íṡḷîḓê">
              <a:extLst>
                <a:ext uri="{FF2B5EF4-FFF2-40B4-BE49-F238E27FC236}">
                  <a16:creationId xmlns:a16="http://schemas.microsoft.com/office/drawing/2014/main" id="{37010EB3-6DB4-7EF4-7572-5652A458D775}"/>
                </a:ext>
              </a:extLst>
            </p:cNvPr>
            <p:cNvSpPr/>
            <p:nvPr/>
          </p:nvSpPr>
          <p:spPr>
            <a:xfrm>
              <a:off x="2760925" y="3611215"/>
              <a:ext cx="1932200" cy="3132825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3EB0E2E6-23E1-2D06-16C8-39CD27A96899}"/>
                </a:ext>
              </a:extLst>
            </p:cNvPr>
            <p:cNvSpPr txBox="1"/>
            <p:nvPr/>
          </p:nvSpPr>
          <p:spPr>
            <a:xfrm>
              <a:off x="2046174" y="3762785"/>
              <a:ext cx="3338030" cy="27493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ctr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en-US" altLang="zh-CN" dirty="0"/>
                <a:t>RS-EoT </a:t>
              </a:r>
              <a:r>
                <a:rPr lang="zh-CN" altLang="en-US" dirty="0"/>
                <a:t>让多模态模型从“</a:t>
              </a:r>
              <a:r>
                <a:rPr lang="zh-CN" altLang="en-US" b="1" dirty="0"/>
                <a:t>看一眼就下结论</a:t>
              </a:r>
              <a:r>
                <a:rPr lang="zh-CN" altLang="en-US" dirty="0"/>
                <a:t>”，变成</a:t>
              </a:r>
              <a:endParaRPr lang="en-US" altLang="zh-CN" dirty="0"/>
            </a:p>
            <a:p>
              <a:pPr marL="285750" indent="-285750" algn="ctr">
                <a:lnSpc>
                  <a:spcPct val="125000"/>
                </a:lnSpc>
                <a:buFont typeface="Wingdings" panose="05000000000000000000" pitchFamily="2" charset="2"/>
                <a:buChar char="Ø"/>
              </a:pPr>
              <a:r>
                <a:rPr lang="zh-CN" altLang="en-US" dirty="0"/>
                <a:t>“</a:t>
              </a:r>
              <a:r>
                <a:rPr lang="zh-CN" altLang="en-US" b="1" dirty="0"/>
                <a:t>像人一样反复查证后得出可靠推理</a:t>
              </a:r>
              <a:r>
                <a:rPr lang="zh-CN" altLang="en-US" dirty="0"/>
                <a:t>”</a:t>
              </a:r>
            </a:p>
          </p:txBody>
        </p:sp>
      </p:grpSp>
      <p:sp>
        <p:nvSpPr>
          <p:cNvPr id="32" name="AutoShape 2" descr="已生成图片">
            <a:extLst>
              <a:ext uri="{FF2B5EF4-FFF2-40B4-BE49-F238E27FC236}">
                <a16:creationId xmlns:a16="http://schemas.microsoft.com/office/drawing/2014/main" id="{EF8BDBD4-1DB2-69D4-F9D6-41B235AB96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464904" cy="246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34" name="图片 33" descr="卡通人物&#10;&#10;描述已自动生成">
            <a:extLst>
              <a:ext uri="{FF2B5EF4-FFF2-40B4-BE49-F238E27FC236}">
                <a16:creationId xmlns:a16="http://schemas.microsoft.com/office/drawing/2014/main" id="{7A8B005A-6B38-9D7B-C9A8-88A941660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7148" y="5227982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292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 advTm="346">
        <p:fade/>
      </p:transition>
    </mc:Choice>
    <mc:Fallback xmlns="">
      <p:transition advTm="346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A1A0115-F390-0C4A-82D0-D1831F0F0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96431A7-A439-48DC-9DBC-6BA343432102}" type="slidenum">
              <a:rPr lang="zh-CN" altLang="en-US" smtClean="0"/>
              <a:pPr/>
              <a:t>13</a:t>
            </a:fld>
            <a:endParaRPr lang="zh-CN" altLang="en-US"/>
          </a:p>
        </p:txBody>
      </p:sp>
      <p:pic>
        <p:nvPicPr>
          <p:cNvPr id="4" name="图片 3" descr="图表, 条形图, 直方图&#10;&#10;描述已自动生成">
            <a:extLst>
              <a:ext uri="{FF2B5EF4-FFF2-40B4-BE49-F238E27FC236}">
                <a16:creationId xmlns:a16="http://schemas.microsoft.com/office/drawing/2014/main" id="{2F819729-A7BC-1091-8BE2-FCC8F20D10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936993"/>
            <a:ext cx="8845826" cy="3791372"/>
          </a:xfrm>
          <a:prstGeom prst="rect">
            <a:avLst/>
          </a:prstGeom>
        </p:spPr>
      </p:pic>
      <p:sp>
        <p:nvSpPr>
          <p:cNvPr id="5" name="标题 8">
            <a:extLst>
              <a:ext uri="{FF2B5EF4-FFF2-40B4-BE49-F238E27FC236}">
                <a16:creationId xmlns:a16="http://schemas.microsoft.com/office/drawing/2014/main" id="{1AEDB434-0B16-8B25-3503-C740AB804661}"/>
              </a:ext>
            </a:extLst>
          </p:cNvPr>
          <p:cNvSpPr txBox="1">
            <a:spLocks/>
          </p:cNvSpPr>
          <p:nvPr/>
        </p:nvSpPr>
        <p:spPr>
          <a:xfrm>
            <a:off x="518181" y="135917"/>
            <a:ext cx="11205119" cy="716571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rgbClr val="0B2A6C"/>
                </a:solidFill>
              </a:rPr>
              <a:t>QLora</a:t>
            </a:r>
            <a:endParaRPr lang="zh-CN" altLang="en-US" dirty="0">
              <a:solidFill>
                <a:srgbClr val="0B2A6C"/>
              </a:solidFill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3669536-D627-C4AD-DA63-58E3210E9734}"/>
              </a:ext>
            </a:extLst>
          </p:cNvPr>
          <p:cNvGrpSpPr/>
          <p:nvPr/>
        </p:nvGrpSpPr>
        <p:grpSpPr>
          <a:xfrm>
            <a:off x="1835425" y="5049080"/>
            <a:ext cx="8150087" cy="689111"/>
            <a:chOff x="1903782" y="3876348"/>
            <a:chExt cx="3676292" cy="28549994"/>
          </a:xfrm>
        </p:grpSpPr>
        <p:sp>
          <p:nvSpPr>
            <p:cNvPr id="7" name="íṡḷîḓê">
              <a:extLst>
                <a:ext uri="{FF2B5EF4-FFF2-40B4-BE49-F238E27FC236}">
                  <a16:creationId xmlns:a16="http://schemas.microsoft.com/office/drawing/2014/main" id="{0B502418-F091-1321-74E3-D6EA8CEE07F3}"/>
                </a:ext>
              </a:extLst>
            </p:cNvPr>
            <p:cNvSpPr/>
            <p:nvPr/>
          </p:nvSpPr>
          <p:spPr>
            <a:xfrm>
              <a:off x="1903782" y="3876348"/>
              <a:ext cx="3676292" cy="4694079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0D666425-DF09-0BF2-6357-6A38A5F97A94}"/>
                </a:ext>
              </a:extLst>
            </p:cNvPr>
            <p:cNvSpPr txBox="1"/>
            <p:nvPr/>
          </p:nvSpPr>
          <p:spPr>
            <a:xfrm>
              <a:off x="2063062" y="4649037"/>
              <a:ext cx="3352799" cy="277773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ctr">
                <a:buFont typeface="Wingdings" panose="05000000000000000000" pitchFamily="2" charset="2"/>
                <a:buChar char="Ø"/>
              </a:pPr>
              <a:r>
                <a:rPr lang="en-US" altLang="zh-CN" dirty="0"/>
                <a:t>LoRA</a:t>
              </a:r>
              <a:r>
                <a:rPr lang="zh-CN" altLang="en-US" dirty="0"/>
                <a:t>配置测试，加载了</a:t>
              </a:r>
              <a:r>
                <a:rPr lang="en-US" altLang="zh-CN" dirty="0"/>
                <a:t>Qwen2-1.5B</a:t>
              </a:r>
              <a:r>
                <a:rPr lang="zh-CN" altLang="en-US" dirty="0"/>
                <a:t>模型，配置了</a:t>
              </a:r>
              <a:r>
                <a:rPr lang="en-US" altLang="zh-CN" dirty="0"/>
                <a:t>rank=8</a:t>
              </a:r>
              <a:r>
                <a:rPr lang="zh-CN" altLang="en-US" dirty="0"/>
                <a:t>的</a:t>
              </a:r>
              <a:r>
                <a:rPr lang="en-US" altLang="zh-CN" dirty="0"/>
                <a:t>LoRA</a:t>
              </a:r>
              <a:r>
                <a:rPr lang="zh-CN" altLang="en-US" dirty="0"/>
                <a:t>参数，将</a:t>
              </a:r>
              <a:r>
                <a:rPr lang="en-US" altLang="zh-CN" dirty="0"/>
                <a:t>1543M</a:t>
              </a:r>
              <a:r>
                <a:rPr lang="zh-CN" altLang="en-US" dirty="0"/>
                <a:t>的训练参数压缩到</a:t>
              </a:r>
              <a:r>
                <a:rPr lang="en-US" altLang="zh-CN" dirty="0"/>
                <a:t>1.09M</a:t>
              </a:r>
              <a:r>
                <a:rPr lang="zh-CN" altLang="en-US" dirty="0"/>
                <a:t>，压缩比</a:t>
              </a:r>
              <a:r>
                <a:rPr lang="en-US" altLang="zh-CN" dirty="0"/>
                <a:t>99.93%</a:t>
              </a:r>
              <a:r>
                <a:rPr lang="zh-CN" altLang="en-US" dirty="0"/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290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51698-CED5-1BAA-1684-EEDDE7453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标题 8">
            <a:extLst>
              <a:ext uri="{FF2B5EF4-FFF2-40B4-BE49-F238E27FC236}">
                <a16:creationId xmlns:a16="http://schemas.microsoft.com/office/drawing/2014/main" id="{31FFE674-7BF9-D4FC-6A98-99C48E1AE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0B2A6C"/>
                </a:solidFill>
              </a:rPr>
              <a:t>标准的</a:t>
            </a:r>
            <a:r>
              <a:rPr lang="en-US" altLang="zh-CN" dirty="0">
                <a:solidFill>
                  <a:srgbClr val="0B2A6C"/>
                </a:solidFill>
              </a:rPr>
              <a:t>instruction-input-output</a:t>
            </a:r>
            <a:r>
              <a:rPr lang="zh-CN" altLang="en-US" dirty="0">
                <a:solidFill>
                  <a:srgbClr val="0B2A6C"/>
                </a:solidFill>
              </a:rPr>
              <a:t>格式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646F9F3-D791-AB83-D394-85AAEEAF1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461" y="1103273"/>
            <a:ext cx="9905999" cy="532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720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 advTm="346">
        <p:fade/>
      </p:transition>
    </mc:Choice>
    <mc:Fallback xmlns="">
      <p:transition advTm="346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E05CDAA-8F7A-2C96-76A8-BA3229838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96431A7-A439-48DC-9DBC-6BA343432102}" type="slidenum">
              <a:rPr lang="zh-CN" altLang="en-US" smtClean="0"/>
              <a:pPr/>
              <a:t>15</a:t>
            </a:fld>
            <a:endParaRPr lang="zh-CN" altLang="en-US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C7EDDF5-3D97-556F-1A6A-725460504E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526076"/>
              </p:ext>
            </p:extLst>
          </p:nvPr>
        </p:nvGraphicFramePr>
        <p:xfrm>
          <a:off x="864705" y="1052686"/>
          <a:ext cx="10515600" cy="18288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77363939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4479893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7201925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88182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/>
                        <a:t>子集名称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规模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内容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适合任务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46942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Medical QA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~540k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医疗问答对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问答系统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05773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Medical Dialogue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~220k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医患对话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对话生成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86708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Medical Encyclopedia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~100k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医学百科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知识问答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3372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Clinical Records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~</a:t>
                      </a:r>
                      <a:r>
                        <a:rPr lang="zh-CN" altLang="en-US" dirty="0"/>
                        <a:t>数百万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临床记录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病历分析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4639972"/>
                  </a:ext>
                </a:extLst>
              </a:tr>
            </a:tbl>
          </a:graphicData>
        </a:graphic>
      </p:graphicFrame>
      <p:sp>
        <p:nvSpPr>
          <p:cNvPr id="11" name="标题 8">
            <a:extLst>
              <a:ext uri="{FF2B5EF4-FFF2-40B4-BE49-F238E27FC236}">
                <a16:creationId xmlns:a16="http://schemas.microsoft.com/office/drawing/2014/main" id="{2FDEB038-6005-2965-F625-F62B7D74FD91}"/>
              </a:ext>
            </a:extLst>
          </p:cNvPr>
          <p:cNvSpPr txBox="1">
            <a:spLocks/>
          </p:cNvSpPr>
          <p:nvPr/>
        </p:nvSpPr>
        <p:spPr>
          <a:xfrm>
            <a:off x="518181" y="135917"/>
            <a:ext cx="11205119" cy="716571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0B2A6C"/>
                </a:solidFill>
              </a:rPr>
              <a:t>华佗数据集（最大医疗中文数据集）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B6AF9F0-3993-16F6-2413-56256F629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991" y="3033457"/>
            <a:ext cx="6911008" cy="3354071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D5A1A814-54B7-A7E4-2CE1-3963C8BEEA74}"/>
              </a:ext>
            </a:extLst>
          </p:cNvPr>
          <p:cNvGrpSpPr/>
          <p:nvPr/>
        </p:nvGrpSpPr>
        <p:grpSpPr>
          <a:xfrm>
            <a:off x="8183217" y="4326836"/>
            <a:ext cx="2199860" cy="483703"/>
            <a:chOff x="1903782" y="3876354"/>
            <a:chExt cx="3676292" cy="4694082"/>
          </a:xfrm>
        </p:grpSpPr>
        <p:sp>
          <p:nvSpPr>
            <p:cNvPr id="15" name="íṡḷîḓê">
              <a:extLst>
                <a:ext uri="{FF2B5EF4-FFF2-40B4-BE49-F238E27FC236}">
                  <a16:creationId xmlns:a16="http://schemas.microsoft.com/office/drawing/2014/main" id="{56ADC8C3-7B79-5786-EF7C-36D27D1CE8CD}"/>
                </a:ext>
              </a:extLst>
            </p:cNvPr>
            <p:cNvSpPr/>
            <p:nvPr/>
          </p:nvSpPr>
          <p:spPr>
            <a:xfrm>
              <a:off x="1903782" y="3876354"/>
              <a:ext cx="3676292" cy="4694082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1A0E56AA-1A7B-5B4C-0B96-ABCC6E458A7C}"/>
                </a:ext>
              </a:extLst>
            </p:cNvPr>
            <p:cNvSpPr txBox="1"/>
            <p:nvPr/>
          </p:nvSpPr>
          <p:spPr>
            <a:xfrm>
              <a:off x="2063063" y="4649037"/>
              <a:ext cx="3352800" cy="19691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ctr">
                <a:buFont typeface="Wingdings" panose="05000000000000000000" pitchFamily="2" charset="2"/>
                <a:buChar char="Ø"/>
              </a:pPr>
              <a:r>
                <a:rPr lang="zh-CN" altLang="en-US" b="1" dirty="0"/>
                <a:t>部分数据样本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8892927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Microsoft YaHe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Microsoft YaHe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25342</TotalTime>
  <Words>3422</Words>
  <Application>Microsoft Office PowerPoint</Application>
  <PresentationFormat>宽屏</PresentationFormat>
  <Paragraphs>194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等线</vt:lpstr>
      <vt:lpstr>微软雅黑</vt:lpstr>
      <vt:lpstr>Arial</vt:lpstr>
      <vt:lpstr>Calibri</vt:lpstr>
      <vt:lpstr>Garamond</vt:lpstr>
      <vt:lpstr>Wingdings</vt:lpstr>
      <vt:lpstr>1_Office 主题​​</vt:lpstr>
      <vt:lpstr>2_Office 主题​​</vt:lpstr>
      <vt:lpstr>PowerPoint 演示文稿</vt:lpstr>
      <vt:lpstr>研究背景：为什么遥感需要新的推理范式？</vt:lpstr>
      <vt:lpstr>研究背景：为什么遥感需要新的推理范式？</vt:lpstr>
      <vt:lpstr>主要贡献</vt:lpstr>
      <vt:lpstr>RS-EoT框架（一）: SFT — SocraticAgent 冷启动</vt:lpstr>
      <vt:lpstr>RS-EoT框架（一）: SFT — SocraticAgent 冷启动</vt:lpstr>
      <vt:lpstr>RS-EoT框架（一）: SFT — SocraticAgent 冷启动</vt:lpstr>
      <vt:lpstr>RS-EoT框架（一）: SFT — SocraticAgent 冷启动</vt:lpstr>
      <vt:lpstr>RS-EoT框架（二）: 两阶段强化学习（RL-Grounding + RL-VQA）</vt:lpstr>
      <vt:lpstr>RS-EoT框架（二）: 两阶段强化学习（RL-Grounding + RL-VQA）</vt:lpstr>
      <vt:lpstr>实验结果概览</vt:lpstr>
      <vt:lpstr>总结</vt:lpstr>
      <vt:lpstr>PowerPoint 演示文稿</vt:lpstr>
      <vt:lpstr>标准的instruction-input-output格式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Daniel Wu</dc:creator>
  <cp:lastModifiedBy>荣臻 王</cp:lastModifiedBy>
  <cp:revision>640</cp:revision>
  <cp:lastPrinted>2022-08-09T00:23:36Z</cp:lastPrinted>
  <dcterms:created xsi:type="dcterms:W3CDTF">2022-03-02T08:04:59Z</dcterms:created>
  <dcterms:modified xsi:type="dcterms:W3CDTF">2025-12-11T10:59:41Z</dcterms:modified>
</cp:coreProperties>
</file>