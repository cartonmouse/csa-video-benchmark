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3" r:id="rId7"/>
    <p:sldId id="261" r:id="rId8"/>
    <p:sldId id="262" r:id="rId9"/>
    <p:sldId id="264"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75B6"/>
    <a:srgbClr val="C55A11"/>
    <a:srgbClr val="E2F0D9"/>
    <a:srgbClr val="548235"/>
    <a:srgbClr val="7C7C7C"/>
    <a:srgbClr val="FFD966"/>
    <a:srgbClr val="203864"/>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F2014-8C30-44EA-A90C-4DF1CC84FF31}" type="datetimeFigureOut">
              <a:rPr lang="zh-CN" altLang="en-US" smtClean="0"/>
              <a:t>2025/9/10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32CFD5-09FB-4441-9606-2BB0EFE0B26E}" type="slidenum">
              <a:rPr lang="zh-CN" altLang="en-US" smtClean="0"/>
              <a:t>‹#›</a:t>
            </a:fld>
            <a:endParaRPr lang="zh-CN" altLang="en-US"/>
          </a:p>
        </p:txBody>
      </p:sp>
    </p:spTree>
    <p:extLst>
      <p:ext uri="{BB962C8B-B14F-4D97-AF65-F5344CB8AC3E}">
        <p14:creationId xmlns:p14="http://schemas.microsoft.com/office/powerpoint/2010/main" val="2500509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832CFD5-09FB-4441-9606-2BB0EFE0B26E}" type="slidenum">
              <a:rPr lang="zh-CN" altLang="en-US" smtClean="0"/>
              <a:t>7</a:t>
            </a:fld>
            <a:endParaRPr lang="zh-CN" altLang="en-US"/>
          </a:p>
        </p:txBody>
      </p:sp>
    </p:spTree>
    <p:extLst>
      <p:ext uri="{BB962C8B-B14F-4D97-AF65-F5344CB8AC3E}">
        <p14:creationId xmlns:p14="http://schemas.microsoft.com/office/powerpoint/2010/main" val="1123051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E60FB-F63A-AA52-218C-E930A6BBA0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AF808C-AE86-BCA2-08D9-1789E626AF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03F329-A92D-8191-7C42-84222974310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F82961A-3B18-DDD7-B9EA-CF1BD5C10891}"/>
              </a:ext>
            </a:extLst>
          </p:cNvPr>
          <p:cNvSpPr>
            <a:spLocks noGrp="1"/>
          </p:cNvSpPr>
          <p:nvPr>
            <p:ph type="sldNum" sz="quarter" idx="5"/>
          </p:nvPr>
        </p:nvSpPr>
        <p:spPr/>
        <p:txBody>
          <a:bodyPr/>
          <a:lstStyle/>
          <a:p>
            <a:fld id="{2832CFD5-09FB-4441-9606-2BB0EFE0B26E}" type="slidenum">
              <a:rPr lang="zh-CN" altLang="en-US" smtClean="0"/>
              <a:t>8</a:t>
            </a:fld>
            <a:endParaRPr lang="zh-CN" altLang="en-US"/>
          </a:p>
        </p:txBody>
      </p:sp>
    </p:spTree>
    <p:extLst>
      <p:ext uri="{BB962C8B-B14F-4D97-AF65-F5344CB8AC3E}">
        <p14:creationId xmlns:p14="http://schemas.microsoft.com/office/powerpoint/2010/main" val="3405777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B7B8-82F8-7F5B-5E84-5DE5A6505F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823923-6BE8-3B37-9BEA-9E1B0C7471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AED074-41EA-A6B7-777A-4F8C50B0812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E6CFC1A-2122-26F4-6641-B69CDA357F46}"/>
              </a:ext>
            </a:extLst>
          </p:cNvPr>
          <p:cNvSpPr>
            <a:spLocks noGrp="1"/>
          </p:cNvSpPr>
          <p:nvPr>
            <p:ph type="sldNum" sz="quarter" idx="5"/>
          </p:nvPr>
        </p:nvSpPr>
        <p:spPr/>
        <p:txBody>
          <a:bodyPr/>
          <a:lstStyle/>
          <a:p>
            <a:fld id="{2832CFD5-09FB-4441-9606-2BB0EFE0B26E}" type="slidenum">
              <a:rPr lang="zh-CN" altLang="en-US" smtClean="0"/>
              <a:t>9</a:t>
            </a:fld>
            <a:endParaRPr lang="zh-CN" altLang="en-US"/>
          </a:p>
        </p:txBody>
      </p:sp>
    </p:spTree>
    <p:extLst>
      <p:ext uri="{BB962C8B-B14F-4D97-AF65-F5344CB8AC3E}">
        <p14:creationId xmlns:p14="http://schemas.microsoft.com/office/powerpoint/2010/main" val="612364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048572-C7FC-0459-626E-9B3C5AF2B27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ABF0CC4-9EC6-87E9-8685-6EBC24EDDF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ED8294E-8E3F-DD33-FB75-866FC51BE28F}"/>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0618A7DC-17EF-DCE3-1DCB-5A54ADF001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33B88EB-90C1-BE0D-4BE0-AA9FD04C0867}"/>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1420100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796255-189A-56E7-FA9E-0E93B018709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566C2FE-FCC6-F36B-4CFD-B2DD1F982C5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B4CE15C-7E95-32AF-C948-921DF4D2E188}"/>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E8C5995D-BCED-21D7-E4F7-70502E3DBF4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1B1ECF-E7E5-F8A1-078F-E019AFAD0FEE}"/>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1488247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326AED-DBD4-8392-D75A-086F2B0B8D3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FF4BD88-2D59-7BB7-F5F9-F89CAF9199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4C15871-AE20-09B2-2DDA-CA7CAAA991E4}"/>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C2C194E8-3986-CDB7-D242-E235BB7547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7ED0BC-F24A-1B7A-E5DB-A9105ED3CE26}"/>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744238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D1DA42-B960-F7BA-34EC-94B2D336D1D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DE717AB-9B55-330D-29ED-D0CBFFB8410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E74867E-2B4D-222C-1B19-AE75BF4821E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8B65CCA-9764-01BE-FE6D-01264CB89867}"/>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6" name="页脚占位符 5">
            <a:extLst>
              <a:ext uri="{FF2B5EF4-FFF2-40B4-BE49-F238E27FC236}">
                <a16:creationId xmlns:a16="http://schemas.microsoft.com/office/drawing/2014/main" id="{61884654-85F2-365C-46CF-DC6DE37B01B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DA6823F-1624-156B-BA5E-A26376DC4F76}"/>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1455693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51B286-EF53-92F0-95FC-3E95060A865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91F58D0-D9A9-33E5-FFB4-3DE1882B4B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A73FECD-32B2-9C22-3375-F890FCF7371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72A850A-8357-0374-BF99-BDC10370EB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6D931E3-F86E-EF98-EF98-BA752007DC0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5F085A3-D181-49DD-BA43-4504475FDAC0}"/>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8" name="页脚占位符 7">
            <a:extLst>
              <a:ext uri="{FF2B5EF4-FFF2-40B4-BE49-F238E27FC236}">
                <a16:creationId xmlns:a16="http://schemas.microsoft.com/office/drawing/2014/main" id="{8F7BE415-28BF-8CE7-AE2B-BB149F9C0E7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DEB1095-1F88-5F64-E747-866D38660B9B}"/>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3983984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139FE8-E4DF-2093-F895-1EBB6E8ABC9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300975-D660-35F9-40BF-4EAB9A91B86F}"/>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4" name="页脚占位符 3">
            <a:extLst>
              <a:ext uri="{FF2B5EF4-FFF2-40B4-BE49-F238E27FC236}">
                <a16:creationId xmlns:a16="http://schemas.microsoft.com/office/drawing/2014/main" id="{6F9E21BA-0CAB-492A-34D1-C75B8413F88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E5C3B45-F99D-3FEC-CF69-8C6CC1FEA36D}"/>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3862657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0556520-D0A9-6105-D0DB-3BCC50DE7B7D}"/>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3" name="页脚占位符 2">
            <a:extLst>
              <a:ext uri="{FF2B5EF4-FFF2-40B4-BE49-F238E27FC236}">
                <a16:creationId xmlns:a16="http://schemas.microsoft.com/office/drawing/2014/main" id="{0A6F37E9-97BA-8589-5794-575353517C8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FAB039C-61B4-1491-9497-7B772C2DD265}"/>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1209384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D72C3B-BB31-5B4B-EB54-5F4D9708D74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454D4FA-A36E-64E7-28AB-2B8EA7567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C02A2A8-DD8A-BE05-DE06-BD092D9569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B6C261F-011E-6B10-B570-0F91EB6A5AFF}"/>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6" name="页脚占位符 5">
            <a:extLst>
              <a:ext uri="{FF2B5EF4-FFF2-40B4-BE49-F238E27FC236}">
                <a16:creationId xmlns:a16="http://schemas.microsoft.com/office/drawing/2014/main" id="{C05943D4-9F63-CDDA-0A5C-AA3493D818D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8918237-4CF5-5332-DA4D-6AFDB1886BF1}"/>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2853564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770ACD-BEF9-204E-1850-869C1E5ED5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FA8D9BA-D8B3-1811-8CD9-5542691984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9F9D0EF-A0D4-A81D-7CA3-EC68D68EDD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4B68E85-618A-6CEB-A3AA-AD1438036FC2}"/>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6" name="页脚占位符 5">
            <a:extLst>
              <a:ext uri="{FF2B5EF4-FFF2-40B4-BE49-F238E27FC236}">
                <a16:creationId xmlns:a16="http://schemas.microsoft.com/office/drawing/2014/main" id="{9A411124-6A32-7EA1-18E7-3E971A6813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D59098-291F-3114-4BD2-95BDEECA46B7}"/>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3146434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A08862-C2EB-99B9-8B11-CAE710EB89C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832B051-96E8-4168-4378-DE80159D2AF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00CEA3-FFFD-F75D-C387-FEC6BB4816E3}"/>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D41AB290-3BB4-29D4-E1A8-76B2ED8535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2DC4FF-96A4-1270-A4C2-6678C4F52D0E}"/>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470152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90DBEF5-B6BA-9D74-51D1-FD5CD2AD211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67B1403-8550-6501-568E-FCD20063481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3183FB-E5EB-1665-4218-EB664940FE2C}"/>
              </a:ext>
            </a:extLst>
          </p:cNvPr>
          <p:cNvSpPr>
            <a:spLocks noGrp="1"/>
          </p:cNvSpPr>
          <p:nvPr>
            <p:ph type="dt" sz="half" idx="10"/>
          </p:nvPr>
        </p:nvSpPr>
        <p:spPr/>
        <p:txBody>
          <a:bodyPr/>
          <a:lstStyle/>
          <a:p>
            <a:fld id="{9ED04435-91C3-49C4-AC13-662B55A360AD}"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8F7CE308-ED5B-C75F-690F-9EBB69718E4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7253C4-854A-8AD3-CEE8-6D068D8C7A94}"/>
              </a:ext>
            </a:extLst>
          </p:cNvPr>
          <p:cNvSpPr>
            <a:spLocks noGrp="1"/>
          </p:cNvSpPr>
          <p:nvPr>
            <p:ph type="sldNum" sz="quarter" idx="12"/>
          </p:nvPr>
        </p:nvSpPr>
        <p:spPr/>
        <p:txBody>
          <a:body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1827068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C970EE0-84D6-717D-DC4E-5D491D0C37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9033608-AF74-6DC5-B11F-D82FFB47A8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47AE49-1724-76E4-09DC-A12E6E2530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04435-91C3-49C4-AC13-662B55A360AD}"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E6B30DC5-CC16-6DAA-A33C-69018DF72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A8A0B97-1F96-41F2-F560-2020213752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450C6C-95A6-4B76-BCE5-139E53B53DD9}" type="slidenum">
              <a:rPr lang="zh-CN" altLang="en-US" smtClean="0"/>
              <a:t>‹#›</a:t>
            </a:fld>
            <a:endParaRPr lang="zh-CN" altLang="en-US"/>
          </a:p>
        </p:txBody>
      </p:sp>
    </p:spTree>
    <p:extLst>
      <p:ext uri="{BB962C8B-B14F-4D97-AF65-F5344CB8AC3E}">
        <p14:creationId xmlns:p14="http://schemas.microsoft.com/office/powerpoint/2010/main" val="486840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2.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13" Type="http://schemas.openxmlformats.org/officeDocument/2006/relationships/image" Target="../media/image14.png"/><Relationship Id="rId3" Type="http://schemas.openxmlformats.org/officeDocument/2006/relationships/image" Target="../media/image1.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5" Type="http://schemas.openxmlformats.org/officeDocument/2006/relationships/image" Target="../media/image9.png"/><Relationship Id="rId10" Type="http://schemas.openxmlformats.org/officeDocument/2006/relationships/image" Target="../media/image8.png"/><Relationship Id="rId4" Type="http://schemas.openxmlformats.org/officeDocument/2006/relationships/image" Target="../media/image2.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38839462-9EF9-E023-FFC3-EF649DAAA125}"/>
              </a:ext>
            </a:extLst>
          </p:cNvPr>
          <p:cNvSpPr/>
          <p:nvPr/>
        </p:nvSpPr>
        <p:spPr>
          <a:xfrm>
            <a:off x="2210937" y="118735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数据准备</a:t>
            </a:r>
          </a:p>
        </p:txBody>
      </p:sp>
      <p:sp>
        <p:nvSpPr>
          <p:cNvPr id="5" name="矩形: 圆角 4">
            <a:extLst>
              <a:ext uri="{FF2B5EF4-FFF2-40B4-BE49-F238E27FC236}">
                <a16:creationId xmlns:a16="http://schemas.microsoft.com/office/drawing/2014/main" id="{8366697B-8CF5-A028-8543-BAE4AEAF3119}"/>
              </a:ext>
            </a:extLst>
          </p:cNvPr>
          <p:cNvSpPr/>
          <p:nvPr/>
        </p:nvSpPr>
        <p:spPr>
          <a:xfrm>
            <a:off x="7863385" y="118735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模型构建</a:t>
            </a:r>
          </a:p>
        </p:txBody>
      </p:sp>
      <p:sp>
        <p:nvSpPr>
          <p:cNvPr id="6" name="矩形: 圆角 5">
            <a:extLst>
              <a:ext uri="{FF2B5EF4-FFF2-40B4-BE49-F238E27FC236}">
                <a16:creationId xmlns:a16="http://schemas.microsoft.com/office/drawing/2014/main" id="{0CCCCBE8-7F93-31B9-035A-18B029D2CEC0}"/>
              </a:ext>
            </a:extLst>
          </p:cNvPr>
          <p:cNvSpPr/>
          <p:nvPr/>
        </p:nvSpPr>
        <p:spPr>
          <a:xfrm>
            <a:off x="7863385" y="396012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训练优化</a:t>
            </a:r>
          </a:p>
        </p:txBody>
      </p:sp>
      <p:sp>
        <p:nvSpPr>
          <p:cNvPr id="7" name="矩形: 圆角 6">
            <a:extLst>
              <a:ext uri="{FF2B5EF4-FFF2-40B4-BE49-F238E27FC236}">
                <a16:creationId xmlns:a16="http://schemas.microsoft.com/office/drawing/2014/main" id="{AF724776-D5D7-B396-2C07-6482844BC933}"/>
              </a:ext>
            </a:extLst>
          </p:cNvPr>
          <p:cNvSpPr/>
          <p:nvPr/>
        </p:nvSpPr>
        <p:spPr>
          <a:xfrm>
            <a:off x="2210937" y="396012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反馈闭环</a:t>
            </a:r>
          </a:p>
        </p:txBody>
      </p:sp>
      <p:cxnSp>
        <p:nvCxnSpPr>
          <p:cNvPr id="9" name="直接箭头连接符 8">
            <a:extLst>
              <a:ext uri="{FF2B5EF4-FFF2-40B4-BE49-F238E27FC236}">
                <a16:creationId xmlns:a16="http://schemas.microsoft.com/office/drawing/2014/main" id="{84BBE59C-3FCF-71C4-74E6-AD2B97A43D2F}"/>
              </a:ext>
            </a:extLst>
          </p:cNvPr>
          <p:cNvCxnSpPr>
            <a:stCxn id="4" idx="3"/>
            <a:endCxn id="5" idx="1"/>
          </p:cNvCxnSpPr>
          <p:nvPr/>
        </p:nvCxnSpPr>
        <p:spPr>
          <a:xfrm>
            <a:off x="4694830" y="1890215"/>
            <a:ext cx="3168555"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678F7CFB-8130-0CD0-0C9C-DC916B9176DD}"/>
              </a:ext>
            </a:extLst>
          </p:cNvPr>
          <p:cNvCxnSpPr>
            <a:cxnSpLocks/>
            <a:stCxn id="5" idx="2"/>
            <a:endCxn id="6" idx="0"/>
          </p:cNvCxnSpPr>
          <p:nvPr/>
        </p:nvCxnSpPr>
        <p:spPr>
          <a:xfrm>
            <a:off x="9105332" y="2593075"/>
            <a:ext cx="0" cy="136705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B059B5E-F619-62F5-0631-47CD410F2CD5}"/>
              </a:ext>
            </a:extLst>
          </p:cNvPr>
          <p:cNvCxnSpPr>
            <a:cxnSpLocks/>
            <a:stCxn id="6" idx="1"/>
            <a:endCxn id="7" idx="3"/>
          </p:cNvCxnSpPr>
          <p:nvPr/>
        </p:nvCxnSpPr>
        <p:spPr>
          <a:xfrm flipH="1">
            <a:off x="4694830" y="4662985"/>
            <a:ext cx="3168555"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2A49DF41-90E9-5A49-528D-FD3D14D11376}"/>
              </a:ext>
            </a:extLst>
          </p:cNvPr>
          <p:cNvCxnSpPr>
            <a:cxnSpLocks/>
            <a:stCxn id="7" idx="0"/>
            <a:endCxn id="4" idx="2"/>
          </p:cNvCxnSpPr>
          <p:nvPr/>
        </p:nvCxnSpPr>
        <p:spPr>
          <a:xfrm flipV="1">
            <a:off x="3452884" y="2593075"/>
            <a:ext cx="0" cy="136705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50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88F089-BD7A-A414-0EF5-4393763B302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EC8912A-64BC-BCC3-DC41-2EFACFE8C226}"/>
              </a:ext>
            </a:extLst>
          </p:cNvPr>
          <p:cNvSpPr>
            <a:spLocks noGrp="1"/>
          </p:cNvSpPr>
          <p:nvPr>
            <p:ph idx="1"/>
          </p:nvPr>
        </p:nvSpPr>
        <p:spPr/>
        <p:txBody>
          <a:bodyPr>
            <a:normAutofit fontScale="70000" lnSpcReduction="20000"/>
          </a:bodyPr>
          <a:lstStyle/>
          <a:p>
            <a:r>
              <a:rPr lang="zh-CN" altLang="en-US" dirty="0"/>
              <a:t>我现在要写一个投标的本子，然后我现在把总体技术方案写完了，内容如下： 一、 总体研究方案 本研究的总体研究方案围绕显示面板缺陷检测需求，构建 “数据准备 </a:t>
            </a:r>
            <a:r>
              <a:rPr lang="en-US" altLang="zh-CN" dirty="0"/>
              <a:t>- </a:t>
            </a:r>
            <a:r>
              <a:rPr lang="zh-CN" altLang="en-US" dirty="0"/>
              <a:t>模型构建 </a:t>
            </a:r>
            <a:r>
              <a:rPr lang="en-US" altLang="zh-CN" dirty="0"/>
              <a:t>- </a:t>
            </a:r>
            <a:r>
              <a:rPr lang="zh-CN" altLang="en-US" dirty="0"/>
              <a:t>训练优化 </a:t>
            </a:r>
            <a:r>
              <a:rPr lang="en-US" altLang="zh-CN" dirty="0"/>
              <a:t>- </a:t>
            </a:r>
            <a:r>
              <a:rPr lang="zh-CN" altLang="en-US" dirty="0"/>
              <a:t>闭环迭代” 四阶段递进式研究路径。 在数据准备阶段，收集显示面板光学图像（含裂纹、微裂纹、彩虹纹及头发丝干扰）、工艺参数文本、设备日志等多模态数据，经清洗、标注与标准化处理，构建适配模型训练的初始数据集，为后续研究奠定数据基础。 模型构建阶段，通过 “模态增强 </a:t>
            </a:r>
            <a:r>
              <a:rPr lang="en-US" altLang="zh-CN" dirty="0"/>
              <a:t>- </a:t>
            </a:r>
            <a:r>
              <a:rPr lang="zh-CN" altLang="en-US" dirty="0"/>
              <a:t>检测 </a:t>
            </a:r>
            <a:r>
              <a:rPr lang="en-US" altLang="zh-CN" dirty="0"/>
              <a:t>- </a:t>
            </a:r>
            <a:r>
              <a:rPr lang="zh-CN" altLang="en-US" dirty="0"/>
              <a:t>交互” 三阶段架构，基于 </a:t>
            </a:r>
            <a:r>
              <a:rPr lang="en-US" altLang="zh-CN" dirty="0" err="1"/>
              <a:t>PandaGPT</a:t>
            </a:r>
            <a:r>
              <a:rPr lang="en-US" altLang="zh-CN" dirty="0"/>
              <a:t> </a:t>
            </a:r>
            <a:r>
              <a:rPr lang="zh-CN" altLang="en-US" dirty="0"/>
              <a:t>基础模型，开发整合多源特征编码、跨模态关联嵌入、像素级掩码生成及动态模态权重调整功能的多模态大模型，确保模型能有效融合频域 </a:t>
            </a:r>
            <a:r>
              <a:rPr lang="en-US" altLang="zh-CN" dirty="0"/>
              <a:t>- </a:t>
            </a:r>
            <a:r>
              <a:rPr lang="zh-CN" altLang="en-US" dirty="0"/>
              <a:t>空域特征，应对难样本区分需求。 训练优化阶段，先通过自监督任务让模型学习多模态关联规律，再结合交互语料交替训练缺陷相关与通用知识，同时采用加权组合损失函数与消融实验动态优化参数，强化模型对未知、浅淡缺陷的感知能力与难样本区分精度。 反馈闭环阶段，匹配研究内容中 “多模态数据集反馈与优化” 的目标，构建 “模型检测 </a:t>
            </a:r>
            <a:r>
              <a:rPr lang="en-US" altLang="zh-CN" dirty="0"/>
              <a:t>- </a:t>
            </a:r>
            <a:r>
              <a:rPr lang="zh-CN" altLang="en-US" dirty="0"/>
              <a:t>数据反馈 </a:t>
            </a:r>
            <a:r>
              <a:rPr lang="en-US" altLang="zh-CN" dirty="0"/>
              <a:t>- </a:t>
            </a:r>
            <a:r>
              <a:rPr lang="zh-CN" altLang="en-US" dirty="0"/>
              <a:t>数据优化 </a:t>
            </a:r>
            <a:r>
              <a:rPr lang="en-US" altLang="zh-CN" dirty="0"/>
              <a:t>- </a:t>
            </a:r>
            <a:r>
              <a:rPr lang="zh-CN" altLang="en-US" dirty="0"/>
              <a:t>模型再训练” 的自动化反馈机制：模型先输出检测结果，自动标记低置信度样本与模态冲突样本，触发人工复核修正；再通过伪缺陷生成技术补充彩虹纹、微裂纹等稀缺样本，利用跨模态生成能力补全模态缺失数据；最后用优化后的数据集重新微调模型，形成 “数据 </a:t>
            </a:r>
            <a:r>
              <a:rPr lang="en-US" altLang="zh-CN" dirty="0"/>
              <a:t>- </a:t>
            </a:r>
            <a:r>
              <a:rPr lang="zh-CN" altLang="en-US" dirty="0"/>
              <a:t>模型” 双向优化的反馈闭环，持续提升模型性能与数据集质量。 然后我希望你能基于这个总体技术方案，帮我继续写下一部分，也就是技术路线与关键技术，你需要把这个总体方案里所涉及到的技术，转换成可执行的实际技术方案。你可以参考我发给你的这篇论文，如果有相关技术，可以参考原文，然后这个部分的内容需要用文字结合公式的方式来呈现</a:t>
            </a:r>
          </a:p>
        </p:txBody>
      </p:sp>
    </p:spTree>
    <p:extLst>
      <p:ext uri="{BB962C8B-B14F-4D97-AF65-F5344CB8AC3E}">
        <p14:creationId xmlns:p14="http://schemas.microsoft.com/office/powerpoint/2010/main" val="1836157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F61A2801-265A-42D3-6BB9-B37F9C0673C7}"/>
              </a:ext>
            </a:extLst>
          </p:cNvPr>
          <p:cNvSpPr/>
          <p:nvPr/>
        </p:nvSpPr>
        <p:spPr>
          <a:xfrm>
            <a:off x="1098417" y="272170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图像预处理</a:t>
            </a:r>
          </a:p>
        </p:txBody>
      </p:sp>
      <p:sp>
        <p:nvSpPr>
          <p:cNvPr id="5" name="矩形: 圆角 4">
            <a:extLst>
              <a:ext uri="{FF2B5EF4-FFF2-40B4-BE49-F238E27FC236}">
                <a16:creationId xmlns:a16="http://schemas.microsoft.com/office/drawing/2014/main" id="{2122BF81-C398-3B5B-B5D2-BAB2715A8E25}"/>
              </a:ext>
            </a:extLst>
          </p:cNvPr>
          <p:cNvSpPr/>
          <p:nvPr/>
        </p:nvSpPr>
        <p:spPr>
          <a:xfrm>
            <a:off x="4701085" y="300366"/>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MES</a:t>
            </a:r>
            <a:r>
              <a:rPr lang="zh-CN" altLang="en-US" sz="2800" dirty="0">
                <a:latin typeface="黑体" panose="02010609060101010101" pitchFamily="49" charset="-122"/>
                <a:ea typeface="黑体" panose="02010609060101010101" pitchFamily="49" charset="-122"/>
              </a:rPr>
              <a:t>参数接口</a:t>
            </a:r>
          </a:p>
        </p:txBody>
      </p:sp>
      <p:sp>
        <p:nvSpPr>
          <p:cNvPr id="6" name="矩形: 圆角 5">
            <a:extLst>
              <a:ext uri="{FF2B5EF4-FFF2-40B4-BE49-F238E27FC236}">
                <a16:creationId xmlns:a16="http://schemas.microsoft.com/office/drawing/2014/main" id="{476FA7CD-DBBE-A2B2-DF3D-8328B080B34A}"/>
              </a:ext>
            </a:extLst>
          </p:cNvPr>
          <p:cNvSpPr/>
          <p:nvPr/>
        </p:nvSpPr>
        <p:spPr>
          <a:xfrm>
            <a:off x="4701085" y="272170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时空对齐引擎</a:t>
            </a:r>
          </a:p>
        </p:txBody>
      </p:sp>
      <p:sp>
        <p:nvSpPr>
          <p:cNvPr id="7" name="矩形: 圆角 6">
            <a:extLst>
              <a:ext uri="{FF2B5EF4-FFF2-40B4-BE49-F238E27FC236}">
                <a16:creationId xmlns:a16="http://schemas.microsoft.com/office/drawing/2014/main" id="{7A19ADED-8C28-303D-D76B-2EF5F022F8BE}"/>
              </a:ext>
            </a:extLst>
          </p:cNvPr>
          <p:cNvSpPr/>
          <p:nvPr/>
        </p:nvSpPr>
        <p:spPr>
          <a:xfrm>
            <a:off x="1098417" y="300366"/>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光学成像系统</a:t>
            </a:r>
          </a:p>
        </p:txBody>
      </p:sp>
      <p:cxnSp>
        <p:nvCxnSpPr>
          <p:cNvPr id="9" name="直接箭头连接符 8">
            <a:extLst>
              <a:ext uri="{FF2B5EF4-FFF2-40B4-BE49-F238E27FC236}">
                <a16:creationId xmlns:a16="http://schemas.microsoft.com/office/drawing/2014/main" id="{407F8C56-83CD-5DB5-C900-A8B165CE2783}"/>
              </a:ext>
            </a:extLst>
          </p:cNvPr>
          <p:cNvCxnSpPr>
            <a:cxnSpLocks/>
            <a:stCxn id="5" idx="2"/>
            <a:endCxn id="6" idx="0"/>
          </p:cNvCxnSpPr>
          <p:nvPr/>
        </p:nvCxnSpPr>
        <p:spPr>
          <a:xfrm>
            <a:off x="5943032" y="1706086"/>
            <a:ext cx="0" cy="101561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DF17377D-D8AA-DA6F-900B-E426208DFEF9}"/>
              </a:ext>
            </a:extLst>
          </p:cNvPr>
          <p:cNvCxnSpPr>
            <a:cxnSpLocks/>
            <a:stCxn id="7" idx="2"/>
            <a:endCxn id="4" idx="0"/>
          </p:cNvCxnSpPr>
          <p:nvPr/>
        </p:nvCxnSpPr>
        <p:spPr>
          <a:xfrm>
            <a:off x="2340364" y="1706086"/>
            <a:ext cx="0" cy="101561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3" name="矩形: 圆角 22">
            <a:extLst>
              <a:ext uri="{FF2B5EF4-FFF2-40B4-BE49-F238E27FC236}">
                <a16:creationId xmlns:a16="http://schemas.microsoft.com/office/drawing/2014/main" id="{62E9E291-176B-7466-1F13-B7A29D322F44}"/>
              </a:ext>
            </a:extLst>
          </p:cNvPr>
          <p:cNvSpPr/>
          <p:nvPr/>
        </p:nvSpPr>
        <p:spPr>
          <a:xfrm>
            <a:off x="8426926" y="300366"/>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环境传感器</a:t>
            </a:r>
          </a:p>
        </p:txBody>
      </p:sp>
      <p:sp>
        <p:nvSpPr>
          <p:cNvPr id="24" name="矩形: 圆角 23">
            <a:extLst>
              <a:ext uri="{FF2B5EF4-FFF2-40B4-BE49-F238E27FC236}">
                <a16:creationId xmlns:a16="http://schemas.microsoft.com/office/drawing/2014/main" id="{5D2C9354-5F2B-5A43-13BB-0BECDB612611}"/>
              </a:ext>
            </a:extLst>
          </p:cNvPr>
          <p:cNvSpPr/>
          <p:nvPr/>
        </p:nvSpPr>
        <p:spPr>
          <a:xfrm>
            <a:off x="8426925" y="272170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数据融合中心</a:t>
            </a:r>
            <a:endParaRPr lang="en-US" altLang="zh-CN" sz="2800" dirty="0">
              <a:latin typeface="黑体" panose="02010609060101010101" pitchFamily="49" charset="-122"/>
              <a:ea typeface="黑体" panose="02010609060101010101" pitchFamily="49" charset="-122"/>
            </a:endParaRPr>
          </a:p>
        </p:txBody>
      </p:sp>
      <p:cxnSp>
        <p:nvCxnSpPr>
          <p:cNvPr id="25" name="直接箭头连接符 24">
            <a:extLst>
              <a:ext uri="{FF2B5EF4-FFF2-40B4-BE49-F238E27FC236}">
                <a16:creationId xmlns:a16="http://schemas.microsoft.com/office/drawing/2014/main" id="{7EDDB7E5-44B0-CE2A-9430-C12E0BC7430B}"/>
              </a:ext>
            </a:extLst>
          </p:cNvPr>
          <p:cNvCxnSpPr>
            <a:cxnSpLocks/>
            <a:stCxn id="23" idx="2"/>
            <a:endCxn id="24" idx="0"/>
          </p:cNvCxnSpPr>
          <p:nvPr/>
        </p:nvCxnSpPr>
        <p:spPr>
          <a:xfrm flipH="1">
            <a:off x="9668872" y="1706086"/>
            <a:ext cx="1" cy="101561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0" name="矩形: 圆角 29">
            <a:extLst>
              <a:ext uri="{FF2B5EF4-FFF2-40B4-BE49-F238E27FC236}">
                <a16:creationId xmlns:a16="http://schemas.microsoft.com/office/drawing/2014/main" id="{5C74C899-C4BB-DA13-DE37-012A26E46969}"/>
              </a:ext>
            </a:extLst>
          </p:cNvPr>
          <p:cNvSpPr/>
          <p:nvPr/>
        </p:nvSpPr>
        <p:spPr>
          <a:xfrm>
            <a:off x="4701084" y="505342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统一数据仓库</a:t>
            </a:r>
          </a:p>
        </p:txBody>
      </p:sp>
      <p:cxnSp>
        <p:nvCxnSpPr>
          <p:cNvPr id="31" name="直接箭头连接符 30">
            <a:extLst>
              <a:ext uri="{FF2B5EF4-FFF2-40B4-BE49-F238E27FC236}">
                <a16:creationId xmlns:a16="http://schemas.microsoft.com/office/drawing/2014/main" id="{04D5F6B9-D343-CD4C-61A0-D5559259975D}"/>
              </a:ext>
            </a:extLst>
          </p:cNvPr>
          <p:cNvCxnSpPr>
            <a:cxnSpLocks/>
            <a:stCxn id="6" idx="2"/>
            <a:endCxn id="30" idx="0"/>
          </p:cNvCxnSpPr>
          <p:nvPr/>
        </p:nvCxnSpPr>
        <p:spPr>
          <a:xfrm flipH="1">
            <a:off x="5943031" y="4127425"/>
            <a:ext cx="1" cy="9260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B725C13A-6EA8-DCDD-F2BF-32E9A7FC92EB}"/>
              </a:ext>
            </a:extLst>
          </p:cNvPr>
          <p:cNvCxnSpPr>
            <a:stCxn id="4" idx="2"/>
            <a:endCxn id="30" idx="1"/>
          </p:cNvCxnSpPr>
          <p:nvPr/>
        </p:nvCxnSpPr>
        <p:spPr>
          <a:xfrm rot="16200000" flipH="1">
            <a:off x="2706294" y="3761495"/>
            <a:ext cx="1628860" cy="2360720"/>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7" name="连接符: 肘形 36">
            <a:extLst>
              <a:ext uri="{FF2B5EF4-FFF2-40B4-BE49-F238E27FC236}">
                <a16:creationId xmlns:a16="http://schemas.microsoft.com/office/drawing/2014/main" id="{66585BC5-90F3-2BFC-52C5-CADA962142BA}"/>
              </a:ext>
            </a:extLst>
          </p:cNvPr>
          <p:cNvCxnSpPr>
            <a:cxnSpLocks/>
            <a:stCxn id="24" idx="2"/>
            <a:endCxn id="30" idx="3"/>
          </p:cNvCxnSpPr>
          <p:nvPr/>
        </p:nvCxnSpPr>
        <p:spPr>
          <a:xfrm rot="5400000">
            <a:off x="7612495" y="3699908"/>
            <a:ext cx="1628860" cy="2483895"/>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0965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C2305-B70B-2973-BB9C-3273FACF2B4A}"/>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66D7DDBE-F1D5-B6C2-17A9-5868390800A8}"/>
              </a:ext>
            </a:extLst>
          </p:cNvPr>
          <p:cNvSpPr/>
          <p:nvPr/>
        </p:nvSpPr>
        <p:spPr>
          <a:xfrm>
            <a:off x="1098417" y="272170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工艺参数</a:t>
            </a:r>
          </a:p>
        </p:txBody>
      </p:sp>
      <p:sp>
        <p:nvSpPr>
          <p:cNvPr id="5" name="矩形: 圆角 4">
            <a:extLst>
              <a:ext uri="{FF2B5EF4-FFF2-40B4-BE49-F238E27FC236}">
                <a16:creationId xmlns:a16="http://schemas.microsoft.com/office/drawing/2014/main" id="{BAF8D8DE-197D-D4BC-A0D7-EE3B0754F027}"/>
              </a:ext>
            </a:extLst>
          </p:cNvPr>
          <p:cNvSpPr/>
          <p:nvPr/>
        </p:nvSpPr>
        <p:spPr>
          <a:xfrm>
            <a:off x="4701084" y="1511035"/>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跨模态注意力</a:t>
            </a:r>
          </a:p>
        </p:txBody>
      </p:sp>
      <p:sp>
        <p:nvSpPr>
          <p:cNvPr id="6" name="矩形: 圆角 5">
            <a:extLst>
              <a:ext uri="{FF2B5EF4-FFF2-40B4-BE49-F238E27FC236}">
                <a16:creationId xmlns:a16="http://schemas.microsoft.com/office/drawing/2014/main" id="{04CDDDA7-F210-1CA2-E900-151BD393678D}"/>
              </a:ext>
            </a:extLst>
          </p:cNvPr>
          <p:cNvSpPr/>
          <p:nvPr/>
        </p:nvSpPr>
        <p:spPr>
          <a:xfrm>
            <a:off x="4701083" y="5007593"/>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动态加权</a:t>
            </a:r>
          </a:p>
        </p:txBody>
      </p:sp>
      <p:sp>
        <p:nvSpPr>
          <p:cNvPr id="7" name="矩形: 圆角 6">
            <a:extLst>
              <a:ext uri="{FF2B5EF4-FFF2-40B4-BE49-F238E27FC236}">
                <a16:creationId xmlns:a16="http://schemas.microsoft.com/office/drawing/2014/main" id="{3A06CA81-56AD-6186-DFB7-41D26421DB46}"/>
              </a:ext>
            </a:extLst>
          </p:cNvPr>
          <p:cNvSpPr/>
          <p:nvPr/>
        </p:nvSpPr>
        <p:spPr>
          <a:xfrm>
            <a:off x="1098417" y="300366"/>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光学特征</a:t>
            </a:r>
          </a:p>
        </p:txBody>
      </p:sp>
      <p:sp>
        <p:nvSpPr>
          <p:cNvPr id="24" name="矩形: 圆角 23">
            <a:extLst>
              <a:ext uri="{FF2B5EF4-FFF2-40B4-BE49-F238E27FC236}">
                <a16:creationId xmlns:a16="http://schemas.microsoft.com/office/drawing/2014/main" id="{CC78AC47-0A9D-AD1D-0C5D-7F573C55F394}"/>
              </a:ext>
            </a:extLst>
          </p:cNvPr>
          <p:cNvSpPr/>
          <p:nvPr/>
        </p:nvSpPr>
        <p:spPr>
          <a:xfrm>
            <a:off x="8971242" y="3170660"/>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融合特征</a:t>
            </a:r>
            <a:endParaRPr lang="en-US" altLang="zh-CN" sz="2800" dirty="0">
              <a:latin typeface="黑体" panose="02010609060101010101" pitchFamily="49" charset="-122"/>
              <a:ea typeface="黑体" panose="02010609060101010101" pitchFamily="49" charset="-122"/>
            </a:endParaRPr>
          </a:p>
        </p:txBody>
      </p:sp>
      <p:sp>
        <p:nvSpPr>
          <p:cNvPr id="30" name="矩形: 圆角 29">
            <a:extLst>
              <a:ext uri="{FF2B5EF4-FFF2-40B4-BE49-F238E27FC236}">
                <a16:creationId xmlns:a16="http://schemas.microsoft.com/office/drawing/2014/main" id="{2A4CE981-F9F7-727C-0172-F5D40BBBF3C3}"/>
              </a:ext>
            </a:extLst>
          </p:cNvPr>
          <p:cNvSpPr/>
          <p:nvPr/>
        </p:nvSpPr>
        <p:spPr>
          <a:xfrm>
            <a:off x="1098417" y="5007593"/>
            <a:ext cx="2483893" cy="140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黑体" panose="02010609060101010101" pitchFamily="49" charset="-122"/>
                <a:ea typeface="黑体" panose="02010609060101010101" pitchFamily="49" charset="-122"/>
              </a:rPr>
              <a:t>环境因子</a:t>
            </a:r>
          </a:p>
        </p:txBody>
      </p:sp>
      <p:cxnSp>
        <p:nvCxnSpPr>
          <p:cNvPr id="31" name="直接箭头连接符 30">
            <a:extLst>
              <a:ext uri="{FF2B5EF4-FFF2-40B4-BE49-F238E27FC236}">
                <a16:creationId xmlns:a16="http://schemas.microsoft.com/office/drawing/2014/main" id="{C823271D-F2EA-9499-9324-31EFD4E2901E}"/>
              </a:ext>
            </a:extLst>
          </p:cNvPr>
          <p:cNvCxnSpPr>
            <a:cxnSpLocks/>
            <a:stCxn id="30" idx="3"/>
            <a:endCxn id="6" idx="1"/>
          </p:cNvCxnSpPr>
          <p:nvPr/>
        </p:nvCxnSpPr>
        <p:spPr>
          <a:xfrm>
            <a:off x="3582310" y="5710453"/>
            <a:ext cx="1118773"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89CA7957-B86D-94E7-6EF2-455B38694F94}"/>
              </a:ext>
            </a:extLst>
          </p:cNvPr>
          <p:cNvCxnSpPr>
            <a:cxnSpLocks/>
            <a:stCxn id="7" idx="3"/>
            <a:endCxn id="5" idx="0"/>
          </p:cNvCxnSpPr>
          <p:nvPr/>
        </p:nvCxnSpPr>
        <p:spPr>
          <a:xfrm>
            <a:off x="3582310" y="1003226"/>
            <a:ext cx="2360721" cy="507809"/>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7" name="连接符: 肘形 36">
            <a:extLst>
              <a:ext uri="{FF2B5EF4-FFF2-40B4-BE49-F238E27FC236}">
                <a16:creationId xmlns:a16="http://schemas.microsoft.com/office/drawing/2014/main" id="{1AB3FB55-D499-459A-1FD5-1C6AAA545CE5}"/>
              </a:ext>
            </a:extLst>
          </p:cNvPr>
          <p:cNvCxnSpPr>
            <a:cxnSpLocks/>
            <a:stCxn id="4" idx="3"/>
            <a:endCxn id="5" idx="2"/>
          </p:cNvCxnSpPr>
          <p:nvPr/>
        </p:nvCxnSpPr>
        <p:spPr>
          <a:xfrm flipV="1">
            <a:off x="3582310" y="2916755"/>
            <a:ext cx="2360721" cy="507810"/>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2F12C730-06C8-C1C4-562E-FE0D54F6434E}"/>
              </a:ext>
            </a:extLst>
          </p:cNvPr>
          <p:cNvCxnSpPr>
            <a:cxnSpLocks/>
            <a:stCxn id="5" idx="3"/>
            <a:endCxn id="24" idx="0"/>
          </p:cNvCxnSpPr>
          <p:nvPr/>
        </p:nvCxnSpPr>
        <p:spPr>
          <a:xfrm>
            <a:off x="7184977" y="2213895"/>
            <a:ext cx="3028212" cy="956765"/>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7C888D9D-0E53-6ADB-2BE4-9E4C36C41D04}"/>
              </a:ext>
            </a:extLst>
          </p:cNvPr>
          <p:cNvCxnSpPr>
            <a:cxnSpLocks/>
            <a:stCxn id="6" idx="3"/>
            <a:endCxn id="24" idx="2"/>
          </p:cNvCxnSpPr>
          <p:nvPr/>
        </p:nvCxnSpPr>
        <p:spPr>
          <a:xfrm flipV="1">
            <a:off x="7184976" y="4576380"/>
            <a:ext cx="3028213" cy="1134073"/>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867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D4FBF87-83E0-88C0-41EF-B42AEB337A09}"/>
              </a:ext>
            </a:extLst>
          </p:cNvPr>
          <p:cNvSpPr/>
          <p:nvPr/>
        </p:nvSpPr>
        <p:spPr>
          <a:xfrm>
            <a:off x="2662519" y="976592"/>
            <a:ext cx="8785410" cy="1800772"/>
          </a:xfrm>
          <a:prstGeom prst="roundRect">
            <a:avLst>
              <a:gd name="adj" fmla="val 2015"/>
            </a:avLst>
          </a:prstGeom>
          <a:solidFill>
            <a:schemeClr val="accent2">
              <a:lumMod val="60000"/>
              <a:lumOff val="40000"/>
            </a:schemeClr>
          </a:solidFill>
          <a:ln w="28575">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CFD6FA8F-33B5-AC9F-CBE7-9A367D9426C2}"/>
              </a:ext>
            </a:extLst>
          </p:cNvPr>
          <p:cNvSpPr/>
          <p:nvPr/>
        </p:nvSpPr>
        <p:spPr>
          <a:xfrm>
            <a:off x="2802727" y="1417685"/>
            <a:ext cx="2707189" cy="47930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实现对未知与浅淡缺陷的</a:t>
            </a:r>
            <a:endParaRPr lang="en-US" altLang="zh-CN" sz="1400" b="1" dirty="0">
              <a:solidFill>
                <a:schemeClr val="tx1"/>
              </a:solidFill>
            </a:endParaRPr>
          </a:p>
          <a:p>
            <a:pPr algn="ctr"/>
            <a:r>
              <a:rPr lang="zh-CN" altLang="en-US" sz="1400" b="1" dirty="0">
                <a:solidFill>
                  <a:schemeClr val="tx1"/>
                </a:solidFill>
              </a:rPr>
              <a:t>高敏感度感知</a:t>
            </a:r>
          </a:p>
        </p:txBody>
      </p:sp>
      <p:sp>
        <p:nvSpPr>
          <p:cNvPr id="8" name="矩形: 圆角 7">
            <a:extLst>
              <a:ext uri="{FF2B5EF4-FFF2-40B4-BE49-F238E27FC236}">
                <a16:creationId xmlns:a16="http://schemas.microsoft.com/office/drawing/2014/main" id="{A0F72307-C47D-6C3B-6B10-B84AE8588C24}"/>
              </a:ext>
            </a:extLst>
          </p:cNvPr>
          <p:cNvSpPr/>
          <p:nvPr/>
        </p:nvSpPr>
        <p:spPr>
          <a:xfrm rot="10800000" flipV="1">
            <a:off x="2662518" y="110937"/>
            <a:ext cx="8785410" cy="568143"/>
          </a:xfrm>
          <a:prstGeom prst="roundRect">
            <a:avLst>
              <a:gd name="adj" fmla="val 12755"/>
            </a:avLst>
          </a:prstGeom>
          <a:solidFill>
            <a:schemeClr val="accent1">
              <a:lumMod val="60000"/>
              <a:lumOff val="4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t>面向显示面板、晶圆低缺陷率数据集的</a:t>
            </a:r>
          </a:p>
          <a:p>
            <a:pPr algn="ctr"/>
            <a:r>
              <a:rPr lang="zh-CN" altLang="en-US" sz="1600" b="1" dirty="0"/>
              <a:t>多模态大模型自监督缺陷检测算法研究与生成参数反馈</a:t>
            </a:r>
          </a:p>
        </p:txBody>
      </p:sp>
      <p:sp>
        <p:nvSpPr>
          <p:cNvPr id="10" name="箭头: 下 9">
            <a:extLst>
              <a:ext uri="{FF2B5EF4-FFF2-40B4-BE49-F238E27FC236}">
                <a16:creationId xmlns:a16="http://schemas.microsoft.com/office/drawing/2014/main" id="{91EE8EA9-CF0B-9169-3778-47940475BA70}"/>
              </a:ext>
            </a:extLst>
          </p:cNvPr>
          <p:cNvSpPr/>
          <p:nvPr/>
        </p:nvSpPr>
        <p:spPr>
          <a:xfrm>
            <a:off x="6812906" y="673401"/>
            <a:ext cx="484632" cy="29750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5D934205-0ACC-2C5A-D61B-16EABFF537ED}"/>
              </a:ext>
            </a:extLst>
          </p:cNvPr>
          <p:cNvSpPr/>
          <p:nvPr/>
        </p:nvSpPr>
        <p:spPr>
          <a:xfrm>
            <a:off x="5719996" y="1417522"/>
            <a:ext cx="2866812" cy="47942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提升模型在复杂缺陷识别中的</a:t>
            </a:r>
            <a:endParaRPr lang="en-US" altLang="zh-CN" sz="1400" b="1" dirty="0">
              <a:solidFill>
                <a:schemeClr val="tx1"/>
              </a:solidFill>
            </a:endParaRPr>
          </a:p>
          <a:p>
            <a:pPr algn="ctr"/>
            <a:r>
              <a:rPr lang="zh-CN" altLang="en-US" sz="1400" b="1" dirty="0">
                <a:solidFill>
                  <a:schemeClr val="tx1"/>
                </a:solidFill>
              </a:rPr>
              <a:t>精细判别能力</a:t>
            </a:r>
          </a:p>
        </p:txBody>
      </p:sp>
      <p:sp>
        <p:nvSpPr>
          <p:cNvPr id="14" name="矩形 13">
            <a:extLst>
              <a:ext uri="{FF2B5EF4-FFF2-40B4-BE49-F238E27FC236}">
                <a16:creationId xmlns:a16="http://schemas.microsoft.com/office/drawing/2014/main" id="{C81EEB51-B6C5-057B-0079-A256C1CB8A3C}"/>
              </a:ext>
            </a:extLst>
          </p:cNvPr>
          <p:cNvSpPr/>
          <p:nvPr/>
        </p:nvSpPr>
        <p:spPr>
          <a:xfrm>
            <a:off x="8796889" y="1400870"/>
            <a:ext cx="2520770" cy="496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数据真实性判别与</a:t>
            </a:r>
            <a:endParaRPr lang="en-US" altLang="zh-CN" sz="1400" b="1" dirty="0">
              <a:solidFill>
                <a:schemeClr val="tx1"/>
              </a:solidFill>
            </a:endParaRPr>
          </a:p>
          <a:p>
            <a:pPr algn="ctr"/>
            <a:r>
              <a:rPr lang="zh-CN" altLang="en-US" sz="1400" b="1" dirty="0">
                <a:solidFill>
                  <a:schemeClr val="tx1"/>
                </a:solidFill>
              </a:rPr>
              <a:t>生成参数优化</a:t>
            </a:r>
          </a:p>
        </p:txBody>
      </p:sp>
      <p:sp>
        <p:nvSpPr>
          <p:cNvPr id="27" name="矩形: 圆角 26">
            <a:extLst>
              <a:ext uri="{FF2B5EF4-FFF2-40B4-BE49-F238E27FC236}">
                <a16:creationId xmlns:a16="http://schemas.microsoft.com/office/drawing/2014/main" id="{3F685B16-6285-7F80-2F63-713296F2776C}"/>
              </a:ext>
            </a:extLst>
          </p:cNvPr>
          <p:cNvSpPr/>
          <p:nvPr/>
        </p:nvSpPr>
        <p:spPr>
          <a:xfrm>
            <a:off x="2802728" y="1954534"/>
            <a:ext cx="2707190" cy="681059"/>
          </a:xfrm>
          <a:prstGeom prst="roundRect">
            <a:avLst>
              <a:gd name="adj" fmla="val 2015"/>
            </a:avLst>
          </a:prstGeom>
          <a:solidFill>
            <a:schemeClr val="bg1">
              <a:lumMod val="85000"/>
            </a:schemeClr>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低缺陷率场景下</a:t>
            </a:r>
            <a:endParaRPr lang="en-US" altLang="zh-CN" sz="1400" dirty="0">
              <a:solidFill>
                <a:schemeClr val="tx1"/>
              </a:solidFill>
            </a:endParaRPr>
          </a:p>
          <a:p>
            <a:pPr algn="ctr"/>
            <a:r>
              <a:rPr lang="zh-CN" altLang="en-US" sz="1400" dirty="0">
                <a:solidFill>
                  <a:schemeClr val="tx1"/>
                </a:solidFill>
              </a:rPr>
              <a:t>异常敏感性不足</a:t>
            </a:r>
          </a:p>
        </p:txBody>
      </p:sp>
      <p:sp>
        <p:nvSpPr>
          <p:cNvPr id="29" name="矩形: 圆角 28">
            <a:extLst>
              <a:ext uri="{FF2B5EF4-FFF2-40B4-BE49-F238E27FC236}">
                <a16:creationId xmlns:a16="http://schemas.microsoft.com/office/drawing/2014/main" id="{F285860F-1FAB-242F-150A-0A9432A09F6D}"/>
              </a:ext>
            </a:extLst>
          </p:cNvPr>
          <p:cNvSpPr/>
          <p:nvPr/>
        </p:nvSpPr>
        <p:spPr>
          <a:xfrm rot="10800000" flipV="1">
            <a:off x="2662518" y="3074875"/>
            <a:ext cx="8785410" cy="568143"/>
          </a:xfrm>
          <a:prstGeom prst="roundRect">
            <a:avLst>
              <a:gd name="adj" fmla="val 12755"/>
            </a:avLst>
          </a:prstGeom>
          <a:solidFill>
            <a:schemeClr val="accent1">
              <a:lumMod val="60000"/>
              <a:lumOff val="4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t>多模态大模型的自监督缺陷检测与反馈框架</a:t>
            </a:r>
            <a:endParaRPr lang="zh-CN" altLang="zh-CN" sz="1600" b="1" dirty="0"/>
          </a:p>
        </p:txBody>
      </p:sp>
      <p:sp>
        <p:nvSpPr>
          <p:cNvPr id="33" name="箭头: 下 32">
            <a:extLst>
              <a:ext uri="{FF2B5EF4-FFF2-40B4-BE49-F238E27FC236}">
                <a16:creationId xmlns:a16="http://schemas.microsoft.com/office/drawing/2014/main" id="{85BC61E5-B1FD-DC8C-80AF-178891E9C74B}"/>
              </a:ext>
            </a:extLst>
          </p:cNvPr>
          <p:cNvSpPr/>
          <p:nvPr/>
        </p:nvSpPr>
        <p:spPr>
          <a:xfrm>
            <a:off x="6812906" y="2787862"/>
            <a:ext cx="484632" cy="297509"/>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7009E1A5-A9DD-C5DE-8C58-3C493767FE4C}"/>
              </a:ext>
            </a:extLst>
          </p:cNvPr>
          <p:cNvSpPr txBox="1"/>
          <p:nvPr/>
        </p:nvSpPr>
        <p:spPr>
          <a:xfrm>
            <a:off x="6484805" y="1042587"/>
            <a:ext cx="1140834" cy="307777"/>
          </a:xfrm>
          <a:prstGeom prst="rect">
            <a:avLst/>
          </a:prstGeom>
          <a:noFill/>
        </p:spPr>
        <p:txBody>
          <a:bodyPr wrap="square" rtlCol="0">
            <a:spAutoFit/>
          </a:bodyPr>
          <a:lstStyle/>
          <a:p>
            <a:r>
              <a:rPr lang="zh-CN" altLang="en-US" sz="1400" b="1" dirty="0">
                <a:solidFill>
                  <a:schemeClr val="bg1"/>
                </a:solidFill>
              </a:rPr>
              <a:t>目标和挑战</a:t>
            </a:r>
          </a:p>
        </p:txBody>
      </p:sp>
      <p:sp>
        <p:nvSpPr>
          <p:cNvPr id="36" name="矩形: 圆角 35">
            <a:extLst>
              <a:ext uri="{FF2B5EF4-FFF2-40B4-BE49-F238E27FC236}">
                <a16:creationId xmlns:a16="http://schemas.microsoft.com/office/drawing/2014/main" id="{BE918F78-B43D-300F-653B-C51959569EC1}"/>
              </a:ext>
            </a:extLst>
          </p:cNvPr>
          <p:cNvSpPr/>
          <p:nvPr/>
        </p:nvSpPr>
        <p:spPr>
          <a:xfrm>
            <a:off x="5719996" y="1968621"/>
            <a:ext cx="2866812" cy="666972"/>
          </a:xfrm>
          <a:prstGeom prst="roundRect">
            <a:avLst>
              <a:gd name="adj" fmla="val 2015"/>
            </a:avLst>
          </a:prstGeom>
          <a:solidFill>
            <a:schemeClr val="bg1">
              <a:lumMod val="85000"/>
            </a:schemeClr>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复杂缺陷与背景干扰的判别困境</a:t>
            </a:r>
          </a:p>
        </p:txBody>
      </p:sp>
      <p:sp>
        <p:nvSpPr>
          <p:cNvPr id="37" name="矩形: 圆角 36">
            <a:extLst>
              <a:ext uri="{FF2B5EF4-FFF2-40B4-BE49-F238E27FC236}">
                <a16:creationId xmlns:a16="http://schemas.microsoft.com/office/drawing/2014/main" id="{2021DC7A-44C5-C4EB-53FF-5A5BBEF5ACD3}"/>
              </a:ext>
            </a:extLst>
          </p:cNvPr>
          <p:cNvSpPr/>
          <p:nvPr/>
        </p:nvSpPr>
        <p:spPr>
          <a:xfrm>
            <a:off x="8796886" y="1954534"/>
            <a:ext cx="2520773" cy="681059"/>
          </a:xfrm>
          <a:prstGeom prst="roundRect">
            <a:avLst>
              <a:gd name="adj" fmla="val 2015"/>
            </a:avLst>
          </a:prstGeom>
          <a:solidFill>
            <a:schemeClr val="bg1">
              <a:lumMod val="85000"/>
            </a:schemeClr>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生成数据真实性与</a:t>
            </a:r>
            <a:endParaRPr lang="en-US" altLang="zh-CN" sz="1400" dirty="0">
              <a:solidFill>
                <a:schemeClr val="tx1"/>
              </a:solidFill>
            </a:endParaRPr>
          </a:p>
          <a:p>
            <a:pPr algn="ctr"/>
            <a:r>
              <a:rPr lang="zh-CN" altLang="en-US" sz="1400" dirty="0">
                <a:solidFill>
                  <a:schemeClr val="tx1"/>
                </a:solidFill>
              </a:rPr>
              <a:t>动态适配不足</a:t>
            </a:r>
          </a:p>
        </p:txBody>
      </p:sp>
      <p:sp>
        <p:nvSpPr>
          <p:cNvPr id="38" name="矩形: 圆角 37">
            <a:extLst>
              <a:ext uri="{FF2B5EF4-FFF2-40B4-BE49-F238E27FC236}">
                <a16:creationId xmlns:a16="http://schemas.microsoft.com/office/drawing/2014/main" id="{8A2DBACA-DCC0-F1C5-0961-D227353E15E6}"/>
              </a:ext>
            </a:extLst>
          </p:cNvPr>
          <p:cNvSpPr/>
          <p:nvPr/>
        </p:nvSpPr>
        <p:spPr>
          <a:xfrm>
            <a:off x="2662517" y="3961240"/>
            <a:ext cx="8785410" cy="1661960"/>
          </a:xfrm>
          <a:prstGeom prst="roundRect">
            <a:avLst>
              <a:gd name="adj" fmla="val 2015"/>
            </a:avLst>
          </a:prstGeom>
          <a:solidFill>
            <a:schemeClr val="accent6">
              <a:lumMod val="20000"/>
              <a:lumOff val="80000"/>
            </a:schemeClr>
          </a:solidFill>
          <a:ln w="28575">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箭头: 下 39">
            <a:extLst>
              <a:ext uri="{FF2B5EF4-FFF2-40B4-BE49-F238E27FC236}">
                <a16:creationId xmlns:a16="http://schemas.microsoft.com/office/drawing/2014/main" id="{007B968B-83AF-B7FA-407D-7DA7CFB3D954}"/>
              </a:ext>
            </a:extLst>
          </p:cNvPr>
          <p:cNvSpPr/>
          <p:nvPr/>
        </p:nvSpPr>
        <p:spPr>
          <a:xfrm>
            <a:off x="6812906" y="3643019"/>
            <a:ext cx="484632" cy="297509"/>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354A4134-45AD-0A09-6396-B3E919F3CA6A}"/>
              </a:ext>
            </a:extLst>
          </p:cNvPr>
          <p:cNvSpPr/>
          <p:nvPr/>
        </p:nvSpPr>
        <p:spPr>
          <a:xfrm>
            <a:off x="2802727" y="4132800"/>
            <a:ext cx="2707189" cy="460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基于多模态自监督的</a:t>
            </a:r>
            <a:endParaRPr lang="en-US" altLang="zh-CN" sz="1400" b="1" dirty="0">
              <a:solidFill>
                <a:schemeClr val="tx1"/>
              </a:solidFill>
            </a:endParaRPr>
          </a:p>
          <a:p>
            <a:pPr algn="ctr"/>
            <a:r>
              <a:rPr lang="zh-CN" altLang="en-US" sz="1400" b="1" dirty="0">
                <a:solidFill>
                  <a:schemeClr val="tx1"/>
                </a:solidFill>
              </a:rPr>
              <a:t>晶圆缺陷敏感感知增强</a:t>
            </a:r>
          </a:p>
        </p:txBody>
      </p:sp>
      <p:sp>
        <p:nvSpPr>
          <p:cNvPr id="50" name="矩形 49">
            <a:extLst>
              <a:ext uri="{FF2B5EF4-FFF2-40B4-BE49-F238E27FC236}">
                <a16:creationId xmlns:a16="http://schemas.microsoft.com/office/drawing/2014/main" id="{D9C55898-164F-93A7-2E65-5032A659C04F}"/>
              </a:ext>
            </a:extLst>
          </p:cNvPr>
          <p:cNvSpPr/>
          <p:nvPr/>
        </p:nvSpPr>
        <p:spPr>
          <a:xfrm>
            <a:off x="5719996" y="4132800"/>
            <a:ext cx="2866812" cy="460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基于大模型的晶圆缺陷识别</a:t>
            </a:r>
            <a:endParaRPr lang="en-US" altLang="zh-CN" sz="1400" b="1" dirty="0">
              <a:solidFill>
                <a:schemeClr val="tx1"/>
              </a:solidFill>
            </a:endParaRPr>
          </a:p>
          <a:p>
            <a:pPr algn="ctr"/>
            <a:r>
              <a:rPr lang="zh-CN" altLang="en-US" sz="1400" b="1" dirty="0">
                <a:solidFill>
                  <a:schemeClr val="tx1"/>
                </a:solidFill>
              </a:rPr>
              <a:t>领域优化与检测能力增强</a:t>
            </a:r>
          </a:p>
        </p:txBody>
      </p:sp>
      <p:sp>
        <p:nvSpPr>
          <p:cNvPr id="51" name="矩形 50">
            <a:extLst>
              <a:ext uri="{FF2B5EF4-FFF2-40B4-BE49-F238E27FC236}">
                <a16:creationId xmlns:a16="http://schemas.microsoft.com/office/drawing/2014/main" id="{90B3F962-1165-736C-5C9C-AF6EEC846625}"/>
              </a:ext>
            </a:extLst>
          </p:cNvPr>
          <p:cNvSpPr/>
          <p:nvPr/>
        </p:nvSpPr>
        <p:spPr>
          <a:xfrm>
            <a:off x="8796889" y="4132800"/>
            <a:ext cx="2520769" cy="460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大模型驱动的晶圆缺陷判别</a:t>
            </a:r>
            <a:endParaRPr lang="en-US" altLang="zh-CN" sz="1400" b="1" dirty="0">
              <a:solidFill>
                <a:schemeClr val="tx1"/>
              </a:solidFill>
            </a:endParaRPr>
          </a:p>
          <a:p>
            <a:pPr algn="ctr"/>
            <a:r>
              <a:rPr lang="zh-CN" altLang="en-US" sz="1400" b="1" dirty="0">
                <a:solidFill>
                  <a:schemeClr val="tx1"/>
                </a:solidFill>
              </a:rPr>
              <a:t>与生成指导机制</a:t>
            </a:r>
          </a:p>
        </p:txBody>
      </p:sp>
      <p:sp>
        <p:nvSpPr>
          <p:cNvPr id="53" name="矩形: 圆角 52">
            <a:extLst>
              <a:ext uri="{FF2B5EF4-FFF2-40B4-BE49-F238E27FC236}">
                <a16:creationId xmlns:a16="http://schemas.microsoft.com/office/drawing/2014/main" id="{F52C3C0F-24EB-7BF0-24D1-E316B0DDB5E3}"/>
              </a:ext>
            </a:extLst>
          </p:cNvPr>
          <p:cNvSpPr/>
          <p:nvPr/>
        </p:nvSpPr>
        <p:spPr>
          <a:xfrm>
            <a:off x="2802726" y="4690225"/>
            <a:ext cx="2707189" cy="762310"/>
          </a:xfrm>
          <a:prstGeom prst="roundRect">
            <a:avLst>
              <a:gd name="adj" fmla="val 2015"/>
            </a:avLst>
          </a:prstGeom>
          <a:solidFill>
            <a:schemeClr val="bg1"/>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对比学习</a:t>
            </a:r>
            <a:endParaRPr lang="en-US" altLang="zh-CN" sz="1600" dirty="0">
              <a:solidFill>
                <a:schemeClr val="tx1"/>
              </a:solidFill>
            </a:endParaRPr>
          </a:p>
          <a:p>
            <a:pPr algn="ctr"/>
            <a:r>
              <a:rPr lang="zh-CN" altLang="en-US" sz="1600" dirty="0">
                <a:solidFill>
                  <a:schemeClr val="tx1"/>
                </a:solidFill>
              </a:rPr>
              <a:t>掩码重构</a:t>
            </a:r>
          </a:p>
        </p:txBody>
      </p:sp>
      <p:sp>
        <p:nvSpPr>
          <p:cNvPr id="54" name="矩形: 圆角 53">
            <a:extLst>
              <a:ext uri="{FF2B5EF4-FFF2-40B4-BE49-F238E27FC236}">
                <a16:creationId xmlns:a16="http://schemas.microsoft.com/office/drawing/2014/main" id="{FF39E663-EBF2-447C-CE08-0820ED87AF64}"/>
              </a:ext>
            </a:extLst>
          </p:cNvPr>
          <p:cNvSpPr/>
          <p:nvPr/>
        </p:nvSpPr>
        <p:spPr>
          <a:xfrm>
            <a:off x="5719996" y="4690225"/>
            <a:ext cx="2866812" cy="762310"/>
          </a:xfrm>
          <a:prstGeom prst="roundRect">
            <a:avLst>
              <a:gd name="adj" fmla="val 2015"/>
            </a:avLst>
          </a:prstGeom>
          <a:solidFill>
            <a:schemeClr val="bg1"/>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语义特征强化</a:t>
            </a:r>
            <a:endParaRPr lang="en-US" altLang="zh-CN" sz="1600" dirty="0">
              <a:solidFill>
                <a:schemeClr val="tx1"/>
              </a:solidFill>
            </a:endParaRPr>
          </a:p>
          <a:p>
            <a:pPr algn="ctr"/>
            <a:r>
              <a:rPr lang="zh-CN" altLang="en-US" sz="1600" dirty="0">
                <a:solidFill>
                  <a:schemeClr val="tx1"/>
                </a:solidFill>
              </a:rPr>
              <a:t>提示学习</a:t>
            </a:r>
          </a:p>
        </p:txBody>
      </p:sp>
      <p:sp>
        <p:nvSpPr>
          <p:cNvPr id="55" name="矩形: 圆角 54">
            <a:extLst>
              <a:ext uri="{FF2B5EF4-FFF2-40B4-BE49-F238E27FC236}">
                <a16:creationId xmlns:a16="http://schemas.microsoft.com/office/drawing/2014/main" id="{41D7B4BA-83B7-023D-7227-3043FC65B123}"/>
              </a:ext>
            </a:extLst>
          </p:cNvPr>
          <p:cNvSpPr/>
          <p:nvPr/>
        </p:nvSpPr>
        <p:spPr>
          <a:xfrm>
            <a:off x="8796890" y="4690225"/>
            <a:ext cx="2520768" cy="762310"/>
          </a:xfrm>
          <a:prstGeom prst="roundRect">
            <a:avLst>
              <a:gd name="adj" fmla="val 2015"/>
            </a:avLst>
          </a:prstGeom>
          <a:solidFill>
            <a:schemeClr val="bg1"/>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置信度评估 </a:t>
            </a:r>
            <a:endParaRPr lang="en-US" altLang="zh-CN" sz="1600" dirty="0">
              <a:solidFill>
                <a:schemeClr val="tx1"/>
              </a:solidFill>
            </a:endParaRPr>
          </a:p>
          <a:p>
            <a:pPr algn="ctr"/>
            <a:r>
              <a:rPr lang="zh-CN" altLang="en-US" sz="1600" dirty="0">
                <a:solidFill>
                  <a:schemeClr val="tx1"/>
                </a:solidFill>
              </a:rPr>
              <a:t>模态一致性判别</a:t>
            </a:r>
          </a:p>
        </p:txBody>
      </p:sp>
      <p:sp>
        <p:nvSpPr>
          <p:cNvPr id="2" name="箭头: 下 1">
            <a:extLst>
              <a:ext uri="{FF2B5EF4-FFF2-40B4-BE49-F238E27FC236}">
                <a16:creationId xmlns:a16="http://schemas.microsoft.com/office/drawing/2014/main" id="{FBC9A876-27E0-D7FA-44BA-B35EFEEF565E}"/>
              </a:ext>
            </a:extLst>
          </p:cNvPr>
          <p:cNvSpPr/>
          <p:nvPr/>
        </p:nvSpPr>
        <p:spPr>
          <a:xfrm>
            <a:off x="3914004" y="2787862"/>
            <a:ext cx="484632" cy="297509"/>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箭头: 下 2">
            <a:extLst>
              <a:ext uri="{FF2B5EF4-FFF2-40B4-BE49-F238E27FC236}">
                <a16:creationId xmlns:a16="http://schemas.microsoft.com/office/drawing/2014/main" id="{61E94984-1E36-CA4A-D9CB-F552ABE5775B}"/>
              </a:ext>
            </a:extLst>
          </p:cNvPr>
          <p:cNvSpPr/>
          <p:nvPr/>
        </p:nvSpPr>
        <p:spPr>
          <a:xfrm>
            <a:off x="3914004" y="3641820"/>
            <a:ext cx="484632" cy="297509"/>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下 5">
            <a:extLst>
              <a:ext uri="{FF2B5EF4-FFF2-40B4-BE49-F238E27FC236}">
                <a16:creationId xmlns:a16="http://schemas.microsoft.com/office/drawing/2014/main" id="{61DF5A18-B4DA-55A6-C9B0-9CB4388D7F72}"/>
              </a:ext>
            </a:extLst>
          </p:cNvPr>
          <p:cNvSpPr/>
          <p:nvPr/>
        </p:nvSpPr>
        <p:spPr>
          <a:xfrm>
            <a:off x="9814956" y="2782381"/>
            <a:ext cx="484632" cy="29750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下 6">
            <a:extLst>
              <a:ext uri="{FF2B5EF4-FFF2-40B4-BE49-F238E27FC236}">
                <a16:creationId xmlns:a16="http://schemas.microsoft.com/office/drawing/2014/main" id="{DB7840F2-5922-FEDF-EB5B-6A3CBA69F04F}"/>
              </a:ext>
            </a:extLst>
          </p:cNvPr>
          <p:cNvSpPr/>
          <p:nvPr/>
        </p:nvSpPr>
        <p:spPr>
          <a:xfrm>
            <a:off x="9814956" y="3641820"/>
            <a:ext cx="484632" cy="29750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78627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EB6AB-FC0B-471F-249C-1F1C17558145}"/>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B336123A-3915-FA5B-1F3E-472B49C40AE2}"/>
              </a:ext>
            </a:extLst>
          </p:cNvPr>
          <p:cNvSpPr/>
          <p:nvPr/>
        </p:nvSpPr>
        <p:spPr>
          <a:xfrm>
            <a:off x="2662519" y="976592"/>
            <a:ext cx="8785410" cy="1800772"/>
          </a:xfrm>
          <a:prstGeom prst="roundRect">
            <a:avLst>
              <a:gd name="adj" fmla="val 2015"/>
            </a:avLst>
          </a:prstGeom>
          <a:solidFill>
            <a:schemeClr val="accent2">
              <a:lumMod val="60000"/>
              <a:lumOff val="40000"/>
            </a:schemeClr>
          </a:solidFill>
          <a:ln w="28575">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BF02746C-93F6-FBAB-313F-5CC70AFE26A3}"/>
              </a:ext>
            </a:extLst>
          </p:cNvPr>
          <p:cNvSpPr/>
          <p:nvPr/>
        </p:nvSpPr>
        <p:spPr>
          <a:xfrm>
            <a:off x="2802727" y="1417685"/>
            <a:ext cx="2707189" cy="47930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对跨类别、多形态晶圆缺陷统一表征建模</a:t>
            </a:r>
            <a:endParaRPr lang="zh-CN" altLang="en-US" sz="1400" b="1" dirty="0">
              <a:solidFill>
                <a:schemeClr val="tx1"/>
              </a:solidFill>
            </a:endParaRPr>
          </a:p>
        </p:txBody>
      </p:sp>
      <p:sp>
        <p:nvSpPr>
          <p:cNvPr id="8" name="矩形: 圆角 7">
            <a:extLst>
              <a:ext uri="{FF2B5EF4-FFF2-40B4-BE49-F238E27FC236}">
                <a16:creationId xmlns:a16="http://schemas.microsoft.com/office/drawing/2014/main" id="{E7496586-2A9B-4169-75AC-CAA58B464D0D}"/>
              </a:ext>
            </a:extLst>
          </p:cNvPr>
          <p:cNvSpPr/>
          <p:nvPr/>
        </p:nvSpPr>
        <p:spPr>
          <a:xfrm rot="10800000" flipV="1">
            <a:off x="2662518" y="110937"/>
            <a:ext cx="8785410" cy="568143"/>
          </a:xfrm>
          <a:prstGeom prst="roundRect">
            <a:avLst>
              <a:gd name="adj" fmla="val 12755"/>
            </a:avLst>
          </a:prstGeom>
          <a:solidFill>
            <a:schemeClr val="accent1">
              <a:lumMod val="60000"/>
              <a:lumOff val="4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t>面向显示面板、晶圆低缺陷率数据集的</a:t>
            </a:r>
          </a:p>
          <a:p>
            <a:pPr algn="ctr"/>
            <a:r>
              <a:rPr lang="zh-CN" altLang="en-US" sz="1600" b="1" dirty="0"/>
              <a:t>多模态大模型自监督缺陷检测算法研究与生成参数反馈</a:t>
            </a:r>
          </a:p>
        </p:txBody>
      </p:sp>
      <p:sp>
        <p:nvSpPr>
          <p:cNvPr id="10" name="箭头: 下 9">
            <a:extLst>
              <a:ext uri="{FF2B5EF4-FFF2-40B4-BE49-F238E27FC236}">
                <a16:creationId xmlns:a16="http://schemas.microsoft.com/office/drawing/2014/main" id="{06B63913-F2C4-E144-BF3F-98FE86C5AEA7}"/>
              </a:ext>
            </a:extLst>
          </p:cNvPr>
          <p:cNvSpPr/>
          <p:nvPr/>
        </p:nvSpPr>
        <p:spPr>
          <a:xfrm>
            <a:off x="6812906" y="673401"/>
            <a:ext cx="484632" cy="29750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88386677-672E-8A71-6397-19A14582B20C}"/>
              </a:ext>
            </a:extLst>
          </p:cNvPr>
          <p:cNvSpPr/>
          <p:nvPr/>
        </p:nvSpPr>
        <p:spPr>
          <a:xfrm>
            <a:off x="5719996" y="1417522"/>
            <a:ext cx="2866812" cy="47942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提升模型在复杂缺陷识别中的</a:t>
            </a:r>
            <a:endParaRPr lang="en-US" altLang="zh-CN" sz="1400" b="1" dirty="0">
              <a:solidFill>
                <a:schemeClr val="tx1"/>
              </a:solidFill>
            </a:endParaRPr>
          </a:p>
          <a:p>
            <a:pPr algn="ctr"/>
            <a:r>
              <a:rPr lang="zh-CN" altLang="en-US" sz="1400" b="1" dirty="0">
                <a:solidFill>
                  <a:schemeClr val="tx1"/>
                </a:solidFill>
              </a:rPr>
              <a:t>精细判别能力</a:t>
            </a:r>
          </a:p>
        </p:txBody>
      </p:sp>
      <p:sp>
        <p:nvSpPr>
          <p:cNvPr id="14" name="矩形 13">
            <a:extLst>
              <a:ext uri="{FF2B5EF4-FFF2-40B4-BE49-F238E27FC236}">
                <a16:creationId xmlns:a16="http://schemas.microsoft.com/office/drawing/2014/main" id="{09589939-536B-439F-7557-9B2ED2C3E4AD}"/>
              </a:ext>
            </a:extLst>
          </p:cNvPr>
          <p:cNvSpPr/>
          <p:nvPr/>
        </p:nvSpPr>
        <p:spPr>
          <a:xfrm>
            <a:off x="8796889" y="1400870"/>
            <a:ext cx="2520770" cy="496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数据真实性判别与</a:t>
            </a:r>
            <a:endParaRPr lang="en-US" altLang="zh-CN" sz="1400" b="1" dirty="0">
              <a:solidFill>
                <a:schemeClr val="tx1"/>
              </a:solidFill>
            </a:endParaRPr>
          </a:p>
          <a:p>
            <a:pPr algn="ctr"/>
            <a:r>
              <a:rPr lang="zh-CN" altLang="en-US" sz="1400" b="1" dirty="0">
                <a:solidFill>
                  <a:schemeClr val="tx1"/>
                </a:solidFill>
              </a:rPr>
              <a:t>生成参数优化</a:t>
            </a:r>
          </a:p>
        </p:txBody>
      </p:sp>
      <p:sp>
        <p:nvSpPr>
          <p:cNvPr id="27" name="矩形: 圆角 26">
            <a:extLst>
              <a:ext uri="{FF2B5EF4-FFF2-40B4-BE49-F238E27FC236}">
                <a16:creationId xmlns:a16="http://schemas.microsoft.com/office/drawing/2014/main" id="{0E0E3128-34BA-79BB-D90E-8B07A799F5F0}"/>
              </a:ext>
            </a:extLst>
          </p:cNvPr>
          <p:cNvSpPr/>
          <p:nvPr/>
        </p:nvSpPr>
        <p:spPr>
          <a:xfrm>
            <a:off x="2802728" y="1954534"/>
            <a:ext cx="2707190" cy="681059"/>
          </a:xfrm>
          <a:prstGeom prst="roundRect">
            <a:avLst>
              <a:gd name="adj" fmla="val 2015"/>
            </a:avLst>
          </a:prstGeom>
          <a:solidFill>
            <a:schemeClr val="bg1">
              <a:lumMod val="85000"/>
            </a:schemeClr>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缺陷类型繁多</a:t>
            </a:r>
            <a:endParaRPr lang="en-US" altLang="zh-CN" sz="1400">
              <a:solidFill>
                <a:schemeClr val="tx1"/>
              </a:solidFill>
            </a:endParaRPr>
          </a:p>
          <a:p>
            <a:pPr algn="ctr"/>
            <a:r>
              <a:rPr lang="zh-CN" altLang="en-US" sz="1400">
                <a:solidFill>
                  <a:schemeClr val="tx1"/>
                </a:solidFill>
              </a:rPr>
              <a:t>缺陷形态、分布形式复杂</a:t>
            </a:r>
            <a:endParaRPr lang="zh-CN" altLang="en-US" sz="1400" dirty="0">
              <a:solidFill>
                <a:schemeClr val="tx1"/>
              </a:solidFill>
            </a:endParaRPr>
          </a:p>
        </p:txBody>
      </p:sp>
      <p:sp>
        <p:nvSpPr>
          <p:cNvPr id="29" name="矩形: 圆角 28">
            <a:extLst>
              <a:ext uri="{FF2B5EF4-FFF2-40B4-BE49-F238E27FC236}">
                <a16:creationId xmlns:a16="http://schemas.microsoft.com/office/drawing/2014/main" id="{8689C059-1E90-73FF-A7F7-7B7C0FB9F816}"/>
              </a:ext>
            </a:extLst>
          </p:cNvPr>
          <p:cNvSpPr/>
          <p:nvPr/>
        </p:nvSpPr>
        <p:spPr>
          <a:xfrm rot="10800000" flipV="1">
            <a:off x="2662518" y="3074875"/>
            <a:ext cx="8785410" cy="568143"/>
          </a:xfrm>
          <a:prstGeom prst="roundRect">
            <a:avLst>
              <a:gd name="adj" fmla="val 12755"/>
            </a:avLst>
          </a:prstGeom>
          <a:solidFill>
            <a:schemeClr val="accent1">
              <a:lumMod val="60000"/>
              <a:lumOff val="4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t>多模态大模型的自监督缺陷检测与反馈框架</a:t>
            </a:r>
            <a:endParaRPr lang="zh-CN" altLang="zh-CN" sz="1600" b="1" dirty="0"/>
          </a:p>
        </p:txBody>
      </p:sp>
      <p:sp>
        <p:nvSpPr>
          <p:cNvPr id="33" name="箭头: 下 32">
            <a:extLst>
              <a:ext uri="{FF2B5EF4-FFF2-40B4-BE49-F238E27FC236}">
                <a16:creationId xmlns:a16="http://schemas.microsoft.com/office/drawing/2014/main" id="{7E4570DE-5770-4E95-9ECC-6BE06DF981F4}"/>
              </a:ext>
            </a:extLst>
          </p:cNvPr>
          <p:cNvSpPr/>
          <p:nvPr/>
        </p:nvSpPr>
        <p:spPr>
          <a:xfrm>
            <a:off x="6812906" y="2787862"/>
            <a:ext cx="484632" cy="297509"/>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265F348D-61BF-F752-FB3C-CE4279B51987}"/>
              </a:ext>
            </a:extLst>
          </p:cNvPr>
          <p:cNvSpPr txBox="1"/>
          <p:nvPr/>
        </p:nvSpPr>
        <p:spPr>
          <a:xfrm>
            <a:off x="6484805" y="1042587"/>
            <a:ext cx="1140834" cy="307777"/>
          </a:xfrm>
          <a:prstGeom prst="rect">
            <a:avLst/>
          </a:prstGeom>
          <a:noFill/>
        </p:spPr>
        <p:txBody>
          <a:bodyPr wrap="square" rtlCol="0">
            <a:spAutoFit/>
          </a:bodyPr>
          <a:lstStyle/>
          <a:p>
            <a:r>
              <a:rPr lang="zh-CN" altLang="en-US" sz="1400" b="1" dirty="0">
                <a:solidFill>
                  <a:schemeClr val="bg1"/>
                </a:solidFill>
              </a:rPr>
              <a:t>目标和挑战</a:t>
            </a:r>
          </a:p>
        </p:txBody>
      </p:sp>
      <p:sp>
        <p:nvSpPr>
          <p:cNvPr id="36" name="矩形: 圆角 35">
            <a:extLst>
              <a:ext uri="{FF2B5EF4-FFF2-40B4-BE49-F238E27FC236}">
                <a16:creationId xmlns:a16="http://schemas.microsoft.com/office/drawing/2014/main" id="{ADB582ED-F11D-7972-3F62-C966E9FA46B1}"/>
              </a:ext>
            </a:extLst>
          </p:cNvPr>
          <p:cNvSpPr/>
          <p:nvPr/>
        </p:nvSpPr>
        <p:spPr>
          <a:xfrm>
            <a:off x="5719996" y="1968621"/>
            <a:ext cx="2866812" cy="666972"/>
          </a:xfrm>
          <a:prstGeom prst="roundRect">
            <a:avLst>
              <a:gd name="adj" fmla="val 2015"/>
            </a:avLst>
          </a:prstGeom>
          <a:solidFill>
            <a:schemeClr val="bg1">
              <a:lumMod val="85000"/>
            </a:schemeClr>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多模态融合驱动的缺陷检测挑战</a:t>
            </a:r>
            <a:endParaRPr lang="en-US" altLang="zh-CN" sz="1400">
              <a:solidFill>
                <a:schemeClr val="tx1"/>
              </a:solidFill>
            </a:endParaRPr>
          </a:p>
          <a:p>
            <a:pPr algn="ctr"/>
            <a:r>
              <a:rPr lang="zh-CN" altLang="en-US" sz="1400">
                <a:solidFill>
                  <a:schemeClr val="tx1"/>
                </a:solidFill>
              </a:rPr>
              <a:t>复杂</a:t>
            </a:r>
            <a:r>
              <a:rPr lang="zh-CN" altLang="en-US" sz="1400" dirty="0">
                <a:solidFill>
                  <a:schemeClr val="tx1"/>
                </a:solidFill>
              </a:rPr>
              <a:t>缺陷与背景干扰的判别困境</a:t>
            </a:r>
          </a:p>
        </p:txBody>
      </p:sp>
      <p:sp>
        <p:nvSpPr>
          <p:cNvPr id="37" name="矩形: 圆角 36">
            <a:extLst>
              <a:ext uri="{FF2B5EF4-FFF2-40B4-BE49-F238E27FC236}">
                <a16:creationId xmlns:a16="http://schemas.microsoft.com/office/drawing/2014/main" id="{D98AABA6-4FCA-F097-E89D-7FC3D5B13119}"/>
              </a:ext>
            </a:extLst>
          </p:cNvPr>
          <p:cNvSpPr/>
          <p:nvPr/>
        </p:nvSpPr>
        <p:spPr>
          <a:xfrm>
            <a:off x="8796886" y="1954534"/>
            <a:ext cx="2520773" cy="681059"/>
          </a:xfrm>
          <a:prstGeom prst="roundRect">
            <a:avLst>
              <a:gd name="adj" fmla="val 2015"/>
            </a:avLst>
          </a:prstGeom>
          <a:solidFill>
            <a:schemeClr val="bg1">
              <a:lumMod val="85000"/>
            </a:schemeClr>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生成数据真实性与</a:t>
            </a:r>
            <a:endParaRPr lang="en-US" altLang="zh-CN" sz="1400" dirty="0">
              <a:solidFill>
                <a:schemeClr val="tx1"/>
              </a:solidFill>
            </a:endParaRPr>
          </a:p>
          <a:p>
            <a:pPr algn="ctr"/>
            <a:r>
              <a:rPr lang="zh-CN" altLang="en-US" sz="1400" dirty="0">
                <a:solidFill>
                  <a:schemeClr val="tx1"/>
                </a:solidFill>
              </a:rPr>
              <a:t>动态适配不足</a:t>
            </a:r>
          </a:p>
        </p:txBody>
      </p:sp>
      <p:sp>
        <p:nvSpPr>
          <p:cNvPr id="38" name="矩形: 圆角 37">
            <a:extLst>
              <a:ext uri="{FF2B5EF4-FFF2-40B4-BE49-F238E27FC236}">
                <a16:creationId xmlns:a16="http://schemas.microsoft.com/office/drawing/2014/main" id="{F8C00C3D-62FD-F4B9-5FC5-EB3953700049}"/>
              </a:ext>
            </a:extLst>
          </p:cNvPr>
          <p:cNvSpPr/>
          <p:nvPr/>
        </p:nvSpPr>
        <p:spPr>
          <a:xfrm>
            <a:off x="2662517" y="3961240"/>
            <a:ext cx="8785410" cy="1661960"/>
          </a:xfrm>
          <a:prstGeom prst="roundRect">
            <a:avLst>
              <a:gd name="adj" fmla="val 2015"/>
            </a:avLst>
          </a:prstGeom>
          <a:solidFill>
            <a:schemeClr val="accent6">
              <a:lumMod val="20000"/>
              <a:lumOff val="80000"/>
            </a:schemeClr>
          </a:solidFill>
          <a:ln w="28575">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箭头: 下 39">
            <a:extLst>
              <a:ext uri="{FF2B5EF4-FFF2-40B4-BE49-F238E27FC236}">
                <a16:creationId xmlns:a16="http://schemas.microsoft.com/office/drawing/2014/main" id="{7BC43317-0CA2-AFA6-7BDE-834C071C1D0B}"/>
              </a:ext>
            </a:extLst>
          </p:cNvPr>
          <p:cNvSpPr/>
          <p:nvPr/>
        </p:nvSpPr>
        <p:spPr>
          <a:xfrm>
            <a:off x="6812906" y="3643019"/>
            <a:ext cx="484632" cy="297509"/>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D5281653-7AB0-B48E-2113-9A06D9296FDF}"/>
              </a:ext>
            </a:extLst>
          </p:cNvPr>
          <p:cNvSpPr/>
          <p:nvPr/>
        </p:nvSpPr>
        <p:spPr>
          <a:xfrm>
            <a:off x="2802727" y="4132800"/>
            <a:ext cx="2707189" cy="460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构建</a:t>
            </a:r>
            <a:r>
              <a:rPr lang="zh-CN" altLang="zh-CN" sz="1400" b="1">
                <a:solidFill>
                  <a:schemeClr val="tx1"/>
                </a:solidFill>
              </a:rPr>
              <a:t>跨类别、多形态</a:t>
            </a:r>
            <a:r>
              <a:rPr lang="zh-CN" altLang="en-US" sz="1400" b="1">
                <a:solidFill>
                  <a:schemeClr val="tx1"/>
                </a:solidFill>
              </a:rPr>
              <a:t>的</a:t>
            </a:r>
            <a:endParaRPr lang="en-US" altLang="zh-CN" sz="1400" b="1">
              <a:solidFill>
                <a:schemeClr val="tx1"/>
              </a:solidFill>
            </a:endParaRPr>
          </a:p>
          <a:p>
            <a:pPr algn="ctr"/>
            <a:r>
              <a:rPr lang="zh-CN" altLang="zh-CN" sz="1400" b="1">
                <a:solidFill>
                  <a:schemeClr val="tx1"/>
                </a:solidFill>
              </a:rPr>
              <a:t>晶圆缺陷统一表征体系</a:t>
            </a:r>
            <a:endParaRPr lang="zh-CN" altLang="en-US" sz="1400" b="1" dirty="0">
              <a:solidFill>
                <a:schemeClr val="tx1"/>
              </a:solidFill>
            </a:endParaRPr>
          </a:p>
        </p:txBody>
      </p:sp>
      <p:sp>
        <p:nvSpPr>
          <p:cNvPr id="50" name="矩形 49">
            <a:extLst>
              <a:ext uri="{FF2B5EF4-FFF2-40B4-BE49-F238E27FC236}">
                <a16:creationId xmlns:a16="http://schemas.microsoft.com/office/drawing/2014/main" id="{D6D77F7F-B359-2BF3-0702-362A897E331A}"/>
              </a:ext>
            </a:extLst>
          </p:cNvPr>
          <p:cNvSpPr/>
          <p:nvPr/>
        </p:nvSpPr>
        <p:spPr>
          <a:xfrm>
            <a:off x="5719996" y="4132800"/>
            <a:ext cx="2866812" cy="460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400" b="1">
                <a:solidFill>
                  <a:schemeClr val="tx1"/>
                </a:solidFill>
              </a:rPr>
              <a:t>多模态大模型的晶圆缺陷检测架构构建与自监督预训练机制研究</a:t>
            </a:r>
            <a:endParaRPr lang="zh-CN" altLang="en-US" sz="1400" b="1" dirty="0">
              <a:solidFill>
                <a:schemeClr val="tx1"/>
              </a:solidFill>
            </a:endParaRPr>
          </a:p>
        </p:txBody>
      </p:sp>
      <p:sp>
        <p:nvSpPr>
          <p:cNvPr id="51" name="矩形 50">
            <a:extLst>
              <a:ext uri="{FF2B5EF4-FFF2-40B4-BE49-F238E27FC236}">
                <a16:creationId xmlns:a16="http://schemas.microsoft.com/office/drawing/2014/main" id="{5A08692F-889F-0E37-DA3C-F39B1FAC23C0}"/>
              </a:ext>
            </a:extLst>
          </p:cNvPr>
          <p:cNvSpPr/>
          <p:nvPr/>
        </p:nvSpPr>
        <p:spPr>
          <a:xfrm>
            <a:off x="8796889" y="4132800"/>
            <a:ext cx="2520769" cy="460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大模型驱动的晶圆缺陷判别</a:t>
            </a:r>
            <a:endParaRPr lang="en-US" altLang="zh-CN" sz="1400" b="1" dirty="0">
              <a:solidFill>
                <a:schemeClr val="tx1"/>
              </a:solidFill>
            </a:endParaRPr>
          </a:p>
          <a:p>
            <a:pPr algn="ctr"/>
            <a:r>
              <a:rPr lang="zh-CN" altLang="en-US" sz="1400" b="1" dirty="0">
                <a:solidFill>
                  <a:schemeClr val="tx1"/>
                </a:solidFill>
              </a:rPr>
              <a:t>与生成指导机制</a:t>
            </a:r>
          </a:p>
        </p:txBody>
      </p:sp>
      <p:sp>
        <p:nvSpPr>
          <p:cNvPr id="53" name="矩形: 圆角 52">
            <a:extLst>
              <a:ext uri="{FF2B5EF4-FFF2-40B4-BE49-F238E27FC236}">
                <a16:creationId xmlns:a16="http://schemas.microsoft.com/office/drawing/2014/main" id="{D66E595D-C5D1-720A-B3A1-3FDFEB0F8D93}"/>
              </a:ext>
            </a:extLst>
          </p:cNvPr>
          <p:cNvSpPr/>
          <p:nvPr/>
        </p:nvSpPr>
        <p:spPr>
          <a:xfrm>
            <a:off x="2802726" y="4690225"/>
            <a:ext cx="2707189" cy="762310"/>
          </a:xfrm>
          <a:prstGeom prst="roundRect">
            <a:avLst>
              <a:gd name="adj" fmla="val 2015"/>
            </a:avLst>
          </a:prstGeom>
          <a:solidFill>
            <a:schemeClr val="bg1"/>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400">
                <a:solidFill>
                  <a:schemeClr val="tx1"/>
                </a:solidFill>
              </a:rPr>
              <a:t>类无关特征提取器</a:t>
            </a:r>
            <a:r>
              <a:rPr lang="zh-CN" altLang="en-US" sz="1400">
                <a:solidFill>
                  <a:schemeClr val="tx1"/>
                </a:solidFill>
              </a:rPr>
              <a:t>设计</a:t>
            </a:r>
            <a:endParaRPr lang="en-US" altLang="zh-CN" sz="1400" dirty="0">
              <a:solidFill>
                <a:schemeClr val="tx1"/>
              </a:solidFill>
            </a:endParaRPr>
          </a:p>
          <a:p>
            <a:pPr algn="ctr"/>
            <a:r>
              <a:rPr lang="zh-CN" altLang="zh-CN" sz="1400">
                <a:solidFill>
                  <a:schemeClr val="tx1"/>
                </a:solidFill>
              </a:rPr>
              <a:t>缺陷类别条件解码器</a:t>
            </a:r>
            <a:r>
              <a:rPr lang="zh-CN" altLang="en-US" sz="1400">
                <a:solidFill>
                  <a:schemeClr val="tx1"/>
                </a:solidFill>
              </a:rPr>
              <a:t>设计</a:t>
            </a:r>
            <a:endParaRPr lang="en-US" altLang="zh-CN" sz="1400">
              <a:solidFill>
                <a:schemeClr val="tx1"/>
              </a:solidFill>
            </a:endParaRPr>
          </a:p>
          <a:p>
            <a:pPr algn="ctr"/>
            <a:r>
              <a:rPr lang="zh-CN" altLang="zh-CN" sz="1400">
                <a:solidFill>
                  <a:schemeClr val="tx1"/>
                </a:solidFill>
              </a:rPr>
              <a:t>结构性缺陷表示模块</a:t>
            </a:r>
            <a:r>
              <a:rPr lang="zh-CN" altLang="en-US" sz="1400">
                <a:solidFill>
                  <a:schemeClr val="tx1"/>
                </a:solidFill>
              </a:rPr>
              <a:t>设计</a:t>
            </a:r>
            <a:endParaRPr lang="zh-CN" altLang="en-US" sz="1400" dirty="0">
              <a:solidFill>
                <a:schemeClr val="tx1"/>
              </a:solidFill>
            </a:endParaRPr>
          </a:p>
        </p:txBody>
      </p:sp>
      <p:sp>
        <p:nvSpPr>
          <p:cNvPr id="54" name="矩形: 圆角 53">
            <a:extLst>
              <a:ext uri="{FF2B5EF4-FFF2-40B4-BE49-F238E27FC236}">
                <a16:creationId xmlns:a16="http://schemas.microsoft.com/office/drawing/2014/main" id="{29513787-BA40-FDE9-DAFE-FE8D4C3E64D3}"/>
              </a:ext>
            </a:extLst>
          </p:cNvPr>
          <p:cNvSpPr/>
          <p:nvPr/>
        </p:nvSpPr>
        <p:spPr>
          <a:xfrm>
            <a:off x="5719996" y="4690225"/>
            <a:ext cx="2866812" cy="762310"/>
          </a:xfrm>
          <a:prstGeom prst="roundRect">
            <a:avLst>
              <a:gd name="adj" fmla="val 2015"/>
            </a:avLst>
          </a:prstGeom>
          <a:solidFill>
            <a:schemeClr val="bg1"/>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400">
                <a:solidFill>
                  <a:schemeClr val="tx1"/>
                </a:solidFill>
              </a:rPr>
              <a:t>多模态大模型编码架构</a:t>
            </a:r>
            <a:r>
              <a:rPr lang="zh-CN" altLang="en-US" sz="1400">
                <a:solidFill>
                  <a:schemeClr val="tx1"/>
                </a:solidFill>
              </a:rPr>
              <a:t>研究</a:t>
            </a:r>
            <a:endParaRPr lang="en-US" altLang="zh-CN" sz="1400" dirty="0">
              <a:solidFill>
                <a:schemeClr val="tx1"/>
              </a:solidFill>
            </a:endParaRPr>
          </a:p>
          <a:p>
            <a:pPr algn="ctr"/>
            <a:r>
              <a:rPr lang="zh-CN" altLang="zh-CN" sz="1400">
                <a:solidFill>
                  <a:schemeClr val="tx1"/>
                </a:solidFill>
              </a:rPr>
              <a:t>跨模态融合机制研究</a:t>
            </a:r>
            <a:endParaRPr lang="en-US" altLang="zh-CN" sz="1400">
              <a:solidFill>
                <a:schemeClr val="tx1"/>
              </a:solidFill>
            </a:endParaRPr>
          </a:p>
          <a:p>
            <a:pPr algn="ctr"/>
            <a:r>
              <a:rPr lang="zh-CN" altLang="zh-CN" sz="1400">
                <a:solidFill>
                  <a:schemeClr val="tx1"/>
                </a:solidFill>
              </a:rPr>
              <a:t>自监督训练机制研究</a:t>
            </a:r>
            <a:endParaRPr lang="zh-CN" altLang="en-US" sz="1400" dirty="0">
              <a:solidFill>
                <a:schemeClr val="tx1"/>
              </a:solidFill>
            </a:endParaRPr>
          </a:p>
        </p:txBody>
      </p:sp>
      <p:sp>
        <p:nvSpPr>
          <p:cNvPr id="55" name="矩形: 圆角 54">
            <a:extLst>
              <a:ext uri="{FF2B5EF4-FFF2-40B4-BE49-F238E27FC236}">
                <a16:creationId xmlns:a16="http://schemas.microsoft.com/office/drawing/2014/main" id="{1A7AFCB4-38AB-4CFE-3277-C879E1B419A2}"/>
              </a:ext>
            </a:extLst>
          </p:cNvPr>
          <p:cNvSpPr/>
          <p:nvPr/>
        </p:nvSpPr>
        <p:spPr>
          <a:xfrm>
            <a:off x="8796890" y="4690225"/>
            <a:ext cx="2520768" cy="762310"/>
          </a:xfrm>
          <a:prstGeom prst="roundRect">
            <a:avLst>
              <a:gd name="adj" fmla="val 2015"/>
            </a:avLst>
          </a:prstGeom>
          <a:solidFill>
            <a:schemeClr val="bg1"/>
          </a:solidFill>
          <a:ln w="3175">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置信度</a:t>
            </a:r>
            <a:r>
              <a:rPr lang="zh-CN" altLang="en-US" sz="1400">
                <a:solidFill>
                  <a:schemeClr val="tx1"/>
                </a:solidFill>
              </a:rPr>
              <a:t>评估 </a:t>
            </a:r>
            <a:endParaRPr lang="en-US" altLang="zh-CN" sz="1400" dirty="0">
              <a:solidFill>
                <a:schemeClr val="tx1"/>
              </a:solidFill>
            </a:endParaRPr>
          </a:p>
          <a:p>
            <a:pPr algn="ctr"/>
            <a:r>
              <a:rPr lang="zh-CN" altLang="en-US" sz="1400" dirty="0">
                <a:solidFill>
                  <a:schemeClr val="tx1"/>
                </a:solidFill>
              </a:rPr>
              <a:t>模态一致性判别</a:t>
            </a:r>
          </a:p>
        </p:txBody>
      </p:sp>
      <p:sp>
        <p:nvSpPr>
          <p:cNvPr id="2" name="箭头: 下 1">
            <a:extLst>
              <a:ext uri="{FF2B5EF4-FFF2-40B4-BE49-F238E27FC236}">
                <a16:creationId xmlns:a16="http://schemas.microsoft.com/office/drawing/2014/main" id="{9672F572-080B-2AAD-38BF-1CD442163D2F}"/>
              </a:ext>
            </a:extLst>
          </p:cNvPr>
          <p:cNvSpPr/>
          <p:nvPr/>
        </p:nvSpPr>
        <p:spPr>
          <a:xfrm>
            <a:off x="3914004" y="2787862"/>
            <a:ext cx="484632" cy="297509"/>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箭头: 下 2">
            <a:extLst>
              <a:ext uri="{FF2B5EF4-FFF2-40B4-BE49-F238E27FC236}">
                <a16:creationId xmlns:a16="http://schemas.microsoft.com/office/drawing/2014/main" id="{45EAD9BB-7615-637B-602B-F1F03A4EFB38}"/>
              </a:ext>
            </a:extLst>
          </p:cNvPr>
          <p:cNvSpPr/>
          <p:nvPr/>
        </p:nvSpPr>
        <p:spPr>
          <a:xfrm>
            <a:off x="3914004" y="3641820"/>
            <a:ext cx="484632" cy="297509"/>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下 5">
            <a:extLst>
              <a:ext uri="{FF2B5EF4-FFF2-40B4-BE49-F238E27FC236}">
                <a16:creationId xmlns:a16="http://schemas.microsoft.com/office/drawing/2014/main" id="{508C70F8-8763-F3DD-BEF4-D56DD07EA9B5}"/>
              </a:ext>
            </a:extLst>
          </p:cNvPr>
          <p:cNvSpPr/>
          <p:nvPr/>
        </p:nvSpPr>
        <p:spPr>
          <a:xfrm>
            <a:off x="9814956" y="2782381"/>
            <a:ext cx="484632" cy="29750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下 6">
            <a:extLst>
              <a:ext uri="{FF2B5EF4-FFF2-40B4-BE49-F238E27FC236}">
                <a16:creationId xmlns:a16="http://schemas.microsoft.com/office/drawing/2014/main" id="{9C483418-C5D0-726B-4E8F-C2C2FD7D074E}"/>
              </a:ext>
            </a:extLst>
          </p:cNvPr>
          <p:cNvSpPr/>
          <p:nvPr/>
        </p:nvSpPr>
        <p:spPr>
          <a:xfrm>
            <a:off x="9814956" y="3641820"/>
            <a:ext cx="484632" cy="29750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9995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20">
            <a:extLst>
              <a:ext uri="{FF2B5EF4-FFF2-40B4-BE49-F238E27FC236}">
                <a16:creationId xmlns:a16="http://schemas.microsoft.com/office/drawing/2014/main" id="{867CF743-173E-249D-4A45-BECB1D7813E9}"/>
              </a:ext>
            </a:extLst>
          </p:cNvPr>
          <p:cNvSpPr/>
          <p:nvPr/>
        </p:nvSpPr>
        <p:spPr>
          <a:xfrm rot="10800000" flipV="1">
            <a:off x="1311793" y="755472"/>
            <a:ext cx="4058969" cy="3051709"/>
          </a:xfrm>
          <a:prstGeom prst="roundRect">
            <a:avLst>
              <a:gd name="adj" fmla="val 3055"/>
            </a:avLst>
          </a:prstGeom>
          <a:noFill/>
          <a:ln w="28575">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zh-CN" sz="1600" dirty="0"/>
          </a:p>
        </p:txBody>
      </p:sp>
      <p:sp>
        <p:nvSpPr>
          <p:cNvPr id="15" name="矩形 14">
            <a:extLst>
              <a:ext uri="{FF2B5EF4-FFF2-40B4-BE49-F238E27FC236}">
                <a16:creationId xmlns:a16="http://schemas.microsoft.com/office/drawing/2014/main" id="{CBA46D92-E81D-2711-F15E-8D50872B8FE6}"/>
              </a:ext>
            </a:extLst>
          </p:cNvPr>
          <p:cNvSpPr/>
          <p:nvPr/>
        </p:nvSpPr>
        <p:spPr>
          <a:xfrm>
            <a:off x="8055854" y="1088805"/>
            <a:ext cx="1909962" cy="27576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E3B41D0A-7738-2ED9-728D-C793BBCF3106}"/>
              </a:ext>
            </a:extLst>
          </p:cNvPr>
          <p:cNvSpPr/>
          <p:nvPr/>
        </p:nvSpPr>
        <p:spPr>
          <a:xfrm>
            <a:off x="325445" y="741087"/>
            <a:ext cx="671510" cy="3066094"/>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t>基于研究内容一的多模态数据</a:t>
            </a:r>
          </a:p>
        </p:txBody>
      </p:sp>
      <p:sp>
        <p:nvSpPr>
          <p:cNvPr id="5" name="矩形: 圆角 4">
            <a:extLst>
              <a:ext uri="{FF2B5EF4-FFF2-40B4-BE49-F238E27FC236}">
                <a16:creationId xmlns:a16="http://schemas.microsoft.com/office/drawing/2014/main" id="{59830F2C-5CE9-D0B6-A460-380B1A05B2FD}"/>
              </a:ext>
            </a:extLst>
          </p:cNvPr>
          <p:cNvSpPr/>
          <p:nvPr/>
        </p:nvSpPr>
        <p:spPr>
          <a:xfrm rot="10800000" flipV="1">
            <a:off x="1281200" y="206260"/>
            <a:ext cx="4089562" cy="451338"/>
          </a:xfrm>
          <a:prstGeom prst="roundRect">
            <a:avLst>
              <a:gd name="adj" fmla="val 12755"/>
            </a:avLst>
          </a:prstGeom>
          <a:solidFill>
            <a:schemeClr val="accent1">
              <a:lumMod val="60000"/>
              <a:lumOff val="4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t>基于多模态自监督的晶圆缺陷敏感感知增强</a:t>
            </a:r>
            <a:endParaRPr lang="zh-CN" altLang="zh-CN" sz="1600" b="1" dirty="0"/>
          </a:p>
        </p:txBody>
      </p:sp>
      <p:pic>
        <p:nvPicPr>
          <p:cNvPr id="13" name="图片 12">
            <a:extLst>
              <a:ext uri="{FF2B5EF4-FFF2-40B4-BE49-F238E27FC236}">
                <a16:creationId xmlns:a16="http://schemas.microsoft.com/office/drawing/2014/main" id="{2F288217-68D0-3907-1DCC-4F4EAA533F92}"/>
              </a:ext>
            </a:extLst>
          </p:cNvPr>
          <p:cNvPicPr>
            <a:picLocks noChangeAspect="1"/>
          </p:cNvPicPr>
          <p:nvPr/>
        </p:nvPicPr>
        <p:blipFill>
          <a:blip r:embed="rId3"/>
          <a:stretch>
            <a:fillRect/>
          </a:stretch>
        </p:blipFill>
        <p:spPr>
          <a:xfrm>
            <a:off x="8192492" y="1761368"/>
            <a:ext cx="1633706" cy="2048227"/>
          </a:xfrm>
          <a:prstGeom prst="rect">
            <a:avLst/>
          </a:prstGeom>
        </p:spPr>
      </p:pic>
      <p:sp>
        <p:nvSpPr>
          <p:cNvPr id="14" name="矩形: 圆角 13">
            <a:extLst>
              <a:ext uri="{FF2B5EF4-FFF2-40B4-BE49-F238E27FC236}">
                <a16:creationId xmlns:a16="http://schemas.microsoft.com/office/drawing/2014/main" id="{1F7959DC-5DB4-3B6C-A81E-27FD214703DD}"/>
              </a:ext>
            </a:extLst>
          </p:cNvPr>
          <p:cNvSpPr/>
          <p:nvPr/>
        </p:nvSpPr>
        <p:spPr>
          <a:xfrm rot="10800000" flipV="1">
            <a:off x="5594399" y="206259"/>
            <a:ext cx="6481343" cy="451339"/>
          </a:xfrm>
          <a:prstGeom prst="roundRect">
            <a:avLst>
              <a:gd name="adj" fmla="val 12755"/>
            </a:avLst>
          </a:prstGeom>
          <a:solidFill>
            <a:schemeClr val="accent6">
              <a:lumMod val="75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t>基于大模型的晶圆缺陷识别领域优化与检测能力增强</a:t>
            </a:r>
            <a:endParaRPr lang="zh-CN" altLang="zh-CN" sz="1600" b="1" dirty="0"/>
          </a:p>
        </p:txBody>
      </p:sp>
      <p:sp>
        <p:nvSpPr>
          <p:cNvPr id="16" name="文本框 15">
            <a:extLst>
              <a:ext uri="{FF2B5EF4-FFF2-40B4-BE49-F238E27FC236}">
                <a16:creationId xmlns:a16="http://schemas.microsoft.com/office/drawing/2014/main" id="{5A9CC3E5-3BC6-12A6-E9B7-C13DED79C1C6}"/>
              </a:ext>
            </a:extLst>
          </p:cNvPr>
          <p:cNvSpPr txBox="1"/>
          <p:nvPr/>
        </p:nvSpPr>
        <p:spPr>
          <a:xfrm>
            <a:off x="8083834" y="1111918"/>
            <a:ext cx="1825014" cy="523220"/>
          </a:xfrm>
          <a:prstGeom prst="rect">
            <a:avLst/>
          </a:prstGeom>
          <a:solidFill>
            <a:schemeClr val="bg2"/>
          </a:solidFill>
        </p:spPr>
        <p:txBody>
          <a:bodyPr wrap="square" rtlCol="0">
            <a:spAutoFit/>
          </a:bodyPr>
          <a:lstStyle/>
          <a:p>
            <a:pPr algn="ctr"/>
            <a:r>
              <a:rPr lang="zh-CN" altLang="zh-CN" sz="1400" b="1" dirty="0"/>
              <a:t>预测模块的语义特征强化</a:t>
            </a:r>
            <a:endParaRPr lang="zh-CN" altLang="en-US" sz="1400" dirty="0"/>
          </a:p>
        </p:txBody>
      </p:sp>
      <p:pic>
        <p:nvPicPr>
          <p:cNvPr id="18" name="图片 17">
            <a:extLst>
              <a:ext uri="{FF2B5EF4-FFF2-40B4-BE49-F238E27FC236}">
                <a16:creationId xmlns:a16="http://schemas.microsoft.com/office/drawing/2014/main" id="{3D55366E-F3EB-CFF9-9685-EC14A914673A}"/>
              </a:ext>
            </a:extLst>
          </p:cNvPr>
          <p:cNvPicPr>
            <a:picLocks noChangeAspect="1"/>
          </p:cNvPicPr>
          <p:nvPr/>
        </p:nvPicPr>
        <p:blipFill>
          <a:blip r:embed="rId4"/>
          <a:stretch>
            <a:fillRect/>
          </a:stretch>
        </p:blipFill>
        <p:spPr>
          <a:xfrm>
            <a:off x="10057292" y="1628228"/>
            <a:ext cx="1834362" cy="2178577"/>
          </a:xfrm>
          <a:prstGeom prst="rect">
            <a:avLst/>
          </a:prstGeom>
        </p:spPr>
      </p:pic>
      <p:sp>
        <p:nvSpPr>
          <p:cNvPr id="19" name="矩形 18">
            <a:extLst>
              <a:ext uri="{FF2B5EF4-FFF2-40B4-BE49-F238E27FC236}">
                <a16:creationId xmlns:a16="http://schemas.microsoft.com/office/drawing/2014/main" id="{D3A754DB-4873-2A99-78A0-1E521071C81B}"/>
              </a:ext>
            </a:extLst>
          </p:cNvPr>
          <p:cNvSpPr/>
          <p:nvPr/>
        </p:nvSpPr>
        <p:spPr>
          <a:xfrm>
            <a:off x="10019492" y="1088805"/>
            <a:ext cx="1909962" cy="27693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FBACAE3-D3A3-81BC-D751-D30FB2A03EB3}"/>
              </a:ext>
            </a:extLst>
          </p:cNvPr>
          <p:cNvSpPr txBox="1"/>
          <p:nvPr/>
        </p:nvSpPr>
        <p:spPr>
          <a:xfrm>
            <a:off x="10067054" y="1111918"/>
            <a:ext cx="1824600" cy="523220"/>
          </a:xfrm>
          <a:prstGeom prst="rect">
            <a:avLst/>
          </a:prstGeom>
          <a:solidFill>
            <a:schemeClr val="bg2"/>
          </a:solidFill>
        </p:spPr>
        <p:txBody>
          <a:bodyPr wrap="square" rtlCol="0">
            <a:spAutoFit/>
          </a:bodyPr>
          <a:lstStyle/>
          <a:p>
            <a:pPr algn="ctr"/>
            <a:r>
              <a:rPr lang="zh-CN" altLang="zh-CN" sz="1400" b="1" dirty="0"/>
              <a:t>预训练专家引导的特征优化</a:t>
            </a:r>
            <a:endParaRPr lang="zh-CN" altLang="en-US" sz="1100" dirty="0"/>
          </a:p>
        </p:txBody>
      </p:sp>
      <p:sp>
        <p:nvSpPr>
          <p:cNvPr id="22" name="矩形: 圆角 21">
            <a:extLst>
              <a:ext uri="{FF2B5EF4-FFF2-40B4-BE49-F238E27FC236}">
                <a16:creationId xmlns:a16="http://schemas.microsoft.com/office/drawing/2014/main" id="{23E2771A-31CB-2BD8-901F-AEEF952A07F7}"/>
              </a:ext>
            </a:extLst>
          </p:cNvPr>
          <p:cNvSpPr/>
          <p:nvPr/>
        </p:nvSpPr>
        <p:spPr>
          <a:xfrm rot="10800000" flipV="1">
            <a:off x="5633904" y="741087"/>
            <a:ext cx="6558096" cy="6045186"/>
          </a:xfrm>
          <a:prstGeom prst="roundRect">
            <a:avLst>
              <a:gd name="adj" fmla="val 3679"/>
            </a:avLst>
          </a:prstGeom>
          <a:noFill/>
          <a:ln w="28575">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zh-CN" sz="1600" dirty="0"/>
          </a:p>
        </p:txBody>
      </p:sp>
      <p:pic>
        <p:nvPicPr>
          <p:cNvPr id="27" name="图片 26">
            <a:extLst>
              <a:ext uri="{FF2B5EF4-FFF2-40B4-BE49-F238E27FC236}">
                <a16:creationId xmlns:a16="http://schemas.microsoft.com/office/drawing/2014/main" id="{B817EE18-6D07-37D4-C3F2-CA0981548E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1254" y="3059659"/>
            <a:ext cx="808080" cy="875618"/>
          </a:xfrm>
          <a:prstGeom prst="rect">
            <a:avLst/>
          </a:prstGeom>
        </p:spPr>
      </p:pic>
      <p:sp>
        <p:nvSpPr>
          <p:cNvPr id="31" name="文本框 30">
            <a:extLst>
              <a:ext uri="{FF2B5EF4-FFF2-40B4-BE49-F238E27FC236}">
                <a16:creationId xmlns:a16="http://schemas.microsoft.com/office/drawing/2014/main" id="{B9B58827-8209-2822-325D-CA2AC92C1897}"/>
              </a:ext>
            </a:extLst>
          </p:cNvPr>
          <p:cNvSpPr txBox="1"/>
          <p:nvPr/>
        </p:nvSpPr>
        <p:spPr>
          <a:xfrm>
            <a:off x="5880769" y="2474884"/>
            <a:ext cx="1625183" cy="584775"/>
          </a:xfrm>
          <a:prstGeom prst="rect">
            <a:avLst/>
          </a:prstGeom>
          <a:noFill/>
        </p:spPr>
        <p:txBody>
          <a:bodyPr wrap="square" rtlCol="0">
            <a:spAutoFit/>
          </a:bodyPr>
          <a:lstStyle/>
          <a:p>
            <a:pPr algn="ctr"/>
            <a:r>
              <a:rPr lang="zh-CN" altLang="en-US" sz="1600" b="1" dirty="0"/>
              <a:t>基于现有的通用多模态大模型</a:t>
            </a:r>
          </a:p>
        </p:txBody>
      </p:sp>
      <p:sp>
        <p:nvSpPr>
          <p:cNvPr id="40" name="箭头: 右 39">
            <a:extLst>
              <a:ext uri="{FF2B5EF4-FFF2-40B4-BE49-F238E27FC236}">
                <a16:creationId xmlns:a16="http://schemas.microsoft.com/office/drawing/2014/main" id="{67E760C9-69C1-5DA1-6F55-6E222C5CDFEA}"/>
              </a:ext>
            </a:extLst>
          </p:cNvPr>
          <p:cNvSpPr/>
          <p:nvPr/>
        </p:nvSpPr>
        <p:spPr>
          <a:xfrm rot="5400000">
            <a:off x="9844036" y="3873467"/>
            <a:ext cx="390724"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BF26811E-C3A7-0558-D8DA-014B8BE95987}"/>
              </a:ext>
            </a:extLst>
          </p:cNvPr>
          <p:cNvSpPr/>
          <p:nvPr/>
        </p:nvSpPr>
        <p:spPr>
          <a:xfrm>
            <a:off x="8058236" y="4258453"/>
            <a:ext cx="3958019" cy="2061673"/>
          </a:xfrm>
          <a:prstGeom prst="rect">
            <a:avLst/>
          </a:prstGeom>
          <a:solidFill>
            <a:schemeClr val="accent6">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25116EF6-F9F0-D052-E53A-62E7516B1D2F}"/>
                  </a:ext>
                </a:extLst>
              </p:cNvPr>
              <p:cNvSpPr txBox="1"/>
              <p:nvPr/>
            </p:nvSpPr>
            <p:spPr>
              <a:xfrm>
                <a:off x="8115296" y="4682328"/>
                <a:ext cx="3671190" cy="967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eqArr>
                        <m:eqArrPr>
                          <m:ctrlPr>
                            <a:rPr lang="zh-CN" altLang="zh-CN" sz="900" i="1" smtClean="0">
                              <a:latin typeface="Cambria Math" panose="02040503050406030204" pitchFamily="18" charset="0"/>
                            </a:rPr>
                          </m:ctrlPr>
                        </m:eqArrPr>
                        <m:e>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𝐿</m:t>
                              </m:r>
                            </m:e>
                            <m:sub>
                              <m:r>
                                <a:rPr lang="en-US" altLang="zh-CN" sz="900" i="1">
                                  <a:latin typeface="Cambria Math" panose="02040503050406030204" pitchFamily="18" charset="0"/>
                                </a:rPr>
                                <m:t>𝑓𝑜𝑐𝑎𝑙</m:t>
                              </m:r>
                            </m:sub>
                          </m:sSub>
                          <m:r>
                            <a:rPr lang="en-US" altLang="zh-CN" sz="900" i="1">
                              <a:latin typeface="Cambria Math" panose="02040503050406030204" pitchFamily="18" charset="0"/>
                            </a:rPr>
                            <m:t>=−</m:t>
                          </m:r>
                          <m:f>
                            <m:fPr>
                              <m:ctrlPr>
                                <a:rPr lang="zh-CN" altLang="zh-CN" sz="900" i="1">
                                  <a:latin typeface="Cambria Math" panose="02040503050406030204" pitchFamily="18" charset="0"/>
                                </a:rPr>
                              </m:ctrlPr>
                            </m:fPr>
                            <m:num>
                              <m:r>
                                <a:rPr lang="en-US" altLang="zh-CN" sz="900" i="1">
                                  <a:latin typeface="Cambria Math" panose="02040503050406030204" pitchFamily="18" charset="0"/>
                                </a:rPr>
                                <m:t>1</m:t>
                              </m:r>
                            </m:num>
                            <m:den>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den>
                          </m:f>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p>
                            <m:sSupPr>
                              <m:ctrlPr>
                                <a:rPr lang="zh-CN" altLang="zh-CN" sz="900" i="1">
                                  <a:latin typeface="Cambria Math" panose="02040503050406030204" pitchFamily="18" charset="0"/>
                                </a:rPr>
                              </m:ctrlPr>
                            </m:sSupPr>
                            <m:e>
                              <m:d>
                                <m:dPr>
                                  <m:ctrlPr>
                                    <a:rPr lang="zh-CN" altLang="zh-CN" sz="900" i="1">
                                      <a:latin typeface="Cambria Math" panose="02040503050406030204" pitchFamily="18" charset="0"/>
                                    </a:rPr>
                                  </m:ctrlPr>
                                </m:dPr>
                                <m:e>
                                  <m:r>
                                    <a:rPr lang="en-US" altLang="zh-CN" sz="900" i="1">
                                      <a:latin typeface="Cambria Math" panose="02040503050406030204" pitchFamily="18" charset="0"/>
                                    </a:rPr>
                                    <m:t>1−</m:t>
                                  </m:r>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sub>
                                  </m:sSub>
                                </m:e>
                              </m:d>
                            </m:e>
                            <m:sup>
                              <m:r>
                                <a:rPr lang="en-US" altLang="zh-CN" sz="900" i="1">
                                  <a:latin typeface="Cambria Math" panose="02040503050406030204" pitchFamily="18" charset="0"/>
                                </a:rPr>
                                <m:t>𝛾</m:t>
                              </m:r>
                            </m:sup>
                          </m:sSup>
                          <m:r>
                            <a:rPr lang="en-US" altLang="zh-CN" sz="900" i="1">
                              <a:latin typeface="Cambria Math" panose="02040503050406030204" pitchFamily="18" charset="0"/>
                            </a:rPr>
                            <m:t>𝑙𝑜𝑔</m:t>
                          </m:r>
                          <m:d>
                            <m:dPr>
                              <m:ctrlPr>
                                <a:rPr lang="zh-CN" altLang="zh-CN" sz="900" i="1">
                                  <a:latin typeface="Cambria Math" panose="02040503050406030204" pitchFamily="18" charset="0"/>
                                </a:rPr>
                              </m:ctrlPr>
                            </m:dPr>
                            <m:e>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sub>
                              </m:sSub>
                            </m:e>
                          </m:d>
                        </m:e>
                        <m:e>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𝐿</m:t>
                              </m:r>
                            </m:e>
                            <m:sub>
                              <m:r>
                                <a:rPr lang="en-US" altLang="zh-CN" sz="900" i="1">
                                  <a:latin typeface="Cambria Math" panose="02040503050406030204" pitchFamily="18" charset="0"/>
                                </a:rPr>
                                <m:t>𝑑𝑖𝑐𝑒</m:t>
                              </m:r>
                            </m:sub>
                          </m:sSub>
                          <m:r>
                            <a:rPr lang="en-US" altLang="zh-CN" sz="900" i="1">
                              <a:latin typeface="Cambria Math" panose="02040503050406030204" pitchFamily="18" charset="0"/>
                            </a:rPr>
                            <m:t>=−</m:t>
                          </m:r>
                          <m:f>
                            <m:fPr>
                              <m:ctrlPr>
                                <a:rPr lang="zh-CN" altLang="zh-CN" sz="900" i="1">
                                  <a:latin typeface="Cambria Math" panose="02040503050406030204" pitchFamily="18" charset="0"/>
                                </a:rPr>
                              </m:ctrlPr>
                            </m:fPr>
                            <m:num>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𝑦</m:t>
                                  </m:r>
                                </m:e>
                                <m:sub>
                                  <m:r>
                                    <a:rPr lang="en-US" altLang="zh-CN" sz="900" i="1">
                                      <a:latin typeface="Cambria Math" panose="02040503050406030204" pitchFamily="18" charset="0"/>
                                    </a:rPr>
                                    <m:t>𝑖</m:t>
                                  </m:r>
                                </m:sub>
                              </m:sSub>
                              <m:sSub>
                                <m:sSubPr>
                                  <m:ctrlPr>
                                    <a:rPr lang="zh-CN" altLang="zh-CN" sz="900" i="1">
                                      <a:latin typeface="Cambria Math" panose="02040503050406030204" pitchFamily="18" charset="0"/>
                                    </a:rPr>
                                  </m:ctrlPr>
                                </m:sSubPr>
                                <m:e>
                                  <m:acc>
                                    <m:accPr>
                                      <m:chr m:val="̂"/>
                                      <m:ctrlPr>
                                        <a:rPr lang="zh-CN" altLang="zh-CN" sz="900" i="1">
                                          <a:latin typeface="Cambria Math" panose="02040503050406030204" pitchFamily="18" charset="0"/>
                                        </a:rPr>
                                      </m:ctrlPr>
                                    </m:accPr>
                                    <m:e>
                                      <m:r>
                                        <a:rPr lang="en-US" altLang="zh-CN" sz="900" i="1">
                                          <a:latin typeface="Cambria Math" panose="02040503050406030204" pitchFamily="18" charset="0"/>
                                        </a:rPr>
                                        <m:t>𝑦</m:t>
                                      </m:r>
                                    </m:e>
                                  </m:acc>
                                </m:e>
                                <m:sub>
                                  <m:r>
                                    <a:rPr lang="en-US" altLang="zh-CN" sz="900" i="1">
                                      <a:latin typeface="Cambria Math" panose="02040503050406030204" pitchFamily="18" charset="0"/>
                                    </a:rPr>
                                    <m:t>𝑖</m:t>
                                  </m:r>
                                </m:sub>
                              </m:sSub>
                            </m:num>
                            <m:den>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bSup>
                                <m:sSubSupPr>
                                  <m:ctrlPr>
                                    <a:rPr lang="zh-CN" altLang="zh-CN" sz="900" i="1">
                                      <a:latin typeface="Cambria Math" panose="02040503050406030204" pitchFamily="18" charset="0"/>
                                    </a:rPr>
                                  </m:ctrlPr>
                                </m:sSubSupPr>
                                <m:e>
                                  <m:r>
                                    <a:rPr lang="en-US" altLang="zh-CN" sz="900" i="1">
                                      <a:latin typeface="Cambria Math" panose="02040503050406030204" pitchFamily="18" charset="0"/>
                                    </a:rPr>
                                    <m:t>𝑦</m:t>
                                  </m:r>
                                </m:e>
                                <m:sub>
                                  <m:r>
                                    <a:rPr lang="en-US" altLang="zh-CN" sz="900" i="1">
                                      <a:latin typeface="Cambria Math" panose="02040503050406030204" pitchFamily="18" charset="0"/>
                                    </a:rPr>
                                    <m:t>𝑖</m:t>
                                  </m:r>
                                </m:sub>
                                <m:sup>
                                  <m:r>
                                    <a:rPr lang="en-US" altLang="zh-CN" sz="900" i="1">
                                      <a:latin typeface="Cambria Math" panose="02040503050406030204" pitchFamily="18" charset="0"/>
                                    </a:rPr>
                                    <m:t>2</m:t>
                                  </m:r>
                                </m:sup>
                              </m:sSubSup>
                              <m:r>
                                <a:rPr lang="en-US" altLang="zh-CN" sz="900" i="1">
                                  <a:latin typeface="Cambria Math" panose="02040503050406030204" pitchFamily="18" charset="0"/>
                                </a:rPr>
                                <m:t>+</m:t>
                              </m:r>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bSup>
                                <m:sSubSupPr>
                                  <m:ctrlPr>
                                    <a:rPr lang="zh-CN" altLang="zh-CN" sz="900" i="1">
                                      <a:latin typeface="Cambria Math" panose="02040503050406030204" pitchFamily="18" charset="0"/>
                                    </a:rPr>
                                  </m:ctrlPr>
                                </m:sSubSupPr>
                                <m:e>
                                  <m:acc>
                                    <m:accPr>
                                      <m:chr m:val="̂"/>
                                      <m:ctrlPr>
                                        <a:rPr lang="zh-CN" altLang="zh-CN" sz="900" i="1">
                                          <a:latin typeface="Cambria Math" panose="02040503050406030204" pitchFamily="18" charset="0"/>
                                        </a:rPr>
                                      </m:ctrlPr>
                                    </m:accPr>
                                    <m:e>
                                      <m:r>
                                        <a:rPr lang="en-US" altLang="zh-CN" sz="900" i="1">
                                          <a:latin typeface="Cambria Math" panose="02040503050406030204" pitchFamily="18" charset="0"/>
                                        </a:rPr>
                                        <m:t>𝑦</m:t>
                                      </m:r>
                                    </m:e>
                                  </m:acc>
                                </m:e>
                                <m:sub>
                                  <m:r>
                                    <a:rPr lang="en-US" altLang="zh-CN" sz="900" i="1">
                                      <a:latin typeface="Cambria Math" panose="02040503050406030204" pitchFamily="18" charset="0"/>
                                    </a:rPr>
                                    <m:t>𝑖</m:t>
                                  </m:r>
                                </m:sub>
                                <m:sup>
                                  <m:r>
                                    <a:rPr lang="en-US" altLang="zh-CN" sz="900" i="1">
                                      <a:latin typeface="Cambria Math" panose="02040503050406030204" pitchFamily="18" charset="0"/>
                                    </a:rPr>
                                    <m:t>2</m:t>
                                  </m:r>
                                </m:sup>
                              </m:sSubSup>
                            </m:den>
                          </m:f>
                        </m:e>
                      </m:eqArr>
                    </m:oMath>
                  </m:oMathPara>
                </a14:m>
                <a:endParaRPr lang="zh-CN" altLang="zh-CN" sz="900" dirty="0"/>
              </a:p>
              <a:p>
                <a:pPr algn="ctr"/>
                <a:endParaRPr lang="zh-CN" altLang="en-US" sz="900" b="1" dirty="0"/>
              </a:p>
            </p:txBody>
          </p:sp>
        </mc:Choice>
        <mc:Fallback xmlns="">
          <p:sp>
            <p:nvSpPr>
              <p:cNvPr id="53" name="文本框 52">
                <a:extLst>
                  <a:ext uri="{FF2B5EF4-FFF2-40B4-BE49-F238E27FC236}">
                    <a16:creationId xmlns:a16="http://schemas.microsoft.com/office/drawing/2014/main" id="{25116EF6-F9F0-D052-E53A-62E7516B1D2F}"/>
                  </a:ext>
                </a:extLst>
              </p:cNvPr>
              <p:cNvSpPr txBox="1">
                <a:spLocks noRot="1" noChangeAspect="1" noMove="1" noResize="1" noEditPoints="1" noAdjustHandles="1" noChangeArrowheads="1" noChangeShapeType="1" noTextEdit="1"/>
              </p:cNvSpPr>
              <p:nvPr/>
            </p:nvSpPr>
            <p:spPr>
              <a:xfrm>
                <a:off x="8115296" y="4682328"/>
                <a:ext cx="3671190" cy="967444"/>
              </a:xfrm>
              <a:prstGeom prst="rect">
                <a:avLst/>
              </a:prstGeom>
              <a:blipFill>
                <a:blip r:embed="rId6"/>
                <a:stretch>
                  <a:fillRect/>
                </a:stretch>
              </a:blipFill>
            </p:spPr>
            <p:txBody>
              <a:bodyPr/>
              <a:lstStyle/>
              <a:p>
                <a:r>
                  <a:rPr lang="zh-CN" altLang="en-US">
                    <a:noFill/>
                  </a:rPr>
                  <a:t> </a:t>
                </a:r>
              </a:p>
            </p:txBody>
          </p:sp>
        </mc:Fallback>
      </mc:AlternateContent>
      <p:sp>
        <p:nvSpPr>
          <p:cNvPr id="62" name="矩形: 圆角 61">
            <a:extLst>
              <a:ext uri="{FF2B5EF4-FFF2-40B4-BE49-F238E27FC236}">
                <a16:creationId xmlns:a16="http://schemas.microsoft.com/office/drawing/2014/main" id="{DDFE0D5B-28B7-A8DB-A15E-71B56EBCEF56}"/>
              </a:ext>
            </a:extLst>
          </p:cNvPr>
          <p:cNvSpPr/>
          <p:nvPr/>
        </p:nvSpPr>
        <p:spPr>
          <a:xfrm rot="10800000" flipV="1">
            <a:off x="325444" y="6309359"/>
            <a:ext cx="5074853" cy="476913"/>
          </a:xfrm>
          <a:prstGeom prst="roundRect">
            <a:avLst>
              <a:gd name="adj" fmla="val 12755"/>
            </a:avLst>
          </a:prstGeom>
          <a:solidFill>
            <a:schemeClr val="accent2">
              <a:lumMod val="75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t>大模型驱动的晶圆缺陷判别与生成指导机制</a:t>
            </a:r>
            <a:endParaRPr lang="zh-CN" altLang="zh-CN" sz="1600" b="1" dirty="0"/>
          </a:p>
        </p:txBody>
      </p:sp>
      <p:sp>
        <p:nvSpPr>
          <p:cNvPr id="63" name="矩形: 圆角 62">
            <a:extLst>
              <a:ext uri="{FF2B5EF4-FFF2-40B4-BE49-F238E27FC236}">
                <a16:creationId xmlns:a16="http://schemas.microsoft.com/office/drawing/2014/main" id="{56D2339F-2FE4-A338-6891-4CC4388F008E}"/>
              </a:ext>
            </a:extLst>
          </p:cNvPr>
          <p:cNvSpPr/>
          <p:nvPr/>
        </p:nvSpPr>
        <p:spPr>
          <a:xfrm rot="10800000">
            <a:off x="325444" y="3964382"/>
            <a:ext cx="5074855" cy="2245918"/>
          </a:xfrm>
          <a:prstGeom prst="roundRect">
            <a:avLst>
              <a:gd name="adj" fmla="val 12755"/>
            </a:avLst>
          </a:prstGeom>
          <a:noFill/>
          <a:ln w="28575">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zh-CN" sz="1600" dirty="0"/>
          </a:p>
        </p:txBody>
      </p:sp>
      <p:sp>
        <p:nvSpPr>
          <p:cNvPr id="71" name="箭头: 右 70">
            <a:extLst>
              <a:ext uri="{FF2B5EF4-FFF2-40B4-BE49-F238E27FC236}">
                <a16:creationId xmlns:a16="http://schemas.microsoft.com/office/drawing/2014/main" id="{17187BDB-4834-0A24-D273-F246B90D05FA}"/>
              </a:ext>
            </a:extLst>
          </p:cNvPr>
          <p:cNvSpPr/>
          <p:nvPr/>
        </p:nvSpPr>
        <p:spPr>
          <a:xfrm>
            <a:off x="3557611" y="2124040"/>
            <a:ext cx="63360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直角双向 71">
            <a:extLst>
              <a:ext uri="{FF2B5EF4-FFF2-40B4-BE49-F238E27FC236}">
                <a16:creationId xmlns:a16="http://schemas.microsoft.com/office/drawing/2014/main" id="{D7EDBB5F-FECB-3865-33C0-3682B57AC049}"/>
              </a:ext>
            </a:extLst>
          </p:cNvPr>
          <p:cNvSpPr/>
          <p:nvPr/>
        </p:nvSpPr>
        <p:spPr>
          <a:xfrm rot="5400000">
            <a:off x="109843" y="4226824"/>
            <a:ext cx="1564662" cy="778052"/>
          </a:xfrm>
          <a:prstGeom prst="leftUpArrow">
            <a:avLst/>
          </a:prstGeom>
          <a:solidFill>
            <a:srgbClr val="FFD9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a:extLst>
              <a:ext uri="{FF2B5EF4-FFF2-40B4-BE49-F238E27FC236}">
                <a16:creationId xmlns:a16="http://schemas.microsoft.com/office/drawing/2014/main" id="{30076CD5-A1C2-8087-3802-8179094A0DD8}"/>
              </a:ext>
            </a:extLst>
          </p:cNvPr>
          <p:cNvSpPr/>
          <p:nvPr/>
        </p:nvSpPr>
        <p:spPr>
          <a:xfrm>
            <a:off x="1440480" y="4040856"/>
            <a:ext cx="3653551" cy="553865"/>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600" b="1" dirty="0"/>
              <a:t>缺失模态补全</a:t>
            </a:r>
            <a:endParaRPr lang="en-US" altLang="zh-CN" sz="1600" b="1" dirty="0"/>
          </a:p>
          <a:p>
            <a:pPr algn="ctr"/>
            <a:r>
              <a:rPr lang="zh-CN" altLang="en-US" sz="1600" b="1" dirty="0"/>
              <a:t>上层生成模型参数反馈</a:t>
            </a:r>
            <a:endParaRPr lang="zh-CN" altLang="en-US" sz="1600" dirty="0"/>
          </a:p>
        </p:txBody>
      </p:sp>
      <p:sp>
        <p:nvSpPr>
          <p:cNvPr id="80" name="文本框 79">
            <a:extLst>
              <a:ext uri="{FF2B5EF4-FFF2-40B4-BE49-F238E27FC236}">
                <a16:creationId xmlns:a16="http://schemas.microsoft.com/office/drawing/2014/main" id="{8E36AF3B-682A-8FB9-CDC6-B2B49AEAAC32}"/>
              </a:ext>
            </a:extLst>
          </p:cNvPr>
          <p:cNvSpPr txBox="1"/>
          <p:nvPr/>
        </p:nvSpPr>
        <p:spPr>
          <a:xfrm>
            <a:off x="315676" y="5451927"/>
            <a:ext cx="1124804" cy="584775"/>
          </a:xfrm>
          <a:prstGeom prst="rect">
            <a:avLst/>
          </a:prstGeom>
          <a:noFill/>
        </p:spPr>
        <p:txBody>
          <a:bodyPr wrap="square" rtlCol="0">
            <a:spAutoFit/>
          </a:bodyPr>
          <a:lstStyle/>
          <a:p>
            <a:pPr algn="ctr"/>
            <a:r>
              <a:rPr lang="zh-CN" altLang="en-US" sz="1600" b="1" dirty="0"/>
              <a:t>构建</a:t>
            </a:r>
            <a:endParaRPr lang="en-US" altLang="zh-CN" sz="1600" b="1" dirty="0"/>
          </a:p>
          <a:p>
            <a:pPr algn="ctr"/>
            <a:r>
              <a:rPr lang="zh-CN" altLang="en-US" sz="1600" b="1" dirty="0"/>
              <a:t>双向闭环</a:t>
            </a:r>
          </a:p>
        </p:txBody>
      </p:sp>
      <p:sp>
        <p:nvSpPr>
          <p:cNvPr id="7" name="矩形 6">
            <a:extLst>
              <a:ext uri="{FF2B5EF4-FFF2-40B4-BE49-F238E27FC236}">
                <a16:creationId xmlns:a16="http://schemas.microsoft.com/office/drawing/2014/main" id="{8E595FB1-F547-9149-A445-28C39CD30833}"/>
              </a:ext>
            </a:extLst>
          </p:cNvPr>
          <p:cNvSpPr/>
          <p:nvPr/>
        </p:nvSpPr>
        <p:spPr>
          <a:xfrm>
            <a:off x="1389889" y="814799"/>
            <a:ext cx="3928632" cy="828997"/>
          </a:xfrm>
          <a:prstGeom prst="rect">
            <a:avLst/>
          </a:prstGeom>
          <a:solidFill>
            <a:schemeClr val="accent5">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D5DBC39B-E9FA-F9F2-A811-5C81455D724E}"/>
              </a:ext>
            </a:extLst>
          </p:cNvPr>
          <p:cNvSpPr txBox="1"/>
          <p:nvPr/>
        </p:nvSpPr>
        <p:spPr>
          <a:xfrm>
            <a:off x="1422259" y="854524"/>
            <a:ext cx="3857303" cy="307777"/>
          </a:xfrm>
          <a:prstGeom prst="rect">
            <a:avLst/>
          </a:prstGeom>
          <a:solidFill>
            <a:schemeClr val="accent5">
              <a:lumMod val="75000"/>
            </a:schemeClr>
          </a:solidFill>
        </p:spPr>
        <p:txBody>
          <a:bodyPr wrap="square" rtlCol="0">
            <a:spAutoFit/>
          </a:bodyPr>
          <a:lstStyle/>
          <a:p>
            <a:pPr algn="ctr"/>
            <a:r>
              <a:rPr lang="zh-CN" altLang="en-US" sz="1400" b="1" dirty="0">
                <a:solidFill>
                  <a:schemeClr val="bg1"/>
                </a:solidFill>
              </a:rPr>
              <a:t>跨模态对比学习</a:t>
            </a:r>
            <a:endParaRPr lang="zh-CN" altLang="en-US" sz="1100" dirty="0">
              <a:solidFill>
                <a:schemeClr val="bg1"/>
              </a:solidFill>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977BCA0-4752-167F-1AEC-27970821F418}"/>
                  </a:ext>
                </a:extLst>
              </p:cNvPr>
              <p:cNvSpPr txBox="1"/>
              <p:nvPr/>
            </p:nvSpPr>
            <p:spPr>
              <a:xfrm>
                <a:off x="2224329" y="1153520"/>
                <a:ext cx="2306561" cy="4875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1100" i="1">
                              <a:latin typeface="Cambria Math" panose="02040503050406030204" pitchFamily="18" charset="0"/>
                            </a:rPr>
                          </m:ctrlPr>
                        </m:sSubPr>
                        <m:e>
                          <m:r>
                            <a:rPr lang="en-US" altLang="zh-CN" sz="1100" i="1">
                              <a:latin typeface="Cambria Math" panose="02040503050406030204" pitchFamily="18" charset="0"/>
                            </a:rPr>
                            <m:t>ℒ</m:t>
                          </m:r>
                        </m:e>
                        <m:sub>
                          <m:r>
                            <m:rPr>
                              <m:sty m:val="p"/>
                            </m:rPr>
                            <a:rPr lang="en-US" altLang="zh-CN" sz="1100">
                              <a:latin typeface="Cambria Math" panose="02040503050406030204" pitchFamily="18" charset="0"/>
                            </a:rPr>
                            <m:t>con</m:t>
                          </m:r>
                        </m:sub>
                      </m:sSub>
                      <m:r>
                        <a:rPr lang="en-US" altLang="zh-CN" sz="1100" i="1">
                          <a:latin typeface="Cambria Math" panose="02040503050406030204" pitchFamily="18" charset="0"/>
                        </a:rPr>
                        <m:t>=−</m:t>
                      </m:r>
                      <m:r>
                        <m:rPr>
                          <m:sty m:val="p"/>
                        </m:rPr>
                        <a:rPr lang="en-US" altLang="zh-CN" sz="1100">
                          <a:latin typeface="Cambria Math" panose="02040503050406030204" pitchFamily="18" charset="0"/>
                        </a:rPr>
                        <m:t>log</m:t>
                      </m:r>
                      <m:f>
                        <m:fPr>
                          <m:ctrlPr>
                            <a:rPr lang="zh-CN" altLang="zh-CN" sz="1100" i="1">
                              <a:latin typeface="Cambria Math" panose="02040503050406030204" pitchFamily="18" charset="0"/>
                            </a:rPr>
                          </m:ctrlPr>
                        </m:fPr>
                        <m:num>
                          <m:r>
                            <m:rPr>
                              <m:sty m:val="p"/>
                            </m:rPr>
                            <a:rPr lang="en-US" altLang="zh-CN" sz="1100">
                              <a:latin typeface="Cambria Math" panose="02040503050406030204" pitchFamily="18" charset="0"/>
                            </a:rPr>
                            <m:t>exp</m:t>
                          </m:r>
                          <m:r>
                            <a:rPr lang="en-US" altLang="zh-CN" sz="1100" i="1">
                              <a:latin typeface="Cambria Math" panose="02040503050406030204" pitchFamily="18" charset="0"/>
                            </a:rPr>
                            <m:t>(</m:t>
                          </m:r>
                          <m:sSup>
                            <m:sSupPr>
                              <m:ctrlPr>
                                <a:rPr lang="zh-CN" altLang="zh-CN" sz="1100" i="1">
                                  <a:latin typeface="Cambria Math" panose="02040503050406030204" pitchFamily="18" charset="0"/>
                                </a:rPr>
                              </m:ctrlPr>
                            </m:sSupPr>
                            <m:e>
                              <m:r>
                                <a:rPr lang="en-US" altLang="zh-CN" sz="1100" i="1">
                                  <a:latin typeface="Cambria Math" panose="02040503050406030204" pitchFamily="18" charset="0"/>
                                </a:rPr>
                                <m:t>𝑠</m:t>
                              </m:r>
                            </m:e>
                            <m:sup>
                              <m:r>
                                <a:rPr lang="en-US" altLang="zh-CN" sz="1100" i="1">
                                  <a:latin typeface="Cambria Math" panose="02040503050406030204" pitchFamily="18" charset="0"/>
                                </a:rPr>
                                <m:t>+</m:t>
                              </m:r>
                            </m:sup>
                          </m:sSup>
                          <m:r>
                            <a:rPr lang="en-US" altLang="zh-CN" sz="1100" i="1">
                              <a:latin typeface="Cambria Math" panose="02040503050406030204" pitchFamily="18" charset="0"/>
                            </a:rPr>
                            <m:t>/</m:t>
                          </m:r>
                          <m:r>
                            <a:rPr lang="en-US" altLang="zh-CN" sz="1100" i="1">
                              <a:latin typeface="Cambria Math" panose="02040503050406030204" pitchFamily="18" charset="0"/>
                            </a:rPr>
                            <m:t>𝜏</m:t>
                          </m:r>
                          <m:r>
                            <a:rPr lang="en-US" altLang="zh-CN" sz="1100" i="1">
                              <a:latin typeface="Cambria Math" panose="02040503050406030204" pitchFamily="18" charset="0"/>
                            </a:rPr>
                            <m:t>)</m:t>
                          </m:r>
                        </m:num>
                        <m:den>
                          <m:nary>
                            <m:naryPr>
                              <m:chr m:val="∑"/>
                              <m:limLoc m:val="undOvr"/>
                              <m:grow m:val="on"/>
                              <m:supHide m:val="on"/>
                              <m:ctrlPr>
                                <a:rPr lang="zh-CN" altLang="zh-CN" sz="1100" i="1">
                                  <a:latin typeface="Cambria Math" panose="02040503050406030204" pitchFamily="18" charset="0"/>
                                </a:rPr>
                              </m:ctrlPr>
                            </m:naryPr>
                            <m:sub>
                              <m:r>
                                <a:rPr lang="en-US" altLang="zh-CN" sz="1100" i="1">
                                  <a:latin typeface="Cambria Math" panose="02040503050406030204" pitchFamily="18" charset="0"/>
                                </a:rPr>
                                <m:t>𝑗</m:t>
                              </m:r>
                            </m:sub>
                            <m:sup/>
                            <m:e>
                              <m:r>
                                <a:rPr lang="en-US" altLang="zh-CN" sz="1100" i="1">
                                  <a:latin typeface="Cambria Math" panose="02040503050406030204" pitchFamily="18" charset="0"/>
                                </a:rPr>
                                <m:t> </m:t>
                              </m:r>
                            </m:e>
                          </m:nary>
                          <m:r>
                            <m:rPr>
                              <m:sty m:val="p"/>
                            </m:rPr>
                            <a:rPr lang="en-US" altLang="zh-CN" sz="1100">
                              <a:latin typeface="Cambria Math" panose="02040503050406030204" pitchFamily="18" charset="0"/>
                            </a:rPr>
                            <m:t>exp</m:t>
                          </m:r>
                          <m:r>
                            <a:rPr lang="en-US" altLang="zh-CN" sz="1100" i="1">
                              <a:latin typeface="Cambria Math" panose="02040503050406030204" pitchFamily="18" charset="0"/>
                            </a:rPr>
                            <m:t>(</m:t>
                          </m:r>
                          <m:sSub>
                            <m:sSubPr>
                              <m:ctrlPr>
                                <a:rPr lang="zh-CN" altLang="zh-CN" sz="1100" i="1">
                                  <a:latin typeface="Cambria Math" panose="02040503050406030204" pitchFamily="18" charset="0"/>
                                </a:rPr>
                              </m:ctrlPr>
                            </m:sSubPr>
                            <m:e>
                              <m:r>
                                <a:rPr lang="en-US" altLang="zh-CN" sz="1100" i="1">
                                  <a:latin typeface="Cambria Math" panose="02040503050406030204" pitchFamily="18" charset="0"/>
                                </a:rPr>
                                <m:t>𝑠</m:t>
                              </m:r>
                            </m:e>
                            <m:sub>
                              <m:r>
                                <a:rPr lang="en-US" altLang="zh-CN" sz="1100" i="1">
                                  <a:latin typeface="Cambria Math" panose="02040503050406030204" pitchFamily="18" charset="0"/>
                                </a:rPr>
                                <m:t>𝑗</m:t>
                              </m:r>
                            </m:sub>
                          </m:sSub>
                          <m:r>
                            <a:rPr lang="en-US" altLang="zh-CN" sz="1100" i="1">
                              <a:latin typeface="Cambria Math" panose="02040503050406030204" pitchFamily="18" charset="0"/>
                            </a:rPr>
                            <m:t>/</m:t>
                          </m:r>
                          <m:r>
                            <a:rPr lang="en-US" altLang="zh-CN" sz="1100" i="1">
                              <a:latin typeface="Cambria Math" panose="02040503050406030204" pitchFamily="18" charset="0"/>
                            </a:rPr>
                            <m:t>𝜏</m:t>
                          </m:r>
                          <m:r>
                            <a:rPr lang="en-US" altLang="zh-CN" sz="1100" i="1">
                              <a:latin typeface="Cambria Math" panose="02040503050406030204" pitchFamily="18" charset="0"/>
                            </a:rPr>
                            <m:t>)</m:t>
                          </m:r>
                        </m:den>
                      </m:f>
                    </m:oMath>
                  </m:oMathPara>
                </a14:m>
                <a:endParaRPr lang="zh-CN" altLang="zh-CN" sz="1100" dirty="0"/>
              </a:p>
            </p:txBody>
          </p:sp>
        </mc:Choice>
        <mc:Fallback xmlns="">
          <p:sp>
            <p:nvSpPr>
              <p:cNvPr id="17" name="文本框 16">
                <a:extLst>
                  <a:ext uri="{FF2B5EF4-FFF2-40B4-BE49-F238E27FC236}">
                    <a16:creationId xmlns:a16="http://schemas.microsoft.com/office/drawing/2014/main" id="{8977BCA0-4752-167F-1AEC-27970821F418}"/>
                  </a:ext>
                </a:extLst>
              </p:cNvPr>
              <p:cNvSpPr txBox="1">
                <a:spLocks noRot="1" noChangeAspect="1" noMove="1" noResize="1" noEditPoints="1" noAdjustHandles="1" noChangeArrowheads="1" noChangeShapeType="1" noTextEdit="1"/>
              </p:cNvSpPr>
              <p:nvPr/>
            </p:nvSpPr>
            <p:spPr>
              <a:xfrm>
                <a:off x="2224329" y="1153520"/>
                <a:ext cx="2306561" cy="487506"/>
              </a:xfrm>
              <a:prstGeom prst="rect">
                <a:avLst/>
              </a:prstGeom>
              <a:blipFill>
                <a:blip r:embed="rId7"/>
                <a:stretch>
                  <a:fillRect t="-10000" b="-75000"/>
                </a:stretch>
              </a:blipFill>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6F1DCEA3-2E1C-0582-28D8-8AB6198CA171}"/>
              </a:ext>
            </a:extLst>
          </p:cNvPr>
          <p:cNvSpPr/>
          <p:nvPr/>
        </p:nvSpPr>
        <p:spPr>
          <a:xfrm>
            <a:off x="1384459" y="1890929"/>
            <a:ext cx="3934061" cy="697063"/>
          </a:xfrm>
          <a:prstGeom prst="rect">
            <a:avLst/>
          </a:prstGeom>
          <a:solidFill>
            <a:schemeClr val="accent5">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25320B91-C9FE-1BA6-816B-A4DD520F2D91}"/>
              </a:ext>
            </a:extLst>
          </p:cNvPr>
          <p:cNvSpPr txBox="1"/>
          <p:nvPr/>
        </p:nvSpPr>
        <p:spPr>
          <a:xfrm>
            <a:off x="1422259" y="1930654"/>
            <a:ext cx="3857303" cy="307777"/>
          </a:xfrm>
          <a:prstGeom prst="rect">
            <a:avLst/>
          </a:prstGeom>
          <a:solidFill>
            <a:schemeClr val="accent5">
              <a:lumMod val="75000"/>
            </a:schemeClr>
          </a:solidFill>
        </p:spPr>
        <p:txBody>
          <a:bodyPr wrap="square" rtlCol="0">
            <a:spAutoFit/>
          </a:bodyPr>
          <a:lstStyle/>
          <a:p>
            <a:pPr algn="ctr"/>
            <a:r>
              <a:rPr lang="zh-CN" altLang="en-US" sz="1400" b="1" dirty="0">
                <a:solidFill>
                  <a:schemeClr val="bg1"/>
                </a:solidFill>
              </a:rPr>
              <a:t>自监督掩码重构</a:t>
            </a:r>
            <a:endParaRPr lang="zh-CN" altLang="en-US" sz="1100" dirty="0">
              <a:solidFill>
                <a:schemeClr val="bg1"/>
              </a:solidFill>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D9B509B0-CF13-9E73-F822-593F161A9500}"/>
                  </a:ext>
                </a:extLst>
              </p:cNvPr>
              <p:cNvSpPr txBox="1"/>
              <p:nvPr/>
            </p:nvSpPr>
            <p:spPr>
              <a:xfrm>
                <a:off x="2527410" y="2241487"/>
                <a:ext cx="1710300" cy="3465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ℒ</m:t>
                          </m:r>
                        </m:e>
                        <m:sub>
                          <m:r>
                            <m:rPr>
                              <m:sty m:val="p"/>
                            </m:rPr>
                            <a:rPr lang="en-US" altLang="zh-CN" sz="1200">
                              <a:latin typeface="Cambria Math" panose="02040503050406030204" pitchFamily="18" charset="0"/>
                            </a:rPr>
                            <m:t>rec</m:t>
                          </m:r>
                        </m:sub>
                      </m:sSub>
                      <m:r>
                        <a:rPr lang="en-US" altLang="zh-CN" sz="1200" i="1">
                          <a:latin typeface="Cambria Math" panose="02040503050406030204" pitchFamily="18" charset="0"/>
                        </a:rPr>
                        <m:t>=∥</m:t>
                      </m:r>
                      <m:sSubSup>
                        <m:sSubSupPr>
                          <m:ctrlPr>
                            <a:rPr lang="zh-CN" altLang="zh-CN" sz="1200" i="1">
                              <a:latin typeface="Cambria Math" panose="02040503050406030204" pitchFamily="18" charset="0"/>
                            </a:rPr>
                          </m:ctrlPr>
                        </m:sSubSupPr>
                        <m:e>
                          <m:r>
                            <a:rPr lang="en-US" altLang="zh-CN" sz="1200" i="1">
                              <a:latin typeface="Cambria Math" panose="02040503050406030204" pitchFamily="18" charset="0"/>
                            </a:rPr>
                            <m:t>𝑉</m:t>
                          </m:r>
                        </m:e>
                        <m:sub>
                          <m:r>
                            <m:rPr>
                              <m:sty m:val="p"/>
                            </m:rPr>
                            <a:rPr lang="en-US" altLang="zh-CN" sz="1200">
                              <a:latin typeface="Cambria Math" panose="02040503050406030204" pitchFamily="18" charset="0"/>
                            </a:rPr>
                            <m:t>img</m:t>
                          </m:r>
                        </m:sub>
                        <m:sup>
                          <m:r>
                            <a:rPr lang="en-US" altLang="zh-CN" sz="1200" i="1">
                              <a:latin typeface="Cambria Math" panose="02040503050406030204" pitchFamily="18" charset="0"/>
                            </a:rPr>
                            <m:t>𝑐𝑙𝑖𝑝</m:t>
                          </m:r>
                        </m:sup>
                      </m:sSubSup>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𝑉</m:t>
                              </m:r>
                            </m:e>
                          </m:acc>
                        </m:e>
                        <m:sub>
                          <m:r>
                            <m:rPr>
                              <m:sty m:val="p"/>
                            </m:rPr>
                            <a:rPr lang="en-US" altLang="zh-CN" sz="1200">
                              <a:latin typeface="Cambria Math" panose="02040503050406030204" pitchFamily="18" charset="0"/>
                            </a:rPr>
                            <m:t>img</m:t>
                          </m:r>
                        </m:sub>
                      </m:sSub>
                      <m:sSubSup>
                        <m:sSubSupPr>
                          <m:ctrlPr>
                            <a:rPr lang="zh-CN" altLang="zh-CN" sz="1200" i="1">
                              <a:latin typeface="Cambria Math" panose="02040503050406030204" pitchFamily="18" charset="0"/>
                            </a:rPr>
                          </m:ctrlPr>
                        </m:sSubSupPr>
                        <m:e>
                          <m:r>
                            <a:rPr lang="en-US" altLang="zh-CN" sz="1200" i="1">
                              <a:latin typeface="Cambria Math" panose="02040503050406030204" pitchFamily="18" charset="0"/>
                            </a:rPr>
                            <m:t>∥</m:t>
                          </m:r>
                        </m:e>
                        <m:sub>
                          <m:r>
                            <a:rPr lang="en-US" altLang="zh-CN" sz="1200" i="1">
                              <a:latin typeface="Cambria Math" panose="02040503050406030204" pitchFamily="18" charset="0"/>
                            </a:rPr>
                            <m:t>2</m:t>
                          </m:r>
                        </m:sub>
                        <m:sup>
                          <m:r>
                            <a:rPr lang="en-US" altLang="zh-CN" sz="1200" i="1">
                              <a:latin typeface="Cambria Math" panose="02040503050406030204" pitchFamily="18" charset="0"/>
                            </a:rPr>
                            <m:t>2</m:t>
                          </m:r>
                        </m:sup>
                      </m:sSubSup>
                    </m:oMath>
                  </m:oMathPara>
                </a14:m>
                <a:endParaRPr lang="zh-CN" altLang="zh-CN" dirty="0"/>
              </a:p>
            </p:txBody>
          </p:sp>
        </mc:Choice>
        <mc:Fallback xmlns="">
          <p:sp>
            <p:nvSpPr>
              <p:cNvPr id="26" name="文本框 25">
                <a:extLst>
                  <a:ext uri="{FF2B5EF4-FFF2-40B4-BE49-F238E27FC236}">
                    <a16:creationId xmlns:a16="http://schemas.microsoft.com/office/drawing/2014/main" id="{D9B509B0-CF13-9E73-F822-593F161A9500}"/>
                  </a:ext>
                </a:extLst>
              </p:cNvPr>
              <p:cNvSpPr txBox="1">
                <a:spLocks noRot="1" noChangeAspect="1" noMove="1" noResize="1" noEditPoints="1" noAdjustHandles="1" noChangeArrowheads="1" noChangeShapeType="1" noTextEdit="1"/>
              </p:cNvSpPr>
              <p:nvPr/>
            </p:nvSpPr>
            <p:spPr>
              <a:xfrm>
                <a:off x="2527410" y="2241487"/>
                <a:ext cx="1710300" cy="346505"/>
              </a:xfrm>
              <a:prstGeom prst="rect">
                <a:avLst/>
              </a:prstGeom>
              <a:blipFill>
                <a:blip r:embed="rId8"/>
                <a:stretch>
                  <a:fillRect b="-1754"/>
                </a:stretch>
              </a:blipFill>
            </p:spPr>
            <p:txBody>
              <a:bodyPr/>
              <a:lstStyle/>
              <a:p>
                <a:r>
                  <a:rPr lang="zh-CN" altLang="en-US">
                    <a:noFill/>
                  </a:rPr>
                  <a:t> </a:t>
                </a:r>
              </a:p>
            </p:txBody>
          </p:sp>
        </mc:Fallback>
      </mc:AlternateContent>
      <p:sp>
        <p:nvSpPr>
          <p:cNvPr id="9" name="箭头: 右 8">
            <a:extLst>
              <a:ext uri="{FF2B5EF4-FFF2-40B4-BE49-F238E27FC236}">
                <a16:creationId xmlns:a16="http://schemas.microsoft.com/office/drawing/2014/main" id="{A9E9EF8F-707C-A538-4D67-982076844EE1}"/>
              </a:ext>
            </a:extLst>
          </p:cNvPr>
          <p:cNvSpPr/>
          <p:nvPr/>
        </p:nvSpPr>
        <p:spPr>
          <a:xfrm>
            <a:off x="1038710" y="1974780"/>
            <a:ext cx="345749"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右 27">
            <a:extLst>
              <a:ext uri="{FF2B5EF4-FFF2-40B4-BE49-F238E27FC236}">
                <a16:creationId xmlns:a16="http://schemas.microsoft.com/office/drawing/2014/main" id="{67BBE352-C0B6-2B83-46B6-D5AF0B042DA6}"/>
              </a:ext>
            </a:extLst>
          </p:cNvPr>
          <p:cNvSpPr/>
          <p:nvPr/>
        </p:nvSpPr>
        <p:spPr>
          <a:xfrm>
            <a:off x="3557611" y="3111330"/>
            <a:ext cx="63360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63B9621C-FCF4-420F-F7A3-2A5843EE7C06}"/>
              </a:ext>
            </a:extLst>
          </p:cNvPr>
          <p:cNvSpPr/>
          <p:nvPr/>
        </p:nvSpPr>
        <p:spPr>
          <a:xfrm>
            <a:off x="1383614" y="2879559"/>
            <a:ext cx="3934061" cy="697063"/>
          </a:xfrm>
          <a:prstGeom prst="rect">
            <a:avLst/>
          </a:prstGeom>
          <a:solidFill>
            <a:schemeClr val="accent5">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07B5CF2C-7C0E-3548-48E8-01C9ABE189A0}"/>
              </a:ext>
            </a:extLst>
          </p:cNvPr>
          <p:cNvSpPr txBox="1"/>
          <p:nvPr/>
        </p:nvSpPr>
        <p:spPr>
          <a:xfrm>
            <a:off x="1422259" y="2917944"/>
            <a:ext cx="3857303" cy="307777"/>
          </a:xfrm>
          <a:prstGeom prst="rect">
            <a:avLst/>
          </a:prstGeom>
          <a:solidFill>
            <a:schemeClr val="accent5">
              <a:lumMod val="75000"/>
            </a:schemeClr>
          </a:solidFill>
        </p:spPr>
        <p:txBody>
          <a:bodyPr wrap="square" rtlCol="0">
            <a:spAutoFit/>
          </a:bodyPr>
          <a:lstStyle/>
          <a:p>
            <a:pPr algn="ctr"/>
            <a:r>
              <a:rPr lang="zh-CN" altLang="en-US" sz="1400" b="1" dirty="0">
                <a:solidFill>
                  <a:schemeClr val="bg1"/>
                </a:solidFill>
              </a:rPr>
              <a:t>分布建模特征边界</a:t>
            </a:r>
            <a:endParaRPr lang="zh-CN" altLang="en-US" sz="1100" dirty="0">
              <a:solidFill>
                <a:schemeClr val="bg1"/>
              </a:solidFill>
            </a:endParaRP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47615797-24BE-0137-C84A-58F1D4CC5AF0}"/>
                  </a:ext>
                </a:extLst>
              </p:cNvPr>
              <p:cNvSpPr txBox="1"/>
              <p:nvPr/>
            </p:nvSpPr>
            <p:spPr>
              <a:xfrm>
                <a:off x="2071029" y="3241652"/>
                <a:ext cx="2661502" cy="4658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rPr>
                        <m:t>𝐷</m:t>
                      </m:r>
                      <m:r>
                        <a:rPr lang="en-US" altLang="zh-CN" sz="1200" i="1">
                          <a:latin typeface="Cambria Math" panose="02040503050406030204" pitchFamily="18" charset="0"/>
                        </a:rPr>
                        <m:t>(</m:t>
                      </m:r>
                      <m:r>
                        <a:rPr lang="en-US" altLang="zh-CN" sz="1200" i="1">
                          <a:latin typeface="Cambria Math" panose="02040503050406030204" pitchFamily="18" charset="0"/>
                        </a:rPr>
                        <m:t>𝑥</m:t>
                      </m:r>
                      <m:r>
                        <a:rPr lang="en-US" altLang="zh-CN" sz="1200" i="1">
                          <a:latin typeface="Cambria Math" panose="02040503050406030204" pitchFamily="18" charset="0"/>
                        </a:rPr>
                        <m:t>)=(</m:t>
                      </m:r>
                      <m:r>
                        <a:rPr lang="en-US" altLang="zh-CN" sz="1200" i="1">
                          <a:latin typeface="Cambria Math" panose="02040503050406030204" pitchFamily="18" charset="0"/>
                        </a:rPr>
                        <m:t>𝑓</m:t>
                      </m:r>
                      <m:r>
                        <a:rPr lang="en-US" altLang="zh-CN" sz="1200" i="1">
                          <a:latin typeface="Cambria Math" panose="02040503050406030204" pitchFamily="18" charset="0"/>
                        </a:rPr>
                        <m:t>(</m:t>
                      </m:r>
                      <m:r>
                        <a:rPr lang="en-US" altLang="zh-CN" sz="1200" i="1">
                          <a:latin typeface="Cambria Math" panose="02040503050406030204" pitchFamily="18" charset="0"/>
                        </a:rPr>
                        <m:t>𝑥</m:t>
                      </m:r>
                      <m:r>
                        <a:rPr lang="en-US" altLang="zh-CN" sz="1200" i="1">
                          <a:latin typeface="Cambria Math" panose="02040503050406030204" pitchFamily="18" charset="0"/>
                        </a:rPr>
                        <m:t>)−</m:t>
                      </m:r>
                      <m:r>
                        <a:rPr lang="en-US" altLang="zh-CN" sz="1200" i="1">
                          <a:latin typeface="Cambria Math" panose="02040503050406030204" pitchFamily="18" charset="0"/>
                        </a:rPr>
                        <m:t>𝜇</m:t>
                      </m:r>
                      <m:sSup>
                        <m:sSupPr>
                          <m:ctrlPr>
                            <a:rPr lang="zh-CN" altLang="zh-CN" sz="1200" i="1">
                              <a:latin typeface="Cambria Math" panose="02040503050406030204" pitchFamily="18" charset="0"/>
                            </a:rPr>
                          </m:ctrlPr>
                        </m:sSupPr>
                        <m:e>
                          <m:r>
                            <a:rPr lang="en-US" altLang="zh-CN" sz="1200" i="1">
                              <a:latin typeface="Cambria Math" panose="02040503050406030204" pitchFamily="18" charset="0"/>
                            </a:rPr>
                            <m:t>)</m:t>
                          </m:r>
                        </m:e>
                        <m:sup>
                          <m:r>
                            <a:rPr lang="en-US" altLang="zh-CN" sz="1200">
                              <a:latin typeface="Cambria Math" panose="02040503050406030204" pitchFamily="18" charset="0"/>
                            </a:rPr>
                            <m:t>⊤</m:t>
                          </m:r>
                        </m:sup>
                      </m:sSup>
                      <m:sSup>
                        <m:sSupPr>
                          <m:ctrlPr>
                            <a:rPr lang="zh-CN" altLang="zh-CN" sz="1200" i="1">
                              <a:latin typeface="Cambria Math" panose="02040503050406030204" pitchFamily="18" charset="0"/>
                            </a:rPr>
                          </m:ctrlPr>
                        </m:sSupPr>
                        <m:e>
                          <m:r>
                            <m:rPr>
                              <m:sty m:val="p"/>
                            </m:rPr>
                            <a:rPr lang="en-US" altLang="zh-CN" sz="1200">
                              <a:latin typeface="Cambria Math" panose="02040503050406030204" pitchFamily="18" charset="0"/>
                            </a:rPr>
                            <m:t>Σ</m:t>
                          </m:r>
                        </m:e>
                        <m:sup>
                          <m:r>
                            <a:rPr lang="en-US" altLang="zh-CN" sz="1200" i="1">
                              <a:latin typeface="Cambria Math" panose="02040503050406030204" pitchFamily="18" charset="0"/>
                            </a:rPr>
                            <m:t>−1</m:t>
                          </m:r>
                        </m:sup>
                      </m:sSup>
                      <m:r>
                        <a:rPr lang="en-US" altLang="zh-CN" sz="1200" i="1">
                          <a:latin typeface="Cambria Math" panose="02040503050406030204" pitchFamily="18" charset="0"/>
                        </a:rPr>
                        <m:t>(</m:t>
                      </m:r>
                      <m:r>
                        <a:rPr lang="en-US" altLang="zh-CN" sz="1200" i="1">
                          <a:latin typeface="Cambria Math" panose="02040503050406030204" pitchFamily="18" charset="0"/>
                        </a:rPr>
                        <m:t>𝑓</m:t>
                      </m:r>
                      <m:r>
                        <a:rPr lang="en-US" altLang="zh-CN" sz="1200" i="1">
                          <a:latin typeface="Cambria Math" panose="02040503050406030204" pitchFamily="18" charset="0"/>
                        </a:rPr>
                        <m:t>(</m:t>
                      </m:r>
                      <m:r>
                        <a:rPr lang="en-US" altLang="zh-CN" sz="1200" i="1">
                          <a:latin typeface="Cambria Math" panose="02040503050406030204" pitchFamily="18" charset="0"/>
                        </a:rPr>
                        <m:t>𝑥</m:t>
                      </m:r>
                      <m:r>
                        <a:rPr lang="en-US" altLang="zh-CN" sz="1200" i="1">
                          <a:latin typeface="Cambria Math" panose="02040503050406030204" pitchFamily="18" charset="0"/>
                        </a:rPr>
                        <m:t>)−</m:t>
                      </m:r>
                      <m:r>
                        <a:rPr lang="en-US" altLang="zh-CN" sz="1200" i="1">
                          <a:latin typeface="Cambria Math" panose="02040503050406030204" pitchFamily="18" charset="0"/>
                        </a:rPr>
                        <m:t>𝜇</m:t>
                      </m:r>
                      <m:r>
                        <a:rPr lang="en-US" altLang="zh-CN" sz="1200" i="1">
                          <a:latin typeface="Cambria Math" panose="02040503050406030204" pitchFamily="18" charset="0"/>
                        </a:rPr>
                        <m:t>)</m:t>
                      </m:r>
                    </m:oMath>
                  </m:oMathPara>
                </a14:m>
                <a:endParaRPr lang="zh-CN" altLang="zh-CN" sz="1200" dirty="0"/>
              </a:p>
              <a:p>
                <a:endParaRPr lang="zh-CN" altLang="zh-CN" sz="1200" dirty="0"/>
              </a:p>
            </p:txBody>
          </p:sp>
        </mc:Choice>
        <mc:Fallback xmlns="">
          <p:sp>
            <p:nvSpPr>
              <p:cNvPr id="33" name="文本框 32">
                <a:extLst>
                  <a:ext uri="{FF2B5EF4-FFF2-40B4-BE49-F238E27FC236}">
                    <a16:creationId xmlns:a16="http://schemas.microsoft.com/office/drawing/2014/main" id="{47615797-24BE-0137-C84A-58F1D4CC5AF0}"/>
                  </a:ext>
                </a:extLst>
              </p:cNvPr>
              <p:cNvSpPr txBox="1">
                <a:spLocks noRot="1" noChangeAspect="1" noMove="1" noResize="1" noEditPoints="1" noAdjustHandles="1" noChangeArrowheads="1" noChangeShapeType="1" noTextEdit="1"/>
              </p:cNvSpPr>
              <p:nvPr/>
            </p:nvSpPr>
            <p:spPr>
              <a:xfrm>
                <a:off x="2071029" y="3241652"/>
                <a:ext cx="2661502" cy="465833"/>
              </a:xfrm>
              <a:prstGeom prst="rect">
                <a:avLst/>
              </a:prstGeom>
              <a:blipFill>
                <a:blip r:embed="rId9"/>
                <a:stretch>
                  <a:fillRect/>
                </a:stretch>
              </a:blipFill>
            </p:spPr>
            <p:txBody>
              <a:bodyPr/>
              <a:lstStyle/>
              <a:p>
                <a:r>
                  <a:rPr lang="zh-CN" altLang="en-US">
                    <a:noFill/>
                  </a:rPr>
                  <a:t> </a:t>
                </a:r>
              </a:p>
            </p:txBody>
          </p:sp>
        </mc:Fallback>
      </mc:AlternateContent>
      <p:sp>
        <p:nvSpPr>
          <p:cNvPr id="23" name="箭头: 右 22">
            <a:extLst>
              <a:ext uri="{FF2B5EF4-FFF2-40B4-BE49-F238E27FC236}">
                <a16:creationId xmlns:a16="http://schemas.microsoft.com/office/drawing/2014/main" id="{B375BBBC-0764-D820-8112-BB571857D312}"/>
              </a:ext>
            </a:extLst>
          </p:cNvPr>
          <p:cNvSpPr/>
          <p:nvPr/>
        </p:nvSpPr>
        <p:spPr>
          <a:xfrm rot="5400000">
            <a:off x="3206633" y="1633281"/>
            <a:ext cx="341955"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箭头: 右 36">
            <a:extLst>
              <a:ext uri="{FF2B5EF4-FFF2-40B4-BE49-F238E27FC236}">
                <a16:creationId xmlns:a16="http://schemas.microsoft.com/office/drawing/2014/main" id="{02F0457A-61B4-0928-4CC1-7FC2543ACB2F}"/>
              </a:ext>
            </a:extLst>
          </p:cNvPr>
          <p:cNvSpPr/>
          <p:nvPr/>
        </p:nvSpPr>
        <p:spPr>
          <a:xfrm rot="5400000">
            <a:off x="3211582" y="2587848"/>
            <a:ext cx="341955"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箭头: 右 69">
            <a:extLst>
              <a:ext uri="{FF2B5EF4-FFF2-40B4-BE49-F238E27FC236}">
                <a16:creationId xmlns:a16="http://schemas.microsoft.com/office/drawing/2014/main" id="{663CCF94-BA09-47E5-9C09-FAF962942415}"/>
              </a:ext>
            </a:extLst>
          </p:cNvPr>
          <p:cNvSpPr/>
          <p:nvPr/>
        </p:nvSpPr>
        <p:spPr>
          <a:xfrm>
            <a:off x="5416094" y="1683665"/>
            <a:ext cx="43751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8C7BF8C6-7725-52CB-84C1-9E875B1883C3}"/>
              </a:ext>
            </a:extLst>
          </p:cNvPr>
          <p:cNvSpPr txBox="1"/>
          <p:nvPr/>
        </p:nvSpPr>
        <p:spPr>
          <a:xfrm>
            <a:off x="8125013" y="5519989"/>
            <a:ext cx="3776358" cy="307777"/>
          </a:xfrm>
          <a:prstGeom prst="rect">
            <a:avLst/>
          </a:prstGeom>
          <a:solidFill>
            <a:schemeClr val="accent6">
              <a:lumMod val="75000"/>
            </a:schemeClr>
          </a:solidFill>
        </p:spPr>
        <p:txBody>
          <a:bodyPr wrap="square" rtlCol="0">
            <a:spAutoFit/>
          </a:bodyPr>
          <a:lstStyle/>
          <a:p>
            <a:pPr algn="ctr"/>
            <a:r>
              <a:rPr lang="zh-CN" altLang="en-US" sz="1400" b="1" dirty="0">
                <a:solidFill>
                  <a:schemeClr val="bg1"/>
                </a:solidFill>
              </a:rPr>
              <a:t>动态权重优化与模态适配</a:t>
            </a:r>
            <a:endParaRPr lang="zh-CN" altLang="en-US" sz="1100" dirty="0">
              <a:solidFill>
                <a:schemeClr val="bg1"/>
              </a:solidFill>
            </a:endParaRPr>
          </a:p>
        </p:txBody>
      </p:sp>
      <p:sp>
        <p:nvSpPr>
          <p:cNvPr id="54" name="矩形 53">
            <a:extLst>
              <a:ext uri="{FF2B5EF4-FFF2-40B4-BE49-F238E27FC236}">
                <a16:creationId xmlns:a16="http://schemas.microsoft.com/office/drawing/2014/main" id="{7CDE76A6-466F-544E-9393-45607C00C6BC}"/>
              </a:ext>
            </a:extLst>
          </p:cNvPr>
          <p:cNvSpPr/>
          <p:nvPr/>
        </p:nvSpPr>
        <p:spPr>
          <a:xfrm>
            <a:off x="8115296" y="4341941"/>
            <a:ext cx="3776358" cy="31473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rPr>
              <a:t>检测任务的微调</a:t>
            </a:r>
            <a:endParaRPr lang="zh-CN" altLang="en-US" sz="1100" dirty="0">
              <a:solidFill>
                <a:schemeClr val="bg1"/>
              </a:solidFill>
            </a:endParaRPr>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C4239D2B-DF5A-06A4-76FC-BFA4DC3C1DF4}"/>
                  </a:ext>
                </a:extLst>
              </p:cNvPr>
              <p:cNvSpPr txBox="1"/>
              <p:nvPr/>
            </p:nvSpPr>
            <p:spPr>
              <a:xfrm>
                <a:off x="8167097" y="5931049"/>
                <a:ext cx="3671190" cy="291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latin typeface="Cambria Math" panose="02040503050406030204" pitchFamily="18" charset="0"/>
                        </a:rPr>
                        <m:t>𝐿</m:t>
                      </m:r>
                      <m:r>
                        <a:rPr lang="zh-CN" altLang="en-US" sz="1200" i="0">
                          <a:latin typeface="Cambria Math" panose="02040503050406030204" pitchFamily="18" charset="0"/>
                        </a:rPr>
                        <m:t>=</m:t>
                      </m:r>
                      <m:r>
                        <a:rPr lang="zh-CN" altLang="en-US" sz="1200" i="1">
                          <a:latin typeface="Cambria Math" panose="02040503050406030204" pitchFamily="18" charset="0"/>
                        </a:rPr>
                        <m:t>𝛼</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𝑓𝑜𝑐𝑎𝑙</m:t>
                          </m:r>
                        </m:sub>
                      </m:sSub>
                      <m:r>
                        <a:rPr lang="zh-CN" altLang="en-US" sz="1200" i="0">
                          <a:latin typeface="Cambria Math" panose="02040503050406030204" pitchFamily="18" charset="0"/>
                        </a:rPr>
                        <m:t>+</m:t>
                      </m:r>
                      <m:r>
                        <a:rPr lang="zh-CN" altLang="en-US" sz="1200" i="1">
                          <a:latin typeface="Cambria Math" panose="02040503050406030204" pitchFamily="18" charset="0"/>
                        </a:rPr>
                        <m:t>𝛽</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𝑑𝑖𝑐𝑒</m:t>
                          </m:r>
                        </m:sub>
                      </m:sSub>
                      <m:r>
                        <a:rPr lang="zh-CN" altLang="en-US" sz="1200" i="0">
                          <a:latin typeface="Cambria Math" panose="02040503050406030204" pitchFamily="18" charset="0"/>
                        </a:rPr>
                        <m:t>+</m:t>
                      </m:r>
                      <m:r>
                        <a:rPr lang="zh-CN" altLang="en-US" sz="1200" i="1">
                          <a:latin typeface="Cambria Math" panose="02040503050406030204" pitchFamily="18" charset="0"/>
                        </a:rPr>
                        <m:t>𝛾</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𝑐𝑜𝑛</m:t>
                          </m:r>
                        </m:sub>
                      </m:sSub>
                      <m:r>
                        <a:rPr lang="zh-CN" altLang="en-US" sz="1200" i="0">
                          <a:latin typeface="Cambria Math" panose="02040503050406030204" pitchFamily="18" charset="0"/>
                        </a:rPr>
                        <m:t>+</m:t>
                      </m:r>
                      <m:r>
                        <a:rPr lang="zh-CN" altLang="en-US" sz="1200" i="1">
                          <a:latin typeface="Cambria Math" panose="02040503050406030204" pitchFamily="18" charset="0"/>
                        </a:rPr>
                        <m:t>𝛿</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𝑟𝑒𝑐</m:t>
                          </m:r>
                        </m:sub>
                      </m:sSub>
                    </m:oMath>
                  </m:oMathPara>
                </a14:m>
                <a:endParaRPr lang="zh-CN" altLang="en-US" sz="1200" dirty="0"/>
              </a:p>
            </p:txBody>
          </p:sp>
        </mc:Choice>
        <mc:Fallback xmlns="">
          <p:sp>
            <p:nvSpPr>
              <p:cNvPr id="56" name="文本框 55">
                <a:extLst>
                  <a:ext uri="{FF2B5EF4-FFF2-40B4-BE49-F238E27FC236}">
                    <a16:creationId xmlns:a16="http://schemas.microsoft.com/office/drawing/2014/main" id="{C4239D2B-DF5A-06A4-76FC-BFA4DC3C1DF4}"/>
                  </a:ext>
                </a:extLst>
              </p:cNvPr>
              <p:cNvSpPr txBox="1">
                <a:spLocks noRot="1" noChangeAspect="1" noMove="1" noResize="1" noEditPoints="1" noAdjustHandles="1" noChangeArrowheads="1" noChangeShapeType="1" noTextEdit="1"/>
              </p:cNvSpPr>
              <p:nvPr/>
            </p:nvSpPr>
            <p:spPr>
              <a:xfrm>
                <a:off x="8167097" y="5931049"/>
                <a:ext cx="3671190" cy="291811"/>
              </a:xfrm>
              <a:prstGeom prst="rect">
                <a:avLst/>
              </a:prstGeom>
              <a:blipFill>
                <a:blip r:embed="rId10"/>
                <a:stretch>
                  <a:fillRect b="-2083"/>
                </a:stretch>
              </a:blipFill>
            </p:spPr>
            <p:txBody>
              <a:bodyPr/>
              <a:lstStyle/>
              <a:p>
                <a:r>
                  <a:rPr lang="zh-CN" altLang="en-US">
                    <a:noFill/>
                  </a:rPr>
                  <a:t> </a:t>
                </a:r>
              </a:p>
            </p:txBody>
          </p:sp>
        </mc:Fallback>
      </mc:AlternateContent>
      <p:pic>
        <p:nvPicPr>
          <p:cNvPr id="58" name="图片 57">
            <a:extLst>
              <a:ext uri="{FF2B5EF4-FFF2-40B4-BE49-F238E27FC236}">
                <a16:creationId xmlns:a16="http://schemas.microsoft.com/office/drawing/2014/main" id="{F5ADDA2C-447C-1FF7-685E-D304C1E69B41}"/>
              </a:ext>
            </a:extLst>
          </p:cNvPr>
          <p:cNvPicPr>
            <a:picLocks noChangeAspect="1"/>
          </p:cNvPicPr>
          <p:nvPr/>
        </p:nvPicPr>
        <p:blipFill>
          <a:blip r:embed="rId11"/>
          <a:stretch>
            <a:fillRect/>
          </a:stretch>
        </p:blipFill>
        <p:spPr>
          <a:xfrm>
            <a:off x="1507215" y="5025787"/>
            <a:ext cx="709456" cy="712835"/>
          </a:xfrm>
          <a:prstGeom prst="rect">
            <a:avLst/>
          </a:prstGeom>
        </p:spPr>
      </p:pic>
      <p:pic>
        <p:nvPicPr>
          <p:cNvPr id="59" name="图片 58">
            <a:extLst>
              <a:ext uri="{FF2B5EF4-FFF2-40B4-BE49-F238E27FC236}">
                <a16:creationId xmlns:a16="http://schemas.microsoft.com/office/drawing/2014/main" id="{28F0BD9C-390C-89F5-FCB6-79AEC183BCFC}"/>
              </a:ext>
            </a:extLst>
          </p:cNvPr>
          <p:cNvPicPr>
            <a:picLocks noChangeAspect="1"/>
          </p:cNvPicPr>
          <p:nvPr/>
        </p:nvPicPr>
        <p:blipFill>
          <a:blip r:embed="rId11"/>
          <a:stretch>
            <a:fillRect/>
          </a:stretch>
        </p:blipFill>
        <p:spPr>
          <a:xfrm>
            <a:off x="1589216" y="4924914"/>
            <a:ext cx="709456" cy="712835"/>
          </a:xfrm>
          <a:prstGeom prst="rect">
            <a:avLst/>
          </a:prstGeom>
        </p:spPr>
      </p:pic>
      <p:pic>
        <p:nvPicPr>
          <p:cNvPr id="60" name="图片 59">
            <a:extLst>
              <a:ext uri="{FF2B5EF4-FFF2-40B4-BE49-F238E27FC236}">
                <a16:creationId xmlns:a16="http://schemas.microsoft.com/office/drawing/2014/main" id="{4CB3CE18-6C89-6D3C-393C-CFAB16ED64E0}"/>
              </a:ext>
            </a:extLst>
          </p:cNvPr>
          <p:cNvPicPr>
            <a:picLocks noChangeAspect="1"/>
          </p:cNvPicPr>
          <p:nvPr/>
        </p:nvPicPr>
        <p:blipFill>
          <a:blip r:embed="rId11"/>
          <a:stretch>
            <a:fillRect/>
          </a:stretch>
        </p:blipFill>
        <p:spPr>
          <a:xfrm>
            <a:off x="1716540" y="4820511"/>
            <a:ext cx="709456" cy="712835"/>
          </a:xfrm>
          <a:prstGeom prst="rect">
            <a:avLst/>
          </a:prstGeom>
        </p:spPr>
      </p:pic>
      <p:sp>
        <p:nvSpPr>
          <p:cNvPr id="61" name="加号 60">
            <a:extLst>
              <a:ext uri="{FF2B5EF4-FFF2-40B4-BE49-F238E27FC236}">
                <a16:creationId xmlns:a16="http://schemas.microsoft.com/office/drawing/2014/main" id="{01E62034-D4EC-8E85-7A94-25718FF52FC1}"/>
              </a:ext>
            </a:extLst>
          </p:cNvPr>
          <p:cNvSpPr/>
          <p:nvPr/>
        </p:nvSpPr>
        <p:spPr>
          <a:xfrm>
            <a:off x="2460230" y="5128681"/>
            <a:ext cx="343503" cy="308102"/>
          </a:xfrm>
          <a:prstGeom prst="math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加号 63">
            <a:extLst>
              <a:ext uri="{FF2B5EF4-FFF2-40B4-BE49-F238E27FC236}">
                <a16:creationId xmlns:a16="http://schemas.microsoft.com/office/drawing/2014/main" id="{F7647D97-C5DD-6FDD-2196-973D7582374C}"/>
              </a:ext>
            </a:extLst>
          </p:cNvPr>
          <p:cNvSpPr/>
          <p:nvPr/>
        </p:nvSpPr>
        <p:spPr>
          <a:xfrm>
            <a:off x="3872522" y="5128681"/>
            <a:ext cx="343503" cy="308102"/>
          </a:xfrm>
          <a:prstGeom prst="math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7FC6D258-686B-940C-0B36-152462E3C765}"/>
              </a:ext>
            </a:extLst>
          </p:cNvPr>
          <p:cNvSpPr txBox="1"/>
          <p:nvPr/>
        </p:nvSpPr>
        <p:spPr>
          <a:xfrm>
            <a:off x="1450247" y="5781605"/>
            <a:ext cx="1116242" cy="276999"/>
          </a:xfrm>
          <a:prstGeom prst="rect">
            <a:avLst/>
          </a:prstGeom>
          <a:noFill/>
        </p:spPr>
        <p:txBody>
          <a:bodyPr wrap="square" rtlCol="0">
            <a:spAutoFit/>
          </a:bodyPr>
          <a:lstStyle/>
          <a:p>
            <a:pPr algn="ctr"/>
            <a:r>
              <a:rPr lang="zh-CN" altLang="en-US" sz="1200" b="1" dirty="0"/>
              <a:t>缺陷数据补充</a:t>
            </a:r>
          </a:p>
        </p:txBody>
      </p:sp>
      <p:pic>
        <p:nvPicPr>
          <p:cNvPr id="67" name="图片 66" descr="形状&#10;&#10;AI 生成的内容可能不正确。">
            <a:extLst>
              <a:ext uri="{FF2B5EF4-FFF2-40B4-BE49-F238E27FC236}">
                <a16:creationId xmlns:a16="http://schemas.microsoft.com/office/drawing/2014/main" id="{F9F33552-3D6C-6AB0-5824-AB60FD6D5B6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888647" y="4836628"/>
            <a:ext cx="901994" cy="901994"/>
          </a:xfrm>
          <a:prstGeom prst="rect">
            <a:avLst/>
          </a:prstGeom>
        </p:spPr>
      </p:pic>
      <p:sp>
        <p:nvSpPr>
          <p:cNvPr id="68" name="文本框 67">
            <a:extLst>
              <a:ext uri="{FF2B5EF4-FFF2-40B4-BE49-F238E27FC236}">
                <a16:creationId xmlns:a16="http://schemas.microsoft.com/office/drawing/2014/main" id="{6BD616FB-3678-ED99-2EE2-F34199491C2B}"/>
              </a:ext>
            </a:extLst>
          </p:cNvPr>
          <p:cNvSpPr txBox="1"/>
          <p:nvPr/>
        </p:nvSpPr>
        <p:spPr>
          <a:xfrm>
            <a:off x="2779624" y="5781605"/>
            <a:ext cx="1116242" cy="276999"/>
          </a:xfrm>
          <a:prstGeom prst="rect">
            <a:avLst/>
          </a:prstGeom>
          <a:noFill/>
        </p:spPr>
        <p:txBody>
          <a:bodyPr wrap="square" rtlCol="0">
            <a:spAutoFit/>
          </a:bodyPr>
          <a:lstStyle/>
          <a:p>
            <a:pPr algn="ctr"/>
            <a:r>
              <a:rPr lang="zh-CN" altLang="en-US" sz="1200" b="1" dirty="0"/>
              <a:t>模型参数反馈</a:t>
            </a:r>
          </a:p>
        </p:txBody>
      </p:sp>
      <p:pic>
        <p:nvPicPr>
          <p:cNvPr id="73" name="图片 72" descr="形状&#10;&#10;AI 生成的内容可能不正确。">
            <a:extLst>
              <a:ext uri="{FF2B5EF4-FFF2-40B4-BE49-F238E27FC236}">
                <a16:creationId xmlns:a16="http://schemas.microsoft.com/office/drawing/2014/main" id="{D2CE8E59-A11B-98D9-B5F8-1184CA384AF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282802" y="4880652"/>
            <a:ext cx="827872" cy="827872"/>
          </a:xfrm>
          <a:prstGeom prst="rect">
            <a:avLst/>
          </a:prstGeom>
        </p:spPr>
      </p:pic>
      <p:sp>
        <p:nvSpPr>
          <p:cNvPr id="74" name="文本框 73">
            <a:extLst>
              <a:ext uri="{FF2B5EF4-FFF2-40B4-BE49-F238E27FC236}">
                <a16:creationId xmlns:a16="http://schemas.microsoft.com/office/drawing/2014/main" id="{4DA3965A-BEF6-105D-0525-4F4DBC605D00}"/>
              </a:ext>
            </a:extLst>
          </p:cNvPr>
          <p:cNvSpPr txBox="1"/>
          <p:nvPr/>
        </p:nvSpPr>
        <p:spPr>
          <a:xfrm>
            <a:off x="4044273" y="5762706"/>
            <a:ext cx="1316830" cy="276999"/>
          </a:xfrm>
          <a:prstGeom prst="rect">
            <a:avLst/>
          </a:prstGeom>
          <a:noFill/>
        </p:spPr>
        <p:txBody>
          <a:bodyPr wrap="square" rtlCol="0">
            <a:spAutoFit/>
          </a:bodyPr>
          <a:lstStyle/>
          <a:p>
            <a:pPr algn="ctr"/>
            <a:r>
              <a:rPr lang="zh-CN" altLang="en-US" sz="1200" b="1" dirty="0"/>
              <a:t>文本模态补充</a:t>
            </a:r>
          </a:p>
        </p:txBody>
      </p:sp>
      <p:sp>
        <p:nvSpPr>
          <p:cNvPr id="2" name="箭头: 右 1">
            <a:extLst>
              <a:ext uri="{FF2B5EF4-FFF2-40B4-BE49-F238E27FC236}">
                <a16:creationId xmlns:a16="http://schemas.microsoft.com/office/drawing/2014/main" id="{04C78D2B-5258-3804-793C-989E929D191B}"/>
              </a:ext>
            </a:extLst>
          </p:cNvPr>
          <p:cNvSpPr/>
          <p:nvPr/>
        </p:nvSpPr>
        <p:spPr>
          <a:xfrm>
            <a:off x="7567932" y="3045721"/>
            <a:ext cx="434246"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箭头: 右 2">
            <a:extLst>
              <a:ext uri="{FF2B5EF4-FFF2-40B4-BE49-F238E27FC236}">
                <a16:creationId xmlns:a16="http://schemas.microsoft.com/office/drawing/2014/main" id="{A9C6D84C-E5F4-1822-829F-D61B0114A372}"/>
              </a:ext>
            </a:extLst>
          </p:cNvPr>
          <p:cNvSpPr/>
          <p:nvPr/>
        </p:nvSpPr>
        <p:spPr>
          <a:xfrm rot="10800000">
            <a:off x="7566165" y="5128681"/>
            <a:ext cx="434246"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90F2BB8B-65EA-57BE-056B-45C52C2489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4865" y="5128681"/>
            <a:ext cx="808080" cy="875618"/>
          </a:xfrm>
          <a:prstGeom prst="rect">
            <a:avLst/>
          </a:prstGeom>
        </p:spPr>
      </p:pic>
      <p:sp>
        <p:nvSpPr>
          <p:cNvPr id="8" name="文本框 7">
            <a:extLst>
              <a:ext uri="{FF2B5EF4-FFF2-40B4-BE49-F238E27FC236}">
                <a16:creationId xmlns:a16="http://schemas.microsoft.com/office/drawing/2014/main" id="{B9489259-FD57-6555-69AE-67CF6CDEA335}"/>
              </a:ext>
            </a:extLst>
          </p:cNvPr>
          <p:cNvSpPr txBox="1"/>
          <p:nvPr/>
        </p:nvSpPr>
        <p:spPr>
          <a:xfrm>
            <a:off x="5846313" y="4499309"/>
            <a:ext cx="1625183" cy="584775"/>
          </a:xfrm>
          <a:prstGeom prst="rect">
            <a:avLst/>
          </a:prstGeom>
          <a:noFill/>
        </p:spPr>
        <p:txBody>
          <a:bodyPr wrap="square" rtlCol="0">
            <a:spAutoFit/>
          </a:bodyPr>
          <a:lstStyle/>
          <a:p>
            <a:pPr algn="ctr"/>
            <a:r>
              <a:rPr lang="zh-CN" altLang="en-US" sz="1600" b="1" dirty="0"/>
              <a:t>构建晶体缺陷识别大模型</a:t>
            </a:r>
          </a:p>
        </p:txBody>
      </p:sp>
      <p:sp>
        <p:nvSpPr>
          <p:cNvPr id="38" name="箭头: 右 37">
            <a:extLst>
              <a:ext uri="{FF2B5EF4-FFF2-40B4-BE49-F238E27FC236}">
                <a16:creationId xmlns:a16="http://schemas.microsoft.com/office/drawing/2014/main" id="{AF345AF7-9379-3766-6FD8-17CC2BA80808}"/>
              </a:ext>
            </a:extLst>
          </p:cNvPr>
          <p:cNvSpPr/>
          <p:nvPr/>
        </p:nvSpPr>
        <p:spPr>
          <a:xfrm rot="10800000">
            <a:off x="5211316" y="5128681"/>
            <a:ext cx="72582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AF9AC3CD-985E-53E7-E712-3E9117FB5CA1}"/>
                  </a:ext>
                </a:extLst>
              </p:cNvPr>
              <p:cNvSpPr/>
              <p:nvPr/>
            </p:nvSpPr>
            <p:spPr>
              <a:xfrm>
                <a:off x="5863366" y="1242375"/>
                <a:ext cx="1709646" cy="912406"/>
              </a:xfrm>
              <a:prstGeom prst="rect">
                <a:avLst/>
              </a:prstGeom>
              <a:solidFill>
                <a:srgbClr val="E2F0D9"/>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zh-CN" sz="1400" i="1" smtClean="0">
                              <a:solidFill>
                                <a:schemeClr val="tx1"/>
                              </a:solidFill>
                              <a:latin typeface="Cambria Math" panose="02040503050406030204" pitchFamily="18" charset="0"/>
                            </a:rPr>
                          </m:ctrlPr>
                        </m:sSubPr>
                        <m:e>
                          <m:eqArr>
                            <m:eqArrPr>
                              <m:ctrlPr>
                                <a:rPr lang="en-US" altLang="zh-CN" sz="1400" i="1">
                                  <a:solidFill>
                                    <a:schemeClr val="tx1"/>
                                  </a:solidFill>
                                  <a:latin typeface="Cambria Math" panose="02040503050406030204" pitchFamily="18" charset="0"/>
                                </a:rPr>
                              </m:ctrlPr>
                            </m:eqArrPr>
                            <m:e/>
                            <m:e>
                              <m:r>
                                <a:rPr lang="en-US" altLang="zh-CN" sz="1400" i="1">
                                  <a:solidFill>
                                    <a:schemeClr val="tx1"/>
                                  </a:solidFill>
                                  <a:latin typeface="Cambria Math" panose="02040503050406030204" pitchFamily="18" charset="0"/>
                                </a:rPr>
                                <m:t>ℒ</m:t>
                              </m:r>
                            </m:e>
                          </m:eqArr>
                        </m:e>
                        <m:sub>
                          <m:r>
                            <m:rPr>
                              <m:sty m:val="p"/>
                            </m:rPr>
                            <a:rPr lang="en-US" altLang="zh-CN" sz="1400">
                              <a:solidFill>
                                <a:schemeClr val="tx1"/>
                              </a:solidFill>
                              <a:latin typeface="Cambria Math" panose="02040503050406030204" pitchFamily="18" charset="0"/>
                            </a:rPr>
                            <m:t>con</m:t>
                          </m:r>
                        </m:sub>
                      </m:sSub>
                    </m:oMath>
                  </m:oMathPara>
                </a14:m>
                <a:endParaRPr lang="en-US" altLang="zh-CN" sz="14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zh-CN"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ℒ</m:t>
                          </m:r>
                        </m:e>
                        <m:sub>
                          <m:r>
                            <m:rPr>
                              <m:sty m:val="p"/>
                            </m:rPr>
                            <a:rPr lang="en-US" altLang="zh-CN" sz="1400" i="1">
                              <a:solidFill>
                                <a:schemeClr val="tx1"/>
                              </a:solidFill>
                              <a:latin typeface="Cambria Math" panose="02040503050406030204" pitchFamily="18" charset="0"/>
                            </a:rPr>
                            <m:t>rec</m:t>
                          </m:r>
                        </m:sub>
                      </m:sSub>
                    </m:oMath>
                  </m:oMathPara>
                </a14:m>
                <a:endParaRPr lang="zh-CN" altLang="en-US" sz="1400" i="1" dirty="0">
                  <a:solidFill>
                    <a:schemeClr val="tx1"/>
                  </a:solidFill>
                  <a:latin typeface="Cambria Math" panose="02040503050406030204" pitchFamily="18" charset="0"/>
                </a:endParaRPr>
              </a:p>
            </p:txBody>
          </p:sp>
        </mc:Choice>
        <mc:Fallback xmlns="">
          <p:sp>
            <p:nvSpPr>
              <p:cNvPr id="42" name="矩形 41">
                <a:extLst>
                  <a:ext uri="{FF2B5EF4-FFF2-40B4-BE49-F238E27FC236}">
                    <a16:creationId xmlns:a16="http://schemas.microsoft.com/office/drawing/2014/main" id="{AF9AC3CD-985E-53E7-E712-3E9117FB5CA1}"/>
                  </a:ext>
                </a:extLst>
              </p:cNvPr>
              <p:cNvSpPr>
                <a:spLocks noRot="1" noChangeAspect="1" noMove="1" noResize="1" noEditPoints="1" noAdjustHandles="1" noChangeArrowheads="1" noChangeShapeType="1" noTextEdit="1"/>
              </p:cNvSpPr>
              <p:nvPr/>
            </p:nvSpPr>
            <p:spPr>
              <a:xfrm>
                <a:off x="5863366" y="1242375"/>
                <a:ext cx="1709646" cy="912406"/>
              </a:xfrm>
              <a:prstGeom prst="rect">
                <a:avLst/>
              </a:prstGeom>
              <a:blipFill>
                <a:blip r:embed="rId14"/>
                <a:stretch>
                  <a:fillRect/>
                </a:stretch>
              </a:blipFill>
              <a:ln>
                <a:prstDash val="dash"/>
              </a:ln>
            </p:spPr>
            <p:txBody>
              <a:bodyPr/>
              <a:lstStyle/>
              <a:p>
                <a:r>
                  <a:rPr lang="zh-CN" altLang="en-US">
                    <a:noFill/>
                  </a:rPr>
                  <a:t> </a:t>
                </a:r>
              </a:p>
            </p:txBody>
          </p:sp>
        </mc:Fallback>
      </mc:AlternateContent>
      <p:sp>
        <p:nvSpPr>
          <p:cNvPr id="43" name="箭头: 右 42">
            <a:extLst>
              <a:ext uri="{FF2B5EF4-FFF2-40B4-BE49-F238E27FC236}">
                <a16:creationId xmlns:a16="http://schemas.microsoft.com/office/drawing/2014/main" id="{0C992E23-AD76-A365-62C1-D89AF4804F5A}"/>
              </a:ext>
            </a:extLst>
          </p:cNvPr>
          <p:cNvSpPr/>
          <p:nvPr/>
        </p:nvSpPr>
        <p:spPr>
          <a:xfrm>
            <a:off x="7610812" y="1683665"/>
            <a:ext cx="434247"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5B670C2A-DE91-831B-73A0-D29406ABB9FF}"/>
              </a:ext>
            </a:extLst>
          </p:cNvPr>
          <p:cNvSpPr txBox="1"/>
          <p:nvPr/>
        </p:nvSpPr>
        <p:spPr>
          <a:xfrm>
            <a:off x="5898147" y="1283118"/>
            <a:ext cx="1625183" cy="307777"/>
          </a:xfrm>
          <a:prstGeom prst="rect">
            <a:avLst/>
          </a:prstGeom>
          <a:solidFill>
            <a:srgbClr val="548235"/>
          </a:solidFill>
        </p:spPr>
        <p:txBody>
          <a:bodyPr wrap="square" rtlCol="0">
            <a:spAutoFit/>
          </a:bodyPr>
          <a:lstStyle/>
          <a:p>
            <a:pPr algn="ctr"/>
            <a:r>
              <a:rPr lang="zh-CN" altLang="en-US" sz="1400" b="1" dirty="0">
                <a:solidFill>
                  <a:schemeClr val="bg1"/>
                </a:solidFill>
              </a:rPr>
              <a:t>自监督表征先验</a:t>
            </a:r>
          </a:p>
        </p:txBody>
      </p:sp>
    </p:spTree>
    <p:extLst>
      <p:ext uri="{BB962C8B-B14F-4D97-AF65-F5344CB8AC3E}">
        <p14:creationId xmlns:p14="http://schemas.microsoft.com/office/powerpoint/2010/main" val="1240355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AA2FF-08E8-4CF1-3EB2-0CB3EF0F5D3D}"/>
            </a:ext>
          </a:extLst>
        </p:cNvPr>
        <p:cNvGrpSpPr/>
        <p:nvPr/>
      </p:nvGrpSpPr>
      <p:grpSpPr>
        <a:xfrm>
          <a:off x="0" y="0"/>
          <a:ext cx="0" cy="0"/>
          <a:chOff x="0" y="0"/>
          <a:chExt cx="0" cy="0"/>
        </a:xfrm>
      </p:grpSpPr>
      <p:sp>
        <p:nvSpPr>
          <p:cNvPr id="21" name="矩形: 圆角 20">
            <a:extLst>
              <a:ext uri="{FF2B5EF4-FFF2-40B4-BE49-F238E27FC236}">
                <a16:creationId xmlns:a16="http://schemas.microsoft.com/office/drawing/2014/main" id="{22883B39-F87F-7400-148D-5752831E6E78}"/>
              </a:ext>
            </a:extLst>
          </p:cNvPr>
          <p:cNvSpPr/>
          <p:nvPr/>
        </p:nvSpPr>
        <p:spPr>
          <a:xfrm rot="10800000" flipV="1">
            <a:off x="1311793" y="755472"/>
            <a:ext cx="4058969" cy="3051709"/>
          </a:xfrm>
          <a:prstGeom prst="roundRect">
            <a:avLst>
              <a:gd name="adj" fmla="val 3055"/>
            </a:avLst>
          </a:prstGeom>
          <a:noFill/>
          <a:ln w="28575">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zh-CN" sz="1600" dirty="0"/>
          </a:p>
        </p:txBody>
      </p:sp>
      <p:sp>
        <p:nvSpPr>
          <p:cNvPr id="15" name="矩形 14">
            <a:extLst>
              <a:ext uri="{FF2B5EF4-FFF2-40B4-BE49-F238E27FC236}">
                <a16:creationId xmlns:a16="http://schemas.microsoft.com/office/drawing/2014/main" id="{542D6F20-A96B-F421-6BF3-316072A8D5ED}"/>
              </a:ext>
            </a:extLst>
          </p:cNvPr>
          <p:cNvSpPr/>
          <p:nvPr/>
        </p:nvSpPr>
        <p:spPr>
          <a:xfrm>
            <a:off x="8055854" y="1088805"/>
            <a:ext cx="1909962" cy="27576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A8CC815E-32D8-69E0-1EF8-A4641C6AC4AD}"/>
              </a:ext>
            </a:extLst>
          </p:cNvPr>
          <p:cNvSpPr/>
          <p:nvPr/>
        </p:nvSpPr>
        <p:spPr>
          <a:xfrm>
            <a:off x="325445" y="741087"/>
            <a:ext cx="671510" cy="3066094"/>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t>基于研究内容一的多模态数据</a:t>
            </a:r>
          </a:p>
        </p:txBody>
      </p:sp>
      <p:sp>
        <p:nvSpPr>
          <p:cNvPr id="5" name="矩形: 圆角 4">
            <a:extLst>
              <a:ext uri="{FF2B5EF4-FFF2-40B4-BE49-F238E27FC236}">
                <a16:creationId xmlns:a16="http://schemas.microsoft.com/office/drawing/2014/main" id="{6C8B3F33-8214-22B8-5BC8-342DF154840A}"/>
              </a:ext>
            </a:extLst>
          </p:cNvPr>
          <p:cNvSpPr/>
          <p:nvPr/>
        </p:nvSpPr>
        <p:spPr>
          <a:xfrm rot="10800000" flipV="1">
            <a:off x="1281200" y="206260"/>
            <a:ext cx="4089562" cy="451338"/>
          </a:xfrm>
          <a:prstGeom prst="roundRect">
            <a:avLst>
              <a:gd name="adj" fmla="val 12755"/>
            </a:avLst>
          </a:prstGeom>
          <a:solidFill>
            <a:srgbClr val="2E75B6"/>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t>基于多模态自监督的晶圆缺陷敏感感知增强</a:t>
            </a:r>
            <a:endParaRPr lang="zh-CN" altLang="zh-CN" sz="1600" b="1" dirty="0"/>
          </a:p>
        </p:txBody>
      </p:sp>
      <p:pic>
        <p:nvPicPr>
          <p:cNvPr id="13" name="图片 12">
            <a:extLst>
              <a:ext uri="{FF2B5EF4-FFF2-40B4-BE49-F238E27FC236}">
                <a16:creationId xmlns:a16="http://schemas.microsoft.com/office/drawing/2014/main" id="{D979A483-4D03-5416-EBD0-ADFDF8783B6D}"/>
              </a:ext>
            </a:extLst>
          </p:cNvPr>
          <p:cNvPicPr>
            <a:picLocks noChangeAspect="1"/>
          </p:cNvPicPr>
          <p:nvPr/>
        </p:nvPicPr>
        <p:blipFill>
          <a:blip r:embed="rId3"/>
          <a:stretch>
            <a:fillRect/>
          </a:stretch>
        </p:blipFill>
        <p:spPr>
          <a:xfrm>
            <a:off x="8192492" y="1761368"/>
            <a:ext cx="1633706" cy="2048227"/>
          </a:xfrm>
          <a:prstGeom prst="rect">
            <a:avLst/>
          </a:prstGeom>
        </p:spPr>
      </p:pic>
      <p:sp>
        <p:nvSpPr>
          <p:cNvPr id="14" name="矩形: 圆角 13">
            <a:extLst>
              <a:ext uri="{FF2B5EF4-FFF2-40B4-BE49-F238E27FC236}">
                <a16:creationId xmlns:a16="http://schemas.microsoft.com/office/drawing/2014/main" id="{3E324E11-A22C-D523-8BA4-706634965805}"/>
              </a:ext>
            </a:extLst>
          </p:cNvPr>
          <p:cNvSpPr/>
          <p:nvPr/>
        </p:nvSpPr>
        <p:spPr>
          <a:xfrm rot="10800000" flipV="1">
            <a:off x="5574224" y="206259"/>
            <a:ext cx="6569385" cy="451339"/>
          </a:xfrm>
          <a:prstGeom prst="roundRect">
            <a:avLst>
              <a:gd name="adj" fmla="val 12755"/>
            </a:avLst>
          </a:prstGeom>
          <a:solidFill>
            <a:schemeClr val="accent6">
              <a:lumMod val="75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t>基于大模型的晶圆缺陷识别领域优化与检测能力增强</a:t>
            </a:r>
            <a:endParaRPr lang="zh-CN" altLang="zh-CN" sz="1600" b="1" dirty="0"/>
          </a:p>
        </p:txBody>
      </p:sp>
      <p:sp>
        <p:nvSpPr>
          <p:cNvPr id="16" name="文本框 15">
            <a:extLst>
              <a:ext uri="{FF2B5EF4-FFF2-40B4-BE49-F238E27FC236}">
                <a16:creationId xmlns:a16="http://schemas.microsoft.com/office/drawing/2014/main" id="{93F4E9A1-9F2E-9A58-DB3E-00697765E06D}"/>
              </a:ext>
            </a:extLst>
          </p:cNvPr>
          <p:cNvSpPr txBox="1"/>
          <p:nvPr/>
        </p:nvSpPr>
        <p:spPr>
          <a:xfrm>
            <a:off x="8083834" y="1111918"/>
            <a:ext cx="1825014" cy="523220"/>
          </a:xfrm>
          <a:prstGeom prst="rect">
            <a:avLst/>
          </a:prstGeom>
          <a:solidFill>
            <a:schemeClr val="bg2"/>
          </a:solidFill>
        </p:spPr>
        <p:txBody>
          <a:bodyPr wrap="square" rtlCol="0">
            <a:spAutoFit/>
          </a:bodyPr>
          <a:lstStyle/>
          <a:p>
            <a:pPr algn="ctr"/>
            <a:r>
              <a:rPr lang="zh-CN" altLang="zh-CN" sz="1400" b="1" dirty="0"/>
              <a:t>预测模块的语义特征强化</a:t>
            </a:r>
            <a:endParaRPr lang="zh-CN" altLang="en-US" sz="1400" dirty="0"/>
          </a:p>
        </p:txBody>
      </p:sp>
      <p:pic>
        <p:nvPicPr>
          <p:cNvPr id="18" name="图片 17">
            <a:extLst>
              <a:ext uri="{FF2B5EF4-FFF2-40B4-BE49-F238E27FC236}">
                <a16:creationId xmlns:a16="http://schemas.microsoft.com/office/drawing/2014/main" id="{44A67AC9-7EF8-4A98-DD04-0E8ADF4C7104}"/>
              </a:ext>
            </a:extLst>
          </p:cNvPr>
          <p:cNvPicPr>
            <a:picLocks noChangeAspect="1"/>
          </p:cNvPicPr>
          <p:nvPr/>
        </p:nvPicPr>
        <p:blipFill>
          <a:blip r:embed="rId4"/>
          <a:stretch>
            <a:fillRect/>
          </a:stretch>
        </p:blipFill>
        <p:spPr>
          <a:xfrm>
            <a:off x="10057292" y="1628228"/>
            <a:ext cx="1834362" cy="2178577"/>
          </a:xfrm>
          <a:prstGeom prst="rect">
            <a:avLst/>
          </a:prstGeom>
        </p:spPr>
      </p:pic>
      <p:sp>
        <p:nvSpPr>
          <p:cNvPr id="19" name="矩形 18">
            <a:extLst>
              <a:ext uri="{FF2B5EF4-FFF2-40B4-BE49-F238E27FC236}">
                <a16:creationId xmlns:a16="http://schemas.microsoft.com/office/drawing/2014/main" id="{ED1B5DBB-601D-7B8E-1E85-956A38C1C9C4}"/>
              </a:ext>
            </a:extLst>
          </p:cNvPr>
          <p:cNvSpPr/>
          <p:nvPr/>
        </p:nvSpPr>
        <p:spPr>
          <a:xfrm>
            <a:off x="10019492" y="1088805"/>
            <a:ext cx="1909962" cy="27693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9EDB641F-2D3D-B2E8-64CB-BD68374A79C4}"/>
              </a:ext>
            </a:extLst>
          </p:cNvPr>
          <p:cNvSpPr txBox="1"/>
          <p:nvPr/>
        </p:nvSpPr>
        <p:spPr>
          <a:xfrm>
            <a:off x="10067054" y="1111918"/>
            <a:ext cx="1824600" cy="523220"/>
          </a:xfrm>
          <a:prstGeom prst="rect">
            <a:avLst/>
          </a:prstGeom>
          <a:solidFill>
            <a:schemeClr val="bg2"/>
          </a:solidFill>
        </p:spPr>
        <p:txBody>
          <a:bodyPr wrap="square" rtlCol="0">
            <a:spAutoFit/>
          </a:bodyPr>
          <a:lstStyle/>
          <a:p>
            <a:pPr algn="ctr"/>
            <a:r>
              <a:rPr lang="zh-CN" altLang="zh-CN" sz="1400" b="1" dirty="0"/>
              <a:t>预训练专家引导的特征优化</a:t>
            </a:r>
            <a:endParaRPr lang="zh-CN" altLang="en-US" sz="1100" dirty="0"/>
          </a:p>
        </p:txBody>
      </p:sp>
      <p:sp>
        <p:nvSpPr>
          <p:cNvPr id="22" name="矩形: 圆角 21">
            <a:extLst>
              <a:ext uri="{FF2B5EF4-FFF2-40B4-BE49-F238E27FC236}">
                <a16:creationId xmlns:a16="http://schemas.microsoft.com/office/drawing/2014/main" id="{40869EB4-FD0D-A24D-B205-5AE52F0407B3}"/>
              </a:ext>
            </a:extLst>
          </p:cNvPr>
          <p:cNvSpPr/>
          <p:nvPr/>
        </p:nvSpPr>
        <p:spPr>
          <a:xfrm rot="10800000" flipV="1">
            <a:off x="5585514" y="741087"/>
            <a:ext cx="6558096" cy="6045186"/>
          </a:xfrm>
          <a:prstGeom prst="roundRect">
            <a:avLst>
              <a:gd name="adj" fmla="val 3679"/>
            </a:avLst>
          </a:prstGeom>
          <a:noFill/>
          <a:ln w="28575">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zh-CN" sz="1600" dirty="0"/>
          </a:p>
        </p:txBody>
      </p:sp>
      <p:pic>
        <p:nvPicPr>
          <p:cNvPr id="27" name="图片 26">
            <a:extLst>
              <a:ext uri="{FF2B5EF4-FFF2-40B4-BE49-F238E27FC236}">
                <a16:creationId xmlns:a16="http://schemas.microsoft.com/office/drawing/2014/main" id="{1EC878C8-5BB1-097F-E5E0-2FB418305E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1254" y="3059659"/>
            <a:ext cx="808080" cy="875618"/>
          </a:xfrm>
          <a:prstGeom prst="rect">
            <a:avLst/>
          </a:prstGeom>
        </p:spPr>
      </p:pic>
      <p:sp>
        <p:nvSpPr>
          <p:cNvPr id="31" name="文本框 30">
            <a:extLst>
              <a:ext uri="{FF2B5EF4-FFF2-40B4-BE49-F238E27FC236}">
                <a16:creationId xmlns:a16="http://schemas.microsoft.com/office/drawing/2014/main" id="{1D3D1E7F-0525-4B5D-20DE-72D4F73787D1}"/>
              </a:ext>
            </a:extLst>
          </p:cNvPr>
          <p:cNvSpPr txBox="1"/>
          <p:nvPr/>
        </p:nvSpPr>
        <p:spPr>
          <a:xfrm>
            <a:off x="5880769" y="2474884"/>
            <a:ext cx="1625183" cy="584775"/>
          </a:xfrm>
          <a:prstGeom prst="rect">
            <a:avLst/>
          </a:prstGeom>
          <a:noFill/>
        </p:spPr>
        <p:txBody>
          <a:bodyPr wrap="square" rtlCol="0">
            <a:spAutoFit/>
          </a:bodyPr>
          <a:lstStyle/>
          <a:p>
            <a:pPr algn="ctr"/>
            <a:r>
              <a:rPr lang="zh-CN" altLang="en-US" sz="1600" b="1" dirty="0"/>
              <a:t>基于现有的通用多模态大模型</a:t>
            </a:r>
          </a:p>
        </p:txBody>
      </p:sp>
      <p:sp>
        <p:nvSpPr>
          <p:cNvPr id="40" name="箭头: 右 39">
            <a:extLst>
              <a:ext uri="{FF2B5EF4-FFF2-40B4-BE49-F238E27FC236}">
                <a16:creationId xmlns:a16="http://schemas.microsoft.com/office/drawing/2014/main" id="{80646EA2-F26F-E23D-C557-E7FA13A5A4A7}"/>
              </a:ext>
            </a:extLst>
          </p:cNvPr>
          <p:cNvSpPr/>
          <p:nvPr/>
        </p:nvSpPr>
        <p:spPr>
          <a:xfrm rot="5400000">
            <a:off x="9844036" y="3873467"/>
            <a:ext cx="390724"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78392602-01C8-1ED6-A347-55CA9D267ADA}"/>
              </a:ext>
            </a:extLst>
          </p:cNvPr>
          <p:cNvSpPr/>
          <p:nvPr/>
        </p:nvSpPr>
        <p:spPr>
          <a:xfrm>
            <a:off x="8058236" y="4258453"/>
            <a:ext cx="3958019" cy="2061673"/>
          </a:xfrm>
          <a:prstGeom prst="rect">
            <a:avLst/>
          </a:prstGeom>
          <a:solidFill>
            <a:schemeClr val="accent6">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F8FA4239-88E2-5C6A-25D0-BD098A7C4600}"/>
                  </a:ext>
                </a:extLst>
              </p:cNvPr>
              <p:cNvSpPr txBox="1"/>
              <p:nvPr/>
            </p:nvSpPr>
            <p:spPr>
              <a:xfrm>
                <a:off x="8115296" y="4682328"/>
                <a:ext cx="3671190" cy="967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eqArr>
                        <m:eqArrPr>
                          <m:ctrlPr>
                            <a:rPr lang="zh-CN" altLang="zh-CN" sz="900" i="1" smtClean="0">
                              <a:latin typeface="Cambria Math" panose="02040503050406030204" pitchFamily="18" charset="0"/>
                            </a:rPr>
                          </m:ctrlPr>
                        </m:eqArrPr>
                        <m:e>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𝐿</m:t>
                              </m:r>
                            </m:e>
                            <m:sub>
                              <m:r>
                                <a:rPr lang="en-US" altLang="zh-CN" sz="900" i="1">
                                  <a:latin typeface="Cambria Math" panose="02040503050406030204" pitchFamily="18" charset="0"/>
                                </a:rPr>
                                <m:t>𝑓𝑜𝑐𝑎𝑙</m:t>
                              </m:r>
                            </m:sub>
                          </m:sSub>
                          <m:r>
                            <a:rPr lang="en-US" altLang="zh-CN" sz="900" i="1">
                              <a:latin typeface="Cambria Math" panose="02040503050406030204" pitchFamily="18" charset="0"/>
                            </a:rPr>
                            <m:t>=−</m:t>
                          </m:r>
                          <m:f>
                            <m:fPr>
                              <m:ctrlPr>
                                <a:rPr lang="zh-CN" altLang="zh-CN" sz="900" i="1">
                                  <a:latin typeface="Cambria Math" panose="02040503050406030204" pitchFamily="18" charset="0"/>
                                </a:rPr>
                              </m:ctrlPr>
                            </m:fPr>
                            <m:num>
                              <m:r>
                                <a:rPr lang="en-US" altLang="zh-CN" sz="900" i="1">
                                  <a:latin typeface="Cambria Math" panose="02040503050406030204" pitchFamily="18" charset="0"/>
                                </a:rPr>
                                <m:t>1</m:t>
                              </m:r>
                            </m:num>
                            <m:den>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den>
                          </m:f>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p>
                            <m:sSupPr>
                              <m:ctrlPr>
                                <a:rPr lang="zh-CN" altLang="zh-CN" sz="900" i="1">
                                  <a:latin typeface="Cambria Math" panose="02040503050406030204" pitchFamily="18" charset="0"/>
                                </a:rPr>
                              </m:ctrlPr>
                            </m:sSupPr>
                            <m:e>
                              <m:d>
                                <m:dPr>
                                  <m:ctrlPr>
                                    <a:rPr lang="zh-CN" altLang="zh-CN" sz="900" i="1">
                                      <a:latin typeface="Cambria Math" panose="02040503050406030204" pitchFamily="18" charset="0"/>
                                    </a:rPr>
                                  </m:ctrlPr>
                                </m:dPr>
                                <m:e>
                                  <m:r>
                                    <a:rPr lang="en-US" altLang="zh-CN" sz="900" i="1">
                                      <a:latin typeface="Cambria Math" panose="02040503050406030204" pitchFamily="18" charset="0"/>
                                    </a:rPr>
                                    <m:t>1−</m:t>
                                  </m:r>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sub>
                                  </m:sSub>
                                </m:e>
                              </m:d>
                            </m:e>
                            <m:sup>
                              <m:r>
                                <a:rPr lang="en-US" altLang="zh-CN" sz="900" i="1">
                                  <a:latin typeface="Cambria Math" panose="02040503050406030204" pitchFamily="18" charset="0"/>
                                </a:rPr>
                                <m:t>𝛾</m:t>
                              </m:r>
                            </m:sup>
                          </m:sSup>
                          <m:r>
                            <a:rPr lang="en-US" altLang="zh-CN" sz="900" i="1">
                              <a:latin typeface="Cambria Math" panose="02040503050406030204" pitchFamily="18" charset="0"/>
                            </a:rPr>
                            <m:t>𝑙𝑜𝑔</m:t>
                          </m:r>
                          <m:d>
                            <m:dPr>
                              <m:ctrlPr>
                                <a:rPr lang="zh-CN" altLang="zh-CN" sz="900" i="1">
                                  <a:latin typeface="Cambria Math" panose="02040503050406030204" pitchFamily="18" charset="0"/>
                                </a:rPr>
                              </m:ctrlPr>
                            </m:dPr>
                            <m:e>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sub>
                              </m:sSub>
                            </m:e>
                          </m:d>
                        </m:e>
                        <m:e>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𝐿</m:t>
                              </m:r>
                            </m:e>
                            <m:sub>
                              <m:r>
                                <a:rPr lang="en-US" altLang="zh-CN" sz="900" i="1">
                                  <a:latin typeface="Cambria Math" panose="02040503050406030204" pitchFamily="18" charset="0"/>
                                </a:rPr>
                                <m:t>𝑑𝑖𝑐𝑒</m:t>
                              </m:r>
                            </m:sub>
                          </m:sSub>
                          <m:r>
                            <a:rPr lang="en-US" altLang="zh-CN" sz="900" i="1">
                              <a:latin typeface="Cambria Math" panose="02040503050406030204" pitchFamily="18" charset="0"/>
                            </a:rPr>
                            <m:t>=−</m:t>
                          </m:r>
                          <m:f>
                            <m:fPr>
                              <m:ctrlPr>
                                <a:rPr lang="zh-CN" altLang="zh-CN" sz="900" i="1">
                                  <a:latin typeface="Cambria Math" panose="02040503050406030204" pitchFamily="18" charset="0"/>
                                </a:rPr>
                              </m:ctrlPr>
                            </m:fPr>
                            <m:num>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𝑦</m:t>
                                  </m:r>
                                </m:e>
                                <m:sub>
                                  <m:r>
                                    <a:rPr lang="en-US" altLang="zh-CN" sz="900" i="1">
                                      <a:latin typeface="Cambria Math" panose="02040503050406030204" pitchFamily="18" charset="0"/>
                                    </a:rPr>
                                    <m:t>𝑖</m:t>
                                  </m:r>
                                </m:sub>
                              </m:sSub>
                              <m:sSub>
                                <m:sSubPr>
                                  <m:ctrlPr>
                                    <a:rPr lang="zh-CN" altLang="zh-CN" sz="900" i="1">
                                      <a:latin typeface="Cambria Math" panose="02040503050406030204" pitchFamily="18" charset="0"/>
                                    </a:rPr>
                                  </m:ctrlPr>
                                </m:sSubPr>
                                <m:e>
                                  <m:acc>
                                    <m:accPr>
                                      <m:chr m:val="̂"/>
                                      <m:ctrlPr>
                                        <a:rPr lang="zh-CN" altLang="zh-CN" sz="900" i="1">
                                          <a:latin typeface="Cambria Math" panose="02040503050406030204" pitchFamily="18" charset="0"/>
                                        </a:rPr>
                                      </m:ctrlPr>
                                    </m:accPr>
                                    <m:e>
                                      <m:r>
                                        <a:rPr lang="en-US" altLang="zh-CN" sz="900" i="1">
                                          <a:latin typeface="Cambria Math" panose="02040503050406030204" pitchFamily="18" charset="0"/>
                                        </a:rPr>
                                        <m:t>𝑦</m:t>
                                      </m:r>
                                    </m:e>
                                  </m:acc>
                                </m:e>
                                <m:sub>
                                  <m:r>
                                    <a:rPr lang="en-US" altLang="zh-CN" sz="900" i="1">
                                      <a:latin typeface="Cambria Math" panose="02040503050406030204" pitchFamily="18" charset="0"/>
                                    </a:rPr>
                                    <m:t>𝑖</m:t>
                                  </m:r>
                                </m:sub>
                              </m:sSub>
                            </m:num>
                            <m:den>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bSup>
                                <m:sSubSupPr>
                                  <m:ctrlPr>
                                    <a:rPr lang="zh-CN" altLang="zh-CN" sz="900" i="1">
                                      <a:latin typeface="Cambria Math" panose="02040503050406030204" pitchFamily="18" charset="0"/>
                                    </a:rPr>
                                  </m:ctrlPr>
                                </m:sSubSupPr>
                                <m:e>
                                  <m:r>
                                    <a:rPr lang="en-US" altLang="zh-CN" sz="900" i="1">
                                      <a:latin typeface="Cambria Math" panose="02040503050406030204" pitchFamily="18" charset="0"/>
                                    </a:rPr>
                                    <m:t>𝑦</m:t>
                                  </m:r>
                                </m:e>
                                <m:sub>
                                  <m:r>
                                    <a:rPr lang="en-US" altLang="zh-CN" sz="900" i="1">
                                      <a:latin typeface="Cambria Math" panose="02040503050406030204" pitchFamily="18" charset="0"/>
                                    </a:rPr>
                                    <m:t>𝑖</m:t>
                                  </m:r>
                                </m:sub>
                                <m:sup>
                                  <m:r>
                                    <a:rPr lang="en-US" altLang="zh-CN" sz="900" i="1">
                                      <a:latin typeface="Cambria Math" panose="02040503050406030204" pitchFamily="18" charset="0"/>
                                    </a:rPr>
                                    <m:t>2</m:t>
                                  </m:r>
                                </m:sup>
                              </m:sSubSup>
                              <m:r>
                                <a:rPr lang="en-US" altLang="zh-CN" sz="900" i="1">
                                  <a:latin typeface="Cambria Math" panose="02040503050406030204" pitchFamily="18" charset="0"/>
                                </a:rPr>
                                <m:t>+</m:t>
                              </m:r>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bSup>
                                <m:sSubSupPr>
                                  <m:ctrlPr>
                                    <a:rPr lang="zh-CN" altLang="zh-CN" sz="900" i="1">
                                      <a:latin typeface="Cambria Math" panose="02040503050406030204" pitchFamily="18" charset="0"/>
                                    </a:rPr>
                                  </m:ctrlPr>
                                </m:sSubSupPr>
                                <m:e>
                                  <m:acc>
                                    <m:accPr>
                                      <m:chr m:val="̂"/>
                                      <m:ctrlPr>
                                        <a:rPr lang="zh-CN" altLang="zh-CN" sz="900" i="1">
                                          <a:latin typeface="Cambria Math" panose="02040503050406030204" pitchFamily="18" charset="0"/>
                                        </a:rPr>
                                      </m:ctrlPr>
                                    </m:accPr>
                                    <m:e>
                                      <m:r>
                                        <a:rPr lang="en-US" altLang="zh-CN" sz="900" i="1">
                                          <a:latin typeface="Cambria Math" panose="02040503050406030204" pitchFamily="18" charset="0"/>
                                        </a:rPr>
                                        <m:t>𝑦</m:t>
                                      </m:r>
                                    </m:e>
                                  </m:acc>
                                </m:e>
                                <m:sub>
                                  <m:r>
                                    <a:rPr lang="en-US" altLang="zh-CN" sz="900" i="1">
                                      <a:latin typeface="Cambria Math" panose="02040503050406030204" pitchFamily="18" charset="0"/>
                                    </a:rPr>
                                    <m:t>𝑖</m:t>
                                  </m:r>
                                </m:sub>
                                <m:sup>
                                  <m:r>
                                    <a:rPr lang="en-US" altLang="zh-CN" sz="900" i="1">
                                      <a:latin typeface="Cambria Math" panose="02040503050406030204" pitchFamily="18" charset="0"/>
                                    </a:rPr>
                                    <m:t>2</m:t>
                                  </m:r>
                                </m:sup>
                              </m:sSubSup>
                            </m:den>
                          </m:f>
                        </m:e>
                      </m:eqArr>
                    </m:oMath>
                  </m:oMathPara>
                </a14:m>
                <a:endParaRPr lang="zh-CN" altLang="zh-CN" sz="900" dirty="0"/>
              </a:p>
              <a:p>
                <a:pPr algn="ctr"/>
                <a:endParaRPr lang="zh-CN" altLang="en-US" sz="900" b="1" dirty="0"/>
              </a:p>
            </p:txBody>
          </p:sp>
        </mc:Choice>
        <mc:Fallback xmlns="">
          <p:sp>
            <p:nvSpPr>
              <p:cNvPr id="53" name="文本框 52">
                <a:extLst>
                  <a:ext uri="{FF2B5EF4-FFF2-40B4-BE49-F238E27FC236}">
                    <a16:creationId xmlns:a16="http://schemas.microsoft.com/office/drawing/2014/main" id="{F8FA4239-88E2-5C6A-25D0-BD098A7C4600}"/>
                  </a:ext>
                </a:extLst>
              </p:cNvPr>
              <p:cNvSpPr txBox="1">
                <a:spLocks noRot="1" noChangeAspect="1" noMove="1" noResize="1" noEditPoints="1" noAdjustHandles="1" noChangeArrowheads="1" noChangeShapeType="1" noTextEdit="1"/>
              </p:cNvSpPr>
              <p:nvPr/>
            </p:nvSpPr>
            <p:spPr>
              <a:xfrm>
                <a:off x="8115296" y="4682328"/>
                <a:ext cx="3671190" cy="967444"/>
              </a:xfrm>
              <a:prstGeom prst="rect">
                <a:avLst/>
              </a:prstGeom>
              <a:blipFill>
                <a:blip r:embed="rId6"/>
                <a:stretch>
                  <a:fillRect/>
                </a:stretch>
              </a:blipFill>
            </p:spPr>
            <p:txBody>
              <a:bodyPr/>
              <a:lstStyle/>
              <a:p>
                <a:r>
                  <a:rPr lang="zh-CN" altLang="en-US">
                    <a:noFill/>
                  </a:rPr>
                  <a:t> </a:t>
                </a:r>
              </a:p>
            </p:txBody>
          </p:sp>
        </mc:Fallback>
      </mc:AlternateContent>
      <p:sp>
        <p:nvSpPr>
          <p:cNvPr id="62" name="矩形: 圆角 61">
            <a:extLst>
              <a:ext uri="{FF2B5EF4-FFF2-40B4-BE49-F238E27FC236}">
                <a16:creationId xmlns:a16="http://schemas.microsoft.com/office/drawing/2014/main" id="{7EA9CB71-AA82-9DB6-EE30-6E4FFD18EB6A}"/>
              </a:ext>
            </a:extLst>
          </p:cNvPr>
          <p:cNvSpPr/>
          <p:nvPr/>
        </p:nvSpPr>
        <p:spPr>
          <a:xfrm rot="10800000" flipV="1">
            <a:off x="325444" y="6309359"/>
            <a:ext cx="5074853" cy="476913"/>
          </a:xfrm>
          <a:prstGeom prst="roundRect">
            <a:avLst>
              <a:gd name="adj" fmla="val 12755"/>
            </a:avLst>
          </a:prstGeom>
          <a:solidFill>
            <a:schemeClr val="accent2">
              <a:lumMod val="75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t>大模型驱动的晶圆缺陷判别与生成指导机制</a:t>
            </a:r>
            <a:endParaRPr lang="zh-CN" altLang="zh-CN" sz="1600" b="1" dirty="0"/>
          </a:p>
        </p:txBody>
      </p:sp>
      <p:sp>
        <p:nvSpPr>
          <p:cNvPr id="63" name="矩形: 圆角 62">
            <a:extLst>
              <a:ext uri="{FF2B5EF4-FFF2-40B4-BE49-F238E27FC236}">
                <a16:creationId xmlns:a16="http://schemas.microsoft.com/office/drawing/2014/main" id="{5A43E897-452A-DADE-2CB5-A8F558502A33}"/>
              </a:ext>
            </a:extLst>
          </p:cNvPr>
          <p:cNvSpPr/>
          <p:nvPr/>
        </p:nvSpPr>
        <p:spPr>
          <a:xfrm rot="10800000">
            <a:off x="325444" y="3964382"/>
            <a:ext cx="5074855" cy="2245918"/>
          </a:xfrm>
          <a:prstGeom prst="roundRect">
            <a:avLst>
              <a:gd name="adj" fmla="val 12755"/>
            </a:avLst>
          </a:prstGeom>
          <a:noFill/>
          <a:ln w="28575">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zh-CN" sz="1600" dirty="0"/>
          </a:p>
        </p:txBody>
      </p:sp>
      <p:sp>
        <p:nvSpPr>
          <p:cNvPr id="71" name="箭头: 右 70">
            <a:extLst>
              <a:ext uri="{FF2B5EF4-FFF2-40B4-BE49-F238E27FC236}">
                <a16:creationId xmlns:a16="http://schemas.microsoft.com/office/drawing/2014/main" id="{4C7A8907-53AC-6D95-E659-8145D62AAC76}"/>
              </a:ext>
            </a:extLst>
          </p:cNvPr>
          <p:cNvSpPr/>
          <p:nvPr/>
        </p:nvSpPr>
        <p:spPr>
          <a:xfrm>
            <a:off x="3557611" y="2124040"/>
            <a:ext cx="63360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直角双向 71">
            <a:extLst>
              <a:ext uri="{FF2B5EF4-FFF2-40B4-BE49-F238E27FC236}">
                <a16:creationId xmlns:a16="http://schemas.microsoft.com/office/drawing/2014/main" id="{41ED2F18-9016-EE37-7297-FF66D9AE6BBC}"/>
              </a:ext>
            </a:extLst>
          </p:cNvPr>
          <p:cNvSpPr/>
          <p:nvPr/>
        </p:nvSpPr>
        <p:spPr>
          <a:xfrm rot="5400000">
            <a:off x="102109" y="4219090"/>
            <a:ext cx="1564662" cy="793520"/>
          </a:xfrm>
          <a:prstGeom prst="leftUpArrow">
            <a:avLst/>
          </a:prstGeom>
          <a:solidFill>
            <a:srgbClr val="FFD9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63AC90CB-95A9-FD79-FDA7-28CFDDDFE7AA}"/>
              </a:ext>
            </a:extLst>
          </p:cNvPr>
          <p:cNvSpPr/>
          <p:nvPr/>
        </p:nvSpPr>
        <p:spPr>
          <a:xfrm>
            <a:off x="1389889" y="814799"/>
            <a:ext cx="3928632" cy="828997"/>
          </a:xfrm>
          <a:prstGeom prst="rect">
            <a:avLst/>
          </a:prstGeom>
          <a:solidFill>
            <a:schemeClr val="accent5">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C54D971-7C8C-5FFE-21D4-C32E024718D1}"/>
              </a:ext>
            </a:extLst>
          </p:cNvPr>
          <p:cNvSpPr txBox="1"/>
          <p:nvPr/>
        </p:nvSpPr>
        <p:spPr>
          <a:xfrm>
            <a:off x="1422259" y="854524"/>
            <a:ext cx="3857303" cy="307777"/>
          </a:xfrm>
          <a:prstGeom prst="rect">
            <a:avLst/>
          </a:prstGeom>
          <a:solidFill>
            <a:schemeClr val="accent5">
              <a:lumMod val="75000"/>
            </a:schemeClr>
          </a:solidFill>
        </p:spPr>
        <p:txBody>
          <a:bodyPr wrap="square" rtlCol="0">
            <a:spAutoFit/>
          </a:bodyPr>
          <a:lstStyle/>
          <a:p>
            <a:pPr algn="ctr"/>
            <a:r>
              <a:rPr lang="zh-CN" altLang="en-US" sz="1400" b="1" dirty="0">
                <a:solidFill>
                  <a:schemeClr val="bg1"/>
                </a:solidFill>
              </a:rPr>
              <a:t>跨模态对比学习</a:t>
            </a:r>
            <a:endParaRPr lang="zh-CN" altLang="en-US" sz="1100" dirty="0">
              <a:solidFill>
                <a:schemeClr val="bg1"/>
              </a:solidFill>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7B6E0E5-AC5F-36A7-0B57-ADE0FDD7C1D7}"/>
                  </a:ext>
                </a:extLst>
              </p:cNvPr>
              <p:cNvSpPr txBox="1"/>
              <p:nvPr/>
            </p:nvSpPr>
            <p:spPr>
              <a:xfrm>
                <a:off x="2224329" y="1153520"/>
                <a:ext cx="2306561" cy="4875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1100" i="1">
                              <a:latin typeface="Cambria Math" panose="02040503050406030204" pitchFamily="18" charset="0"/>
                            </a:rPr>
                          </m:ctrlPr>
                        </m:sSubPr>
                        <m:e>
                          <m:r>
                            <a:rPr lang="en-US" altLang="zh-CN" sz="1100" i="1">
                              <a:latin typeface="Cambria Math" panose="02040503050406030204" pitchFamily="18" charset="0"/>
                            </a:rPr>
                            <m:t>ℒ</m:t>
                          </m:r>
                        </m:e>
                        <m:sub>
                          <m:r>
                            <m:rPr>
                              <m:sty m:val="p"/>
                            </m:rPr>
                            <a:rPr lang="en-US" altLang="zh-CN" sz="1100">
                              <a:latin typeface="Cambria Math" panose="02040503050406030204" pitchFamily="18" charset="0"/>
                            </a:rPr>
                            <m:t>con</m:t>
                          </m:r>
                        </m:sub>
                      </m:sSub>
                      <m:r>
                        <a:rPr lang="en-US" altLang="zh-CN" sz="1100" i="1">
                          <a:latin typeface="Cambria Math" panose="02040503050406030204" pitchFamily="18" charset="0"/>
                        </a:rPr>
                        <m:t>=−</m:t>
                      </m:r>
                      <m:r>
                        <m:rPr>
                          <m:sty m:val="p"/>
                        </m:rPr>
                        <a:rPr lang="en-US" altLang="zh-CN" sz="1100">
                          <a:latin typeface="Cambria Math" panose="02040503050406030204" pitchFamily="18" charset="0"/>
                        </a:rPr>
                        <m:t>log</m:t>
                      </m:r>
                      <m:f>
                        <m:fPr>
                          <m:ctrlPr>
                            <a:rPr lang="zh-CN" altLang="zh-CN" sz="1100" i="1">
                              <a:latin typeface="Cambria Math" panose="02040503050406030204" pitchFamily="18" charset="0"/>
                            </a:rPr>
                          </m:ctrlPr>
                        </m:fPr>
                        <m:num>
                          <m:r>
                            <m:rPr>
                              <m:sty m:val="p"/>
                            </m:rPr>
                            <a:rPr lang="en-US" altLang="zh-CN" sz="1100">
                              <a:latin typeface="Cambria Math" panose="02040503050406030204" pitchFamily="18" charset="0"/>
                            </a:rPr>
                            <m:t>exp</m:t>
                          </m:r>
                          <m:r>
                            <a:rPr lang="en-US" altLang="zh-CN" sz="1100" i="1">
                              <a:latin typeface="Cambria Math" panose="02040503050406030204" pitchFamily="18" charset="0"/>
                            </a:rPr>
                            <m:t>(</m:t>
                          </m:r>
                          <m:sSup>
                            <m:sSupPr>
                              <m:ctrlPr>
                                <a:rPr lang="zh-CN" altLang="zh-CN" sz="1100" i="1">
                                  <a:latin typeface="Cambria Math" panose="02040503050406030204" pitchFamily="18" charset="0"/>
                                </a:rPr>
                              </m:ctrlPr>
                            </m:sSupPr>
                            <m:e>
                              <m:r>
                                <a:rPr lang="en-US" altLang="zh-CN" sz="1100" i="1">
                                  <a:latin typeface="Cambria Math" panose="02040503050406030204" pitchFamily="18" charset="0"/>
                                </a:rPr>
                                <m:t>𝑠</m:t>
                              </m:r>
                            </m:e>
                            <m:sup>
                              <m:r>
                                <a:rPr lang="en-US" altLang="zh-CN" sz="1100" i="1">
                                  <a:latin typeface="Cambria Math" panose="02040503050406030204" pitchFamily="18" charset="0"/>
                                </a:rPr>
                                <m:t>+</m:t>
                              </m:r>
                            </m:sup>
                          </m:sSup>
                          <m:r>
                            <a:rPr lang="en-US" altLang="zh-CN" sz="1100" i="1">
                              <a:latin typeface="Cambria Math" panose="02040503050406030204" pitchFamily="18" charset="0"/>
                            </a:rPr>
                            <m:t>/</m:t>
                          </m:r>
                          <m:r>
                            <a:rPr lang="en-US" altLang="zh-CN" sz="1100" i="1">
                              <a:latin typeface="Cambria Math" panose="02040503050406030204" pitchFamily="18" charset="0"/>
                            </a:rPr>
                            <m:t>𝜏</m:t>
                          </m:r>
                          <m:r>
                            <a:rPr lang="en-US" altLang="zh-CN" sz="1100" i="1">
                              <a:latin typeface="Cambria Math" panose="02040503050406030204" pitchFamily="18" charset="0"/>
                            </a:rPr>
                            <m:t>)</m:t>
                          </m:r>
                        </m:num>
                        <m:den>
                          <m:nary>
                            <m:naryPr>
                              <m:chr m:val="∑"/>
                              <m:limLoc m:val="undOvr"/>
                              <m:grow m:val="on"/>
                              <m:supHide m:val="on"/>
                              <m:ctrlPr>
                                <a:rPr lang="zh-CN" altLang="zh-CN" sz="1100" i="1">
                                  <a:latin typeface="Cambria Math" panose="02040503050406030204" pitchFamily="18" charset="0"/>
                                </a:rPr>
                              </m:ctrlPr>
                            </m:naryPr>
                            <m:sub>
                              <m:r>
                                <a:rPr lang="en-US" altLang="zh-CN" sz="1100" i="1">
                                  <a:latin typeface="Cambria Math" panose="02040503050406030204" pitchFamily="18" charset="0"/>
                                </a:rPr>
                                <m:t>𝑗</m:t>
                              </m:r>
                            </m:sub>
                            <m:sup/>
                            <m:e>
                              <m:r>
                                <a:rPr lang="en-US" altLang="zh-CN" sz="1100" i="1">
                                  <a:latin typeface="Cambria Math" panose="02040503050406030204" pitchFamily="18" charset="0"/>
                                </a:rPr>
                                <m:t> </m:t>
                              </m:r>
                            </m:e>
                          </m:nary>
                          <m:r>
                            <m:rPr>
                              <m:sty m:val="p"/>
                            </m:rPr>
                            <a:rPr lang="en-US" altLang="zh-CN" sz="1100">
                              <a:latin typeface="Cambria Math" panose="02040503050406030204" pitchFamily="18" charset="0"/>
                            </a:rPr>
                            <m:t>exp</m:t>
                          </m:r>
                          <m:r>
                            <a:rPr lang="en-US" altLang="zh-CN" sz="1100" i="1">
                              <a:latin typeface="Cambria Math" panose="02040503050406030204" pitchFamily="18" charset="0"/>
                            </a:rPr>
                            <m:t>(</m:t>
                          </m:r>
                          <m:sSub>
                            <m:sSubPr>
                              <m:ctrlPr>
                                <a:rPr lang="zh-CN" altLang="zh-CN" sz="1100" i="1">
                                  <a:latin typeface="Cambria Math" panose="02040503050406030204" pitchFamily="18" charset="0"/>
                                </a:rPr>
                              </m:ctrlPr>
                            </m:sSubPr>
                            <m:e>
                              <m:r>
                                <a:rPr lang="en-US" altLang="zh-CN" sz="1100" i="1">
                                  <a:latin typeface="Cambria Math" panose="02040503050406030204" pitchFamily="18" charset="0"/>
                                </a:rPr>
                                <m:t>𝑠</m:t>
                              </m:r>
                            </m:e>
                            <m:sub>
                              <m:r>
                                <a:rPr lang="en-US" altLang="zh-CN" sz="1100" i="1">
                                  <a:latin typeface="Cambria Math" panose="02040503050406030204" pitchFamily="18" charset="0"/>
                                </a:rPr>
                                <m:t>𝑗</m:t>
                              </m:r>
                            </m:sub>
                          </m:sSub>
                          <m:r>
                            <a:rPr lang="en-US" altLang="zh-CN" sz="1100" i="1">
                              <a:latin typeface="Cambria Math" panose="02040503050406030204" pitchFamily="18" charset="0"/>
                            </a:rPr>
                            <m:t>/</m:t>
                          </m:r>
                          <m:r>
                            <a:rPr lang="en-US" altLang="zh-CN" sz="1100" i="1">
                              <a:latin typeface="Cambria Math" panose="02040503050406030204" pitchFamily="18" charset="0"/>
                            </a:rPr>
                            <m:t>𝜏</m:t>
                          </m:r>
                          <m:r>
                            <a:rPr lang="en-US" altLang="zh-CN" sz="1100" i="1">
                              <a:latin typeface="Cambria Math" panose="02040503050406030204" pitchFamily="18" charset="0"/>
                            </a:rPr>
                            <m:t>)</m:t>
                          </m:r>
                        </m:den>
                      </m:f>
                    </m:oMath>
                  </m:oMathPara>
                </a14:m>
                <a:endParaRPr lang="zh-CN" altLang="zh-CN" sz="1100" dirty="0"/>
              </a:p>
            </p:txBody>
          </p:sp>
        </mc:Choice>
        <mc:Fallback xmlns="">
          <p:sp>
            <p:nvSpPr>
              <p:cNvPr id="17" name="文本框 16">
                <a:extLst>
                  <a:ext uri="{FF2B5EF4-FFF2-40B4-BE49-F238E27FC236}">
                    <a16:creationId xmlns:a16="http://schemas.microsoft.com/office/drawing/2014/main" id="{87B6E0E5-AC5F-36A7-0B57-ADE0FDD7C1D7}"/>
                  </a:ext>
                </a:extLst>
              </p:cNvPr>
              <p:cNvSpPr txBox="1">
                <a:spLocks noRot="1" noChangeAspect="1" noMove="1" noResize="1" noEditPoints="1" noAdjustHandles="1" noChangeArrowheads="1" noChangeShapeType="1" noTextEdit="1"/>
              </p:cNvSpPr>
              <p:nvPr/>
            </p:nvSpPr>
            <p:spPr>
              <a:xfrm>
                <a:off x="2224329" y="1153520"/>
                <a:ext cx="2306561" cy="487506"/>
              </a:xfrm>
              <a:prstGeom prst="rect">
                <a:avLst/>
              </a:prstGeom>
              <a:blipFill>
                <a:blip r:embed="rId7"/>
                <a:stretch>
                  <a:fillRect t="-10000" b="-75000"/>
                </a:stretch>
              </a:blipFill>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4CE26E6C-3BC6-3CE5-8ACE-C9EB5E40ABE7}"/>
              </a:ext>
            </a:extLst>
          </p:cNvPr>
          <p:cNvSpPr/>
          <p:nvPr/>
        </p:nvSpPr>
        <p:spPr>
          <a:xfrm>
            <a:off x="1384459" y="1890929"/>
            <a:ext cx="3934061" cy="697063"/>
          </a:xfrm>
          <a:prstGeom prst="rect">
            <a:avLst/>
          </a:prstGeom>
          <a:solidFill>
            <a:schemeClr val="accent5">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446CF8D0-E6D0-6AF4-C6D4-4B14160C1E19}"/>
              </a:ext>
            </a:extLst>
          </p:cNvPr>
          <p:cNvSpPr txBox="1"/>
          <p:nvPr/>
        </p:nvSpPr>
        <p:spPr>
          <a:xfrm>
            <a:off x="1422259" y="1930654"/>
            <a:ext cx="3857303" cy="307777"/>
          </a:xfrm>
          <a:prstGeom prst="rect">
            <a:avLst/>
          </a:prstGeom>
          <a:solidFill>
            <a:schemeClr val="accent5">
              <a:lumMod val="75000"/>
            </a:schemeClr>
          </a:solidFill>
        </p:spPr>
        <p:txBody>
          <a:bodyPr wrap="square" rtlCol="0">
            <a:spAutoFit/>
          </a:bodyPr>
          <a:lstStyle/>
          <a:p>
            <a:pPr algn="ctr"/>
            <a:r>
              <a:rPr lang="zh-CN" altLang="en-US" sz="1400" b="1" dirty="0">
                <a:solidFill>
                  <a:schemeClr val="bg1"/>
                </a:solidFill>
              </a:rPr>
              <a:t>自监督掩码重构</a:t>
            </a:r>
            <a:endParaRPr lang="zh-CN" altLang="en-US" sz="1100" dirty="0">
              <a:solidFill>
                <a:schemeClr val="bg1"/>
              </a:solidFill>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B283521C-647B-EF8F-1559-97FAFD0ABB74}"/>
                  </a:ext>
                </a:extLst>
              </p:cNvPr>
              <p:cNvSpPr txBox="1"/>
              <p:nvPr/>
            </p:nvSpPr>
            <p:spPr>
              <a:xfrm>
                <a:off x="2527410" y="2241487"/>
                <a:ext cx="1710300" cy="3465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ℒ</m:t>
                          </m:r>
                        </m:e>
                        <m:sub>
                          <m:r>
                            <m:rPr>
                              <m:sty m:val="p"/>
                            </m:rPr>
                            <a:rPr lang="en-US" altLang="zh-CN" sz="1200">
                              <a:latin typeface="Cambria Math" panose="02040503050406030204" pitchFamily="18" charset="0"/>
                            </a:rPr>
                            <m:t>rec</m:t>
                          </m:r>
                        </m:sub>
                      </m:sSub>
                      <m:r>
                        <a:rPr lang="en-US" altLang="zh-CN" sz="1200" i="1">
                          <a:latin typeface="Cambria Math" panose="02040503050406030204" pitchFamily="18" charset="0"/>
                        </a:rPr>
                        <m:t>=∥</m:t>
                      </m:r>
                      <m:sSubSup>
                        <m:sSubSupPr>
                          <m:ctrlPr>
                            <a:rPr lang="zh-CN" altLang="zh-CN" sz="1200" i="1">
                              <a:latin typeface="Cambria Math" panose="02040503050406030204" pitchFamily="18" charset="0"/>
                            </a:rPr>
                          </m:ctrlPr>
                        </m:sSubSupPr>
                        <m:e>
                          <m:r>
                            <a:rPr lang="en-US" altLang="zh-CN" sz="1200" i="1">
                              <a:latin typeface="Cambria Math" panose="02040503050406030204" pitchFamily="18" charset="0"/>
                            </a:rPr>
                            <m:t>𝑉</m:t>
                          </m:r>
                        </m:e>
                        <m:sub>
                          <m:r>
                            <m:rPr>
                              <m:sty m:val="p"/>
                            </m:rPr>
                            <a:rPr lang="en-US" altLang="zh-CN" sz="1200">
                              <a:latin typeface="Cambria Math" panose="02040503050406030204" pitchFamily="18" charset="0"/>
                            </a:rPr>
                            <m:t>img</m:t>
                          </m:r>
                        </m:sub>
                        <m:sup>
                          <m:r>
                            <a:rPr lang="en-US" altLang="zh-CN" sz="1200" i="1">
                              <a:latin typeface="Cambria Math" panose="02040503050406030204" pitchFamily="18" charset="0"/>
                            </a:rPr>
                            <m:t>𝑐𝑙𝑖𝑝</m:t>
                          </m:r>
                        </m:sup>
                      </m:sSubSup>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𝑉</m:t>
                              </m:r>
                            </m:e>
                          </m:acc>
                        </m:e>
                        <m:sub>
                          <m:r>
                            <m:rPr>
                              <m:sty m:val="p"/>
                            </m:rPr>
                            <a:rPr lang="en-US" altLang="zh-CN" sz="1200">
                              <a:latin typeface="Cambria Math" panose="02040503050406030204" pitchFamily="18" charset="0"/>
                            </a:rPr>
                            <m:t>img</m:t>
                          </m:r>
                        </m:sub>
                      </m:sSub>
                      <m:sSubSup>
                        <m:sSubSupPr>
                          <m:ctrlPr>
                            <a:rPr lang="zh-CN" altLang="zh-CN" sz="1200" i="1">
                              <a:latin typeface="Cambria Math" panose="02040503050406030204" pitchFamily="18" charset="0"/>
                            </a:rPr>
                          </m:ctrlPr>
                        </m:sSubSupPr>
                        <m:e>
                          <m:r>
                            <a:rPr lang="en-US" altLang="zh-CN" sz="1200" i="1">
                              <a:latin typeface="Cambria Math" panose="02040503050406030204" pitchFamily="18" charset="0"/>
                            </a:rPr>
                            <m:t>∥</m:t>
                          </m:r>
                        </m:e>
                        <m:sub>
                          <m:r>
                            <a:rPr lang="en-US" altLang="zh-CN" sz="1200" i="1">
                              <a:latin typeface="Cambria Math" panose="02040503050406030204" pitchFamily="18" charset="0"/>
                            </a:rPr>
                            <m:t>2</m:t>
                          </m:r>
                        </m:sub>
                        <m:sup>
                          <m:r>
                            <a:rPr lang="en-US" altLang="zh-CN" sz="1200" i="1">
                              <a:latin typeface="Cambria Math" panose="02040503050406030204" pitchFamily="18" charset="0"/>
                            </a:rPr>
                            <m:t>2</m:t>
                          </m:r>
                        </m:sup>
                      </m:sSubSup>
                    </m:oMath>
                  </m:oMathPara>
                </a14:m>
                <a:endParaRPr lang="zh-CN" altLang="zh-CN" dirty="0"/>
              </a:p>
            </p:txBody>
          </p:sp>
        </mc:Choice>
        <mc:Fallback xmlns="">
          <p:sp>
            <p:nvSpPr>
              <p:cNvPr id="26" name="文本框 25">
                <a:extLst>
                  <a:ext uri="{FF2B5EF4-FFF2-40B4-BE49-F238E27FC236}">
                    <a16:creationId xmlns:a16="http://schemas.microsoft.com/office/drawing/2014/main" id="{D9B509B0-CF13-9E73-F822-593F161A9500}"/>
                  </a:ext>
                </a:extLst>
              </p:cNvPr>
              <p:cNvSpPr txBox="1">
                <a:spLocks noRot="1" noChangeAspect="1" noMove="1" noResize="1" noEditPoints="1" noAdjustHandles="1" noChangeArrowheads="1" noChangeShapeType="1" noTextEdit="1"/>
              </p:cNvSpPr>
              <p:nvPr/>
            </p:nvSpPr>
            <p:spPr>
              <a:xfrm>
                <a:off x="2527410" y="2241487"/>
                <a:ext cx="1710300" cy="346505"/>
              </a:xfrm>
              <a:prstGeom prst="rect">
                <a:avLst/>
              </a:prstGeom>
              <a:blipFill>
                <a:blip r:embed="rId8"/>
                <a:stretch>
                  <a:fillRect b="-1754"/>
                </a:stretch>
              </a:blipFill>
            </p:spPr>
            <p:txBody>
              <a:bodyPr/>
              <a:lstStyle/>
              <a:p>
                <a:r>
                  <a:rPr lang="zh-CN" altLang="en-US">
                    <a:noFill/>
                  </a:rPr>
                  <a:t> </a:t>
                </a:r>
              </a:p>
            </p:txBody>
          </p:sp>
        </mc:Fallback>
      </mc:AlternateContent>
      <p:sp>
        <p:nvSpPr>
          <p:cNvPr id="9" name="箭头: 右 8">
            <a:extLst>
              <a:ext uri="{FF2B5EF4-FFF2-40B4-BE49-F238E27FC236}">
                <a16:creationId xmlns:a16="http://schemas.microsoft.com/office/drawing/2014/main" id="{98486D7F-A5A2-A8CD-F531-4094BE7CB386}"/>
              </a:ext>
            </a:extLst>
          </p:cNvPr>
          <p:cNvSpPr/>
          <p:nvPr/>
        </p:nvSpPr>
        <p:spPr>
          <a:xfrm>
            <a:off x="1038710" y="1974780"/>
            <a:ext cx="345749"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右 27">
            <a:extLst>
              <a:ext uri="{FF2B5EF4-FFF2-40B4-BE49-F238E27FC236}">
                <a16:creationId xmlns:a16="http://schemas.microsoft.com/office/drawing/2014/main" id="{CCDF5F1E-5115-7F0C-0C06-F0B5D31B13BA}"/>
              </a:ext>
            </a:extLst>
          </p:cNvPr>
          <p:cNvSpPr/>
          <p:nvPr/>
        </p:nvSpPr>
        <p:spPr>
          <a:xfrm>
            <a:off x="3557611" y="3111330"/>
            <a:ext cx="63360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30C1C447-D9E7-E3F9-FE2E-ADB88D6996BD}"/>
              </a:ext>
            </a:extLst>
          </p:cNvPr>
          <p:cNvSpPr/>
          <p:nvPr/>
        </p:nvSpPr>
        <p:spPr>
          <a:xfrm>
            <a:off x="1383614" y="2879559"/>
            <a:ext cx="3934061" cy="697063"/>
          </a:xfrm>
          <a:prstGeom prst="rect">
            <a:avLst/>
          </a:prstGeom>
          <a:solidFill>
            <a:schemeClr val="accent5">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171595F4-86F8-9438-0EAC-F8FEE8741DDE}"/>
              </a:ext>
            </a:extLst>
          </p:cNvPr>
          <p:cNvSpPr txBox="1"/>
          <p:nvPr/>
        </p:nvSpPr>
        <p:spPr>
          <a:xfrm>
            <a:off x="1422259" y="2917944"/>
            <a:ext cx="3857303" cy="307777"/>
          </a:xfrm>
          <a:prstGeom prst="rect">
            <a:avLst/>
          </a:prstGeom>
          <a:solidFill>
            <a:schemeClr val="accent5">
              <a:lumMod val="75000"/>
            </a:schemeClr>
          </a:solidFill>
        </p:spPr>
        <p:txBody>
          <a:bodyPr wrap="square" rtlCol="0">
            <a:spAutoFit/>
          </a:bodyPr>
          <a:lstStyle/>
          <a:p>
            <a:pPr algn="ctr"/>
            <a:r>
              <a:rPr lang="zh-CN" altLang="en-US" sz="1400" b="1" dirty="0">
                <a:solidFill>
                  <a:schemeClr val="bg1"/>
                </a:solidFill>
              </a:rPr>
              <a:t>建立异常度量函数</a:t>
            </a:r>
            <a:endParaRPr lang="zh-CN" altLang="en-US" sz="1100" dirty="0">
              <a:solidFill>
                <a:schemeClr val="bg1"/>
              </a:solidFill>
            </a:endParaRP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983A8F6A-EA85-B148-FDDF-489653ECACE2}"/>
                  </a:ext>
                </a:extLst>
              </p:cNvPr>
              <p:cNvSpPr txBox="1"/>
              <p:nvPr/>
            </p:nvSpPr>
            <p:spPr>
              <a:xfrm>
                <a:off x="2071029" y="3241652"/>
                <a:ext cx="2661502" cy="4658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rPr>
                        <m:t>𝐷</m:t>
                      </m:r>
                      <m:r>
                        <a:rPr lang="en-US" altLang="zh-CN" sz="1200" i="1">
                          <a:latin typeface="Cambria Math" panose="02040503050406030204" pitchFamily="18" charset="0"/>
                        </a:rPr>
                        <m:t>(</m:t>
                      </m:r>
                      <m:r>
                        <a:rPr lang="en-US" altLang="zh-CN" sz="1200" i="1">
                          <a:latin typeface="Cambria Math" panose="02040503050406030204" pitchFamily="18" charset="0"/>
                        </a:rPr>
                        <m:t>𝑥</m:t>
                      </m:r>
                      <m:r>
                        <a:rPr lang="en-US" altLang="zh-CN" sz="1200" i="1">
                          <a:latin typeface="Cambria Math" panose="02040503050406030204" pitchFamily="18" charset="0"/>
                        </a:rPr>
                        <m:t>)=(</m:t>
                      </m:r>
                      <m:r>
                        <a:rPr lang="en-US" altLang="zh-CN" sz="1200" i="1">
                          <a:latin typeface="Cambria Math" panose="02040503050406030204" pitchFamily="18" charset="0"/>
                        </a:rPr>
                        <m:t>𝑓</m:t>
                      </m:r>
                      <m:r>
                        <a:rPr lang="en-US" altLang="zh-CN" sz="1200" i="1">
                          <a:latin typeface="Cambria Math" panose="02040503050406030204" pitchFamily="18" charset="0"/>
                        </a:rPr>
                        <m:t>(</m:t>
                      </m:r>
                      <m:r>
                        <a:rPr lang="en-US" altLang="zh-CN" sz="1200" i="1">
                          <a:latin typeface="Cambria Math" panose="02040503050406030204" pitchFamily="18" charset="0"/>
                        </a:rPr>
                        <m:t>𝑥</m:t>
                      </m:r>
                      <m:r>
                        <a:rPr lang="en-US" altLang="zh-CN" sz="1200" i="1">
                          <a:latin typeface="Cambria Math" panose="02040503050406030204" pitchFamily="18" charset="0"/>
                        </a:rPr>
                        <m:t>)−</m:t>
                      </m:r>
                      <m:r>
                        <a:rPr lang="en-US" altLang="zh-CN" sz="1200" i="1">
                          <a:latin typeface="Cambria Math" panose="02040503050406030204" pitchFamily="18" charset="0"/>
                        </a:rPr>
                        <m:t>𝜇</m:t>
                      </m:r>
                      <m:sSup>
                        <m:sSupPr>
                          <m:ctrlPr>
                            <a:rPr lang="zh-CN" altLang="zh-CN" sz="1200" i="1">
                              <a:latin typeface="Cambria Math" panose="02040503050406030204" pitchFamily="18" charset="0"/>
                            </a:rPr>
                          </m:ctrlPr>
                        </m:sSupPr>
                        <m:e>
                          <m:r>
                            <a:rPr lang="en-US" altLang="zh-CN" sz="1200" i="1">
                              <a:latin typeface="Cambria Math" panose="02040503050406030204" pitchFamily="18" charset="0"/>
                            </a:rPr>
                            <m:t>)</m:t>
                          </m:r>
                        </m:e>
                        <m:sup>
                          <m:r>
                            <a:rPr lang="en-US" altLang="zh-CN" sz="1200">
                              <a:latin typeface="Cambria Math" panose="02040503050406030204" pitchFamily="18" charset="0"/>
                            </a:rPr>
                            <m:t>⊤</m:t>
                          </m:r>
                        </m:sup>
                      </m:sSup>
                      <m:sSup>
                        <m:sSupPr>
                          <m:ctrlPr>
                            <a:rPr lang="zh-CN" altLang="zh-CN" sz="1200" i="1">
                              <a:latin typeface="Cambria Math" panose="02040503050406030204" pitchFamily="18" charset="0"/>
                            </a:rPr>
                          </m:ctrlPr>
                        </m:sSupPr>
                        <m:e>
                          <m:r>
                            <m:rPr>
                              <m:sty m:val="p"/>
                            </m:rPr>
                            <a:rPr lang="en-US" altLang="zh-CN" sz="1200">
                              <a:latin typeface="Cambria Math" panose="02040503050406030204" pitchFamily="18" charset="0"/>
                            </a:rPr>
                            <m:t>Σ</m:t>
                          </m:r>
                        </m:e>
                        <m:sup>
                          <m:r>
                            <a:rPr lang="en-US" altLang="zh-CN" sz="1200" i="1">
                              <a:latin typeface="Cambria Math" panose="02040503050406030204" pitchFamily="18" charset="0"/>
                            </a:rPr>
                            <m:t>−1</m:t>
                          </m:r>
                        </m:sup>
                      </m:sSup>
                      <m:r>
                        <a:rPr lang="en-US" altLang="zh-CN" sz="1200" i="1">
                          <a:latin typeface="Cambria Math" panose="02040503050406030204" pitchFamily="18" charset="0"/>
                        </a:rPr>
                        <m:t>(</m:t>
                      </m:r>
                      <m:r>
                        <a:rPr lang="en-US" altLang="zh-CN" sz="1200" i="1">
                          <a:latin typeface="Cambria Math" panose="02040503050406030204" pitchFamily="18" charset="0"/>
                        </a:rPr>
                        <m:t>𝑓</m:t>
                      </m:r>
                      <m:r>
                        <a:rPr lang="en-US" altLang="zh-CN" sz="1200" i="1">
                          <a:latin typeface="Cambria Math" panose="02040503050406030204" pitchFamily="18" charset="0"/>
                        </a:rPr>
                        <m:t>(</m:t>
                      </m:r>
                      <m:r>
                        <a:rPr lang="en-US" altLang="zh-CN" sz="1200" i="1">
                          <a:latin typeface="Cambria Math" panose="02040503050406030204" pitchFamily="18" charset="0"/>
                        </a:rPr>
                        <m:t>𝑥</m:t>
                      </m:r>
                      <m:r>
                        <a:rPr lang="en-US" altLang="zh-CN" sz="1200" i="1">
                          <a:latin typeface="Cambria Math" panose="02040503050406030204" pitchFamily="18" charset="0"/>
                        </a:rPr>
                        <m:t>)−</m:t>
                      </m:r>
                      <m:r>
                        <a:rPr lang="en-US" altLang="zh-CN" sz="1200" i="1">
                          <a:latin typeface="Cambria Math" panose="02040503050406030204" pitchFamily="18" charset="0"/>
                        </a:rPr>
                        <m:t>𝜇</m:t>
                      </m:r>
                      <m:r>
                        <a:rPr lang="en-US" altLang="zh-CN" sz="1200" i="1">
                          <a:latin typeface="Cambria Math" panose="02040503050406030204" pitchFamily="18" charset="0"/>
                        </a:rPr>
                        <m:t>)</m:t>
                      </m:r>
                    </m:oMath>
                  </m:oMathPara>
                </a14:m>
                <a:endParaRPr lang="zh-CN" altLang="zh-CN" sz="1200" dirty="0"/>
              </a:p>
              <a:p>
                <a:endParaRPr lang="zh-CN" altLang="zh-CN" sz="1200" dirty="0"/>
              </a:p>
            </p:txBody>
          </p:sp>
        </mc:Choice>
        <mc:Fallback xmlns="">
          <p:sp>
            <p:nvSpPr>
              <p:cNvPr id="33" name="文本框 32">
                <a:extLst>
                  <a:ext uri="{FF2B5EF4-FFF2-40B4-BE49-F238E27FC236}">
                    <a16:creationId xmlns:a16="http://schemas.microsoft.com/office/drawing/2014/main" id="{47615797-24BE-0137-C84A-58F1D4CC5AF0}"/>
                  </a:ext>
                </a:extLst>
              </p:cNvPr>
              <p:cNvSpPr txBox="1">
                <a:spLocks noRot="1" noChangeAspect="1" noMove="1" noResize="1" noEditPoints="1" noAdjustHandles="1" noChangeArrowheads="1" noChangeShapeType="1" noTextEdit="1"/>
              </p:cNvSpPr>
              <p:nvPr/>
            </p:nvSpPr>
            <p:spPr>
              <a:xfrm>
                <a:off x="2071029" y="3241652"/>
                <a:ext cx="2661502" cy="465833"/>
              </a:xfrm>
              <a:prstGeom prst="rect">
                <a:avLst/>
              </a:prstGeom>
              <a:blipFill>
                <a:blip r:embed="rId9"/>
                <a:stretch>
                  <a:fillRect/>
                </a:stretch>
              </a:blipFill>
            </p:spPr>
            <p:txBody>
              <a:bodyPr/>
              <a:lstStyle/>
              <a:p>
                <a:r>
                  <a:rPr lang="zh-CN" altLang="en-US">
                    <a:noFill/>
                  </a:rPr>
                  <a:t> </a:t>
                </a:r>
              </a:p>
            </p:txBody>
          </p:sp>
        </mc:Fallback>
      </mc:AlternateContent>
      <p:sp>
        <p:nvSpPr>
          <p:cNvPr id="23" name="箭头: 右 22">
            <a:extLst>
              <a:ext uri="{FF2B5EF4-FFF2-40B4-BE49-F238E27FC236}">
                <a16:creationId xmlns:a16="http://schemas.microsoft.com/office/drawing/2014/main" id="{8270CE00-F73E-D1CD-077E-F4D0DCC23031}"/>
              </a:ext>
            </a:extLst>
          </p:cNvPr>
          <p:cNvSpPr/>
          <p:nvPr/>
        </p:nvSpPr>
        <p:spPr>
          <a:xfrm rot="5400000">
            <a:off x="3206633" y="1633281"/>
            <a:ext cx="341955"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箭头: 右 36">
            <a:extLst>
              <a:ext uri="{FF2B5EF4-FFF2-40B4-BE49-F238E27FC236}">
                <a16:creationId xmlns:a16="http://schemas.microsoft.com/office/drawing/2014/main" id="{57F65744-716F-7830-7312-0B66BD4785C6}"/>
              </a:ext>
            </a:extLst>
          </p:cNvPr>
          <p:cNvSpPr/>
          <p:nvPr/>
        </p:nvSpPr>
        <p:spPr>
          <a:xfrm rot="5400000">
            <a:off x="3211582" y="2587848"/>
            <a:ext cx="341955"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箭头: 右 69">
            <a:extLst>
              <a:ext uri="{FF2B5EF4-FFF2-40B4-BE49-F238E27FC236}">
                <a16:creationId xmlns:a16="http://schemas.microsoft.com/office/drawing/2014/main" id="{5E56442D-95EC-CF4E-EAB2-C41C1E3A3915}"/>
              </a:ext>
            </a:extLst>
          </p:cNvPr>
          <p:cNvSpPr/>
          <p:nvPr/>
        </p:nvSpPr>
        <p:spPr>
          <a:xfrm>
            <a:off x="5416094" y="1683665"/>
            <a:ext cx="43751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DA708154-68B6-31CA-0039-8FDE7EFF959F}"/>
              </a:ext>
            </a:extLst>
          </p:cNvPr>
          <p:cNvSpPr txBox="1"/>
          <p:nvPr/>
        </p:nvSpPr>
        <p:spPr>
          <a:xfrm>
            <a:off x="8125013" y="5519989"/>
            <a:ext cx="3776358" cy="307777"/>
          </a:xfrm>
          <a:prstGeom prst="rect">
            <a:avLst/>
          </a:prstGeom>
          <a:solidFill>
            <a:schemeClr val="accent6">
              <a:lumMod val="75000"/>
            </a:schemeClr>
          </a:solidFill>
        </p:spPr>
        <p:txBody>
          <a:bodyPr wrap="square" rtlCol="0">
            <a:spAutoFit/>
          </a:bodyPr>
          <a:lstStyle/>
          <a:p>
            <a:pPr algn="ctr"/>
            <a:r>
              <a:rPr lang="zh-CN" altLang="en-US" sz="1400" b="1" dirty="0">
                <a:solidFill>
                  <a:schemeClr val="bg1"/>
                </a:solidFill>
              </a:rPr>
              <a:t>动态权重优化与模态适配</a:t>
            </a:r>
            <a:endParaRPr lang="zh-CN" altLang="en-US" sz="1100" dirty="0">
              <a:solidFill>
                <a:schemeClr val="bg1"/>
              </a:solidFill>
            </a:endParaRPr>
          </a:p>
        </p:txBody>
      </p:sp>
      <p:sp>
        <p:nvSpPr>
          <p:cNvPr id="54" name="矩形 53">
            <a:extLst>
              <a:ext uri="{FF2B5EF4-FFF2-40B4-BE49-F238E27FC236}">
                <a16:creationId xmlns:a16="http://schemas.microsoft.com/office/drawing/2014/main" id="{A9AD70B8-F591-6AF9-7389-E8EEF45F6114}"/>
              </a:ext>
            </a:extLst>
          </p:cNvPr>
          <p:cNvSpPr/>
          <p:nvPr/>
        </p:nvSpPr>
        <p:spPr>
          <a:xfrm>
            <a:off x="8115296" y="4341941"/>
            <a:ext cx="3776358" cy="31473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rPr>
              <a:t>检测任务的微调</a:t>
            </a:r>
            <a:endParaRPr lang="zh-CN" altLang="en-US" sz="1100" dirty="0">
              <a:solidFill>
                <a:schemeClr val="bg1"/>
              </a:solidFill>
            </a:endParaRPr>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1073B468-315D-08DB-DF75-29F83F683661}"/>
                  </a:ext>
                </a:extLst>
              </p:cNvPr>
              <p:cNvSpPr txBox="1"/>
              <p:nvPr/>
            </p:nvSpPr>
            <p:spPr>
              <a:xfrm>
                <a:off x="8167097" y="5931049"/>
                <a:ext cx="3671190" cy="291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latin typeface="Cambria Math" panose="02040503050406030204" pitchFamily="18" charset="0"/>
                        </a:rPr>
                        <m:t>𝐿</m:t>
                      </m:r>
                      <m:r>
                        <a:rPr lang="zh-CN" altLang="en-US" sz="1200" i="0">
                          <a:latin typeface="Cambria Math" panose="02040503050406030204" pitchFamily="18" charset="0"/>
                        </a:rPr>
                        <m:t>=</m:t>
                      </m:r>
                      <m:r>
                        <a:rPr lang="zh-CN" altLang="en-US" sz="1200" i="1">
                          <a:latin typeface="Cambria Math" panose="02040503050406030204" pitchFamily="18" charset="0"/>
                        </a:rPr>
                        <m:t>𝛼</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𝑓𝑜𝑐𝑎𝑙</m:t>
                          </m:r>
                        </m:sub>
                      </m:sSub>
                      <m:r>
                        <a:rPr lang="zh-CN" altLang="en-US" sz="1200" i="0">
                          <a:latin typeface="Cambria Math" panose="02040503050406030204" pitchFamily="18" charset="0"/>
                        </a:rPr>
                        <m:t>+</m:t>
                      </m:r>
                      <m:r>
                        <a:rPr lang="zh-CN" altLang="en-US" sz="1200" i="1">
                          <a:latin typeface="Cambria Math" panose="02040503050406030204" pitchFamily="18" charset="0"/>
                        </a:rPr>
                        <m:t>𝛽</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𝑑𝑖𝑐𝑒</m:t>
                          </m:r>
                        </m:sub>
                      </m:sSub>
                      <m:r>
                        <a:rPr lang="zh-CN" altLang="en-US" sz="1200" i="0">
                          <a:latin typeface="Cambria Math" panose="02040503050406030204" pitchFamily="18" charset="0"/>
                        </a:rPr>
                        <m:t>+</m:t>
                      </m:r>
                      <m:r>
                        <a:rPr lang="zh-CN" altLang="en-US" sz="1200" i="1">
                          <a:latin typeface="Cambria Math" panose="02040503050406030204" pitchFamily="18" charset="0"/>
                        </a:rPr>
                        <m:t>𝛾</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𝑐𝑜𝑛</m:t>
                          </m:r>
                        </m:sub>
                      </m:sSub>
                      <m:r>
                        <a:rPr lang="zh-CN" altLang="en-US" sz="1200" i="0">
                          <a:latin typeface="Cambria Math" panose="02040503050406030204" pitchFamily="18" charset="0"/>
                        </a:rPr>
                        <m:t>+</m:t>
                      </m:r>
                      <m:r>
                        <a:rPr lang="zh-CN" altLang="en-US" sz="1200" i="1">
                          <a:latin typeface="Cambria Math" panose="02040503050406030204" pitchFamily="18" charset="0"/>
                        </a:rPr>
                        <m:t>𝛿</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𝑟𝑒𝑐</m:t>
                          </m:r>
                        </m:sub>
                      </m:sSub>
                    </m:oMath>
                  </m:oMathPara>
                </a14:m>
                <a:endParaRPr lang="zh-CN" altLang="en-US" sz="1200" dirty="0"/>
              </a:p>
            </p:txBody>
          </p:sp>
        </mc:Choice>
        <mc:Fallback xmlns="">
          <p:sp>
            <p:nvSpPr>
              <p:cNvPr id="56" name="文本框 55">
                <a:extLst>
                  <a:ext uri="{FF2B5EF4-FFF2-40B4-BE49-F238E27FC236}">
                    <a16:creationId xmlns:a16="http://schemas.microsoft.com/office/drawing/2014/main" id="{1073B468-315D-08DB-DF75-29F83F683661}"/>
                  </a:ext>
                </a:extLst>
              </p:cNvPr>
              <p:cNvSpPr txBox="1">
                <a:spLocks noRot="1" noChangeAspect="1" noMove="1" noResize="1" noEditPoints="1" noAdjustHandles="1" noChangeArrowheads="1" noChangeShapeType="1" noTextEdit="1"/>
              </p:cNvSpPr>
              <p:nvPr/>
            </p:nvSpPr>
            <p:spPr>
              <a:xfrm>
                <a:off x="8167097" y="5931049"/>
                <a:ext cx="3671190" cy="291811"/>
              </a:xfrm>
              <a:prstGeom prst="rect">
                <a:avLst/>
              </a:prstGeom>
              <a:blipFill>
                <a:blip r:embed="rId10"/>
                <a:stretch>
                  <a:fillRect b="-2083"/>
                </a:stretch>
              </a:blipFill>
            </p:spPr>
            <p:txBody>
              <a:bodyPr/>
              <a:lstStyle/>
              <a:p>
                <a:r>
                  <a:rPr lang="zh-CN" altLang="en-US">
                    <a:noFill/>
                  </a:rPr>
                  <a:t> </a:t>
                </a:r>
              </a:p>
            </p:txBody>
          </p:sp>
        </mc:Fallback>
      </mc:AlternateContent>
      <p:sp>
        <p:nvSpPr>
          <p:cNvPr id="2" name="箭头: 右 1">
            <a:extLst>
              <a:ext uri="{FF2B5EF4-FFF2-40B4-BE49-F238E27FC236}">
                <a16:creationId xmlns:a16="http://schemas.microsoft.com/office/drawing/2014/main" id="{46CA4427-E5E7-355C-D17F-D0584B813837}"/>
              </a:ext>
            </a:extLst>
          </p:cNvPr>
          <p:cNvSpPr/>
          <p:nvPr/>
        </p:nvSpPr>
        <p:spPr>
          <a:xfrm>
            <a:off x="7567932" y="3045721"/>
            <a:ext cx="434246"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箭头: 右 2">
            <a:extLst>
              <a:ext uri="{FF2B5EF4-FFF2-40B4-BE49-F238E27FC236}">
                <a16:creationId xmlns:a16="http://schemas.microsoft.com/office/drawing/2014/main" id="{D6400225-D997-426F-7D6D-DADA885B9BCA}"/>
              </a:ext>
            </a:extLst>
          </p:cNvPr>
          <p:cNvSpPr/>
          <p:nvPr/>
        </p:nvSpPr>
        <p:spPr>
          <a:xfrm rot="10800000">
            <a:off x="7566165" y="5128681"/>
            <a:ext cx="434246"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86EC26F3-A8EA-4690-BD26-68148FBD05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4865" y="5128681"/>
            <a:ext cx="808080" cy="875618"/>
          </a:xfrm>
          <a:prstGeom prst="rect">
            <a:avLst/>
          </a:prstGeom>
        </p:spPr>
      </p:pic>
      <p:sp>
        <p:nvSpPr>
          <p:cNvPr id="8" name="文本框 7">
            <a:extLst>
              <a:ext uri="{FF2B5EF4-FFF2-40B4-BE49-F238E27FC236}">
                <a16:creationId xmlns:a16="http://schemas.microsoft.com/office/drawing/2014/main" id="{538FC7FA-AC6A-F6FF-3AC4-4FA6C41D2991}"/>
              </a:ext>
            </a:extLst>
          </p:cNvPr>
          <p:cNvSpPr txBox="1"/>
          <p:nvPr/>
        </p:nvSpPr>
        <p:spPr>
          <a:xfrm>
            <a:off x="5846313" y="4499309"/>
            <a:ext cx="1625183" cy="584775"/>
          </a:xfrm>
          <a:prstGeom prst="rect">
            <a:avLst/>
          </a:prstGeom>
          <a:noFill/>
        </p:spPr>
        <p:txBody>
          <a:bodyPr wrap="square" rtlCol="0">
            <a:spAutoFit/>
          </a:bodyPr>
          <a:lstStyle/>
          <a:p>
            <a:pPr algn="ctr"/>
            <a:r>
              <a:rPr lang="zh-CN" altLang="en-US" sz="1600" b="1" dirty="0"/>
              <a:t>构建晶体缺陷识别大模型</a:t>
            </a:r>
          </a:p>
        </p:txBody>
      </p:sp>
      <p:sp>
        <p:nvSpPr>
          <p:cNvPr id="38" name="箭头: 右 37">
            <a:extLst>
              <a:ext uri="{FF2B5EF4-FFF2-40B4-BE49-F238E27FC236}">
                <a16:creationId xmlns:a16="http://schemas.microsoft.com/office/drawing/2014/main" id="{8B1086A1-DCC7-B53D-105C-3AC37016EE90}"/>
              </a:ext>
            </a:extLst>
          </p:cNvPr>
          <p:cNvSpPr/>
          <p:nvPr/>
        </p:nvSpPr>
        <p:spPr>
          <a:xfrm rot="10800000">
            <a:off x="5211316" y="5128681"/>
            <a:ext cx="72582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449BD013-F664-5200-C4D2-3CF631E4C3B7}"/>
                  </a:ext>
                </a:extLst>
              </p:cNvPr>
              <p:cNvSpPr/>
              <p:nvPr/>
            </p:nvSpPr>
            <p:spPr>
              <a:xfrm>
                <a:off x="5863366" y="1242375"/>
                <a:ext cx="1709646" cy="912406"/>
              </a:xfrm>
              <a:prstGeom prst="rect">
                <a:avLst/>
              </a:prstGeom>
              <a:solidFill>
                <a:srgbClr val="E2F0D9"/>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zh-CN" sz="1400" i="1" smtClean="0">
                              <a:solidFill>
                                <a:schemeClr val="tx1"/>
                              </a:solidFill>
                              <a:latin typeface="Cambria Math" panose="02040503050406030204" pitchFamily="18" charset="0"/>
                            </a:rPr>
                          </m:ctrlPr>
                        </m:sSubPr>
                        <m:e>
                          <m:eqArr>
                            <m:eqArrPr>
                              <m:ctrlPr>
                                <a:rPr lang="en-US" altLang="zh-CN" sz="1400" i="1">
                                  <a:solidFill>
                                    <a:schemeClr val="tx1"/>
                                  </a:solidFill>
                                  <a:latin typeface="Cambria Math" panose="02040503050406030204" pitchFamily="18" charset="0"/>
                                </a:rPr>
                              </m:ctrlPr>
                            </m:eqArrPr>
                            <m:e/>
                            <m:e>
                              <m:r>
                                <a:rPr lang="en-US" altLang="zh-CN" sz="1400" i="1">
                                  <a:solidFill>
                                    <a:schemeClr val="tx1"/>
                                  </a:solidFill>
                                  <a:latin typeface="Cambria Math" panose="02040503050406030204" pitchFamily="18" charset="0"/>
                                </a:rPr>
                                <m:t>ℒ</m:t>
                              </m:r>
                            </m:e>
                          </m:eqArr>
                        </m:e>
                        <m:sub>
                          <m:r>
                            <m:rPr>
                              <m:sty m:val="p"/>
                            </m:rPr>
                            <a:rPr lang="en-US" altLang="zh-CN" sz="1400">
                              <a:solidFill>
                                <a:schemeClr val="tx1"/>
                              </a:solidFill>
                              <a:latin typeface="Cambria Math" panose="02040503050406030204" pitchFamily="18" charset="0"/>
                            </a:rPr>
                            <m:t>con</m:t>
                          </m:r>
                        </m:sub>
                      </m:sSub>
                    </m:oMath>
                  </m:oMathPara>
                </a14:m>
                <a:endParaRPr lang="en-US" altLang="zh-CN" sz="14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zh-CN"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ℒ</m:t>
                          </m:r>
                        </m:e>
                        <m:sub>
                          <m:r>
                            <m:rPr>
                              <m:sty m:val="p"/>
                            </m:rPr>
                            <a:rPr lang="en-US" altLang="zh-CN" sz="1400" i="1">
                              <a:solidFill>
                                <a:schemeClr val="tx1"/>
                              </a:solidFill>
                              <a:latin typeface="Cambria Math" panose="02040503050406030204" pitchFamily="18" charset="0"/>
                            </a:rPr>
                            <m:t>rec</m:t>
                          </m:r>
                        </m:sub>
                      </m:sSub>
                    </m:oMath>
                  </m:oMathPara>
                </a14:m>
                <a:endParaRPr lang="zh-CN" altLang="en-US" sz="1400" i="1" dirty="0">
                  <a:solidFill>
                    <a:schemeClr val="tx1"/>
                  </a:solidFill>
                  <a:latin typeface="Cambria Math" panose="02040503050406030204" pitchFamily="18" charset="0"/>
                </a:endParaRPr>
              </a:p>
            </p:txBody>
          </p:sp>
        </mc:Choice>
        <mc:Fallback xmlns="">
          <p:sp>
            <p:nvSpPr>
              <p:cNvPr id="42" name="矩形 41">
                <a:extLst>
                  <a:ext uri="{FF2B5EF4-FFF2-40B4-BE49-F238E27FC236}">
                    <a16:creationId xmlns:a16="http://schemas.microsoft.com/office/drawing/2014/main" id="{449BD013-F664-5200-C4D2-3CF631E4C3B7}"/>
                  </a:ext>
                </a:extLst>
              </p:cNvPr>
              <p:cNvSpPr>
                <a:spLocks noRot="1" noChangeAspect="1" noMove="1" noResize="1" noEditPoints="1" noAdjustHandles="1" noChangeArrowheads="1" noChangeShapeType="1" noTextEdit="1"/>
              </p:cNvSpPr>
              <p:nvPr/>
            </p:nvSpPr>
            <p:spPr>
              <a:xfrm>
                <a:off x="5863366" y="1242375"/>
                <a:ext cx="1709646" cy="912406"/>
              </a:xfrm>
              <a:prstGeom prst="rect">
                <a:avLst/>
              </a:prstGeom>
              <a:blipFill>
                <a:blip r:embed="rId11"/>
                <a:stretch>
                  <a:fillRect/>
                </a:stretch>
              </a:blipFill>
              <a:ln>
                <a:prstDash val="dash"/>
              </a:ln>
            </p:spPr>
            <p:txBody>
              <a:bodyPr/>
              <a:lstStyle/>
              <a:p>
                <a:r>
                  <a:rPr lang="zh-CN" altLang="en-US">
                    <a:noFill/>
                  </a:rPr>
                  <a:t> </a:t>
                </a:r>
              </a:p>
            </p:txBody>
          </p:sp>
        </mc:Fallback>
      </mc:AlternateContent>
      <p:sp>
        <p:nvSpPr>
          <p:cNvPr id="43" name="箭头: 右 42">
            <a:extLst>
              <a:ext uri="{FF2B5EF4-FFF2-40B4-BE49-F238E27FC236}">
                <a16:creationId xmlns:a16="http://schemas.microsoft.com/office/drawing/2014/main" id="{66D42DFB-421A-101D-82C7-10250A18C571}"/>
              </a:ext>
            </a:extLst>
          </p:cNvPr>
          <p:cNvSpPr/>
          <p:nvPr/>
        </p:nvSpPr>
        <p:spPr>
          <a:xfrm>
            <a:off x="7610812" y="1683665"/>
            <a:ext cx="434247"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A981E345-CA4C-313E-5C41-E0A057078EE6}"/>
              </a:ext>
            </a:extLst>
          </p:cNvPr>
          <p:cNvSpPr txBox="1"/>
          <p:nvPr/>
        </p:nvSpPr>
        <p:spPr>
          <a:xfrm>
            <a:off x="5898147" y="1283118"/>
            <a:ext cx="1625183" cy="307777"/>
          </a:xfrm>
          <a:prstGeom prst="rect">
            <a:avLst/>
          </a:prstGeom>
          <a:solidFill>
            <a:srgbClr val="548235"/>
          </a:solidFill>
        </p:spPr>
        <p:txBody>
          <a:bodyPr wrap="square" rtlCol="0">
            <a:spAutoFit/>
          </a:bodyPr>
          <a:lstStyle/>
          <a:p>
            <a:pPr algn="ctr"/>
            <a:r>
              <a:rPr lang="zh-CN" altLang="en-US" sz="1400" b="1" dirty="0">
                <a:solidFill>
                  <a:schemeClr val="bg1"/>
                </a:solidFill>
              </a:rPr>
              <a:t>自监督表征先验</a:t>
            </a:r>
          </a:p>
        </p:txBody>
      </p:sp>
      <p:sp>
        <p:nvSpPr>
          <p:cNvPr id="10" name="矩形 9">
            <a:extLst>
              <a:ext uri="{FF2B5EF4-FFF2-40B4-BE49-F238E27FC236}">
                <a16:creationId xmlns:a16="http://schemas.microsoft.com/office/drawing/2014/main" id="{4912FCBB-5603-A7FC-0C00-51B75C531EA0}"/>
              </a:ext>
            </a:extLst>
          </p:cNvPr>
          <p:cNvSpPr/>
          <p:nvPr/>
        </p:nvSpPr>
        <p:spPr>
          <a:xfrm>
            <a:off x="1383614" y="4124461"/>
            <a:ext cx="3717706" cy="730862"/>
          </a:xfrm>
          <a:prstGeom prst="rect">
            <a:avLst/>
          </a:prstGeom>
          <a:solidFill>
            <a:schemeClr val="accent2">
              <a:lumMod val="40000"/>
              <a:lumOff val="6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i="1">
              <a:solidFill>
                <a:schemeClr val="tx1"/>
              </a:solidFill>
              <a:latin typeface="Cambria Math" panose="02040503050406030204" pitchFamily="18" charset="0"/>
            </a:endParaRPr>
          </a:p>
          <a:p>
            <a:pPr algn="ctr"/>
            <a:endParaRPr lang="zh-CN" altLang="en-US" sz="1400" i="1" dirty="0">
              <a:solidFill>
                <a:schemeClr val="tx1"/>
              </a:solidFill>
              <a:latin typeface="Cambria Math" panose="02040503050406030204" pitchFamily="18" charset="0"/>
            </a:endParaRPr>
          </a:p>
        </p:txBody>
      </p:sp>
      <p:sp>
        <p:nvSpPr>
          <p:cNvPr id="11" name="文本框 10">
            <a:extLst>
              <a:ext uri="{FF2B5EF4-FFF2-40B4-BE49-F238E27FC236}">
                <a16:creationId xmlns:a16="http://schemas.microsoft.com/office/drawing/2014/main" id="{4738506A-A1CD-9948-A487-99ED96AD1BED}"/>
              </a:ext>
            </a:extLst>
          </p:cNvPr>
          <p:cNvSpPr txBox="1"/>
          <p:nvPr/>
        </p:nvSpPr>
        <p:spPr>
          <a:xfrm>
            <a:off x="1451572" y="4161307"/>
            <a:ext cx="3578151" cy="307777"/>
          </a:xfrm>
          <a:prstGeom prst="rect">
            <a:avLst/>
          </a:prstGeom>
          <a:solidFill>
            <a:srgbClr val="C55A11"/>
          </a:solidFill>
        </p:spPr>
        <p:txBody>
          <a:bodyPr wrap="square" rtlCol="0">
            <a:spAutoFit/>
          </a:bodyPr>
          <a:lstStyle/>
          <a:p>
            <a:pPr algn="ctr"/>
            <a:r>
              <a:rPr lang="zh-CN" altLang="en-US" sz="1400" b="1" dirty="0">
                <a:solidFill>
                  <a:schemeClr val="bg1"/>
                </a:solidFill>
              </a:rPr>
              <a:t>构建异常评分函数</a:t>
            </a: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669ACD9C-70AF-1DD7-83AB-3BFA59439C5F}"/>
                  </a:ext>
                </a:extLst>
              </p:cNvPr>
              <p:cNvSpPr txBox="1"/>
              <p:nvPr/>
            </p:nvSpPr>
            <p:spPr>
              <a:xfrm>
                <a:off x="1072194" y="4523704"/>
                <a:ext cx="453711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latin typeface="Cambria Math" panose="02040503050406030204" pitchFamily="18" charset="0"/>
                        </a:rPr>
                        <m:t>𝑆</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𝑥</m:t>
                          </m:r>
                        </m:e>
                      </m:d>
                      <m:r>
                        <a:rPr lang="zh-CN" altLang="en-US" sz="1200" i="0">
                          <a:latin typeface="Cambria Math" panose="02040503050406030204" pitchFamily="18" charset="0"/>
                        </a:rPr>
                        <m:t>=</m:t>
                      </m:r>
                      <m:r>
                        <a:rPr lang="zh-CN" altLang="en-US" sz="1200" i="1">
                          <a:latin typeface="Cambria Math" panose="02040503050406030204" pitchFamily="18" charset="0"/>
                        </a:rPr>
                        <m:t>𝛼</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1−</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1">
                                  <a:latin typeface="Cambria Math" panose="02040503050406030204" pitchFamily="18" charset="0"/>
                                </a:rPr>
                                <m:t>𝑑𝑒𝑡</m:t>
                              </m:r>
                            </m:sub>
                          </m:sSub>
                        </m:e>
                      </m:d>
                      <m:r>
                        <a:rPr lang="zh-CN" altLang="en-US" sz="1200" i="0">
                          <a:latin typeface="Cambria Math" panose="02040503050406030204" pitchFamily="18" charset="0"/>
                        </a:rPr>
                        <m:t>+</m:t>
                      </m:r>
                      <m:r>
                        <a:rPr lang="zh-CN" altLang="en-US" sz="1200" i="1">
                          <a:latin typeface="Cambria Math" panose="02040503050406030204" pitchFamily="18" charset="0"/>
                        </a:rPr>
                        <m:t>𝛽</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1−</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1">
                                  <a:latin typeface="Cambria Math" panose="02040503050406030204" pitchFamily="18" charset="0"/>
                                </a:rPr>
                                <m:t>𝑐𝑜𝑛𝑠</m:t>
                              </m:r>
                            </m:sub>
                          </m:sSub>
                        </m:e>
                      </m:d>
                      <m:r>
                        <a:rPr lang="zh-CN" altLang="en-US" sz="1200" i="0">
                          <a:latin typeface="Cambria Math" panose="02040503050406030204" pitchFamily="18" charset="0"/>
                        </a:rPr>
                        <m:t>+</m:t>
                      </m:r>
                      <m:r>
                        <a:rPr lang="zh-CN" altLang="en-US" sz="1200" i="1">
                          <a:latin typeface="Cambria Math" panose="02040503050406030204" pitchFamily="18" charset="0"/>
                        </a:rPr>
                        <m:t>𝛾</m:t>
                      </m:r>
                      <m:r>
                        <a:rPr lang="zh-CN" altLang="en-US" sz="1200" i="1">
                          <a:latin typeface="Cambria Math" panose="02040503050406030204" pitchFamily="18" charset="0"/>
                        </a:rPr>
                        <m:t>𝐷</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𝑥</m:t>
                          </m:r>
                        </m:e>
                      </m:d>
                    </m:oMath>
                  </m:oMathPara>
                </a14:m>
                <a:endParaRPr lang="zh-CN" altLang="en-US" sz="1200" dirty="0"/>
              </a:p>
            </p:txBody>
          </p:sp>
        </mc:Choice>
        <mc:Fallback xmlns="">
          <p:sp>
            <p:nvSpPr>
              <p:cNvPr id="34" name="文本框 33">
                <a:extLst>
                  <a:ext uri="{FF2B5EF4-FFF2-40B4-BE49-F238E27FC236}">
                    <a16:creationId xmlns:a16="http://schemas.microsoft.com/office/drawing/2014/main" id="{669ACD9C-70AF-1DD7-83AB-3BFA59439C5F}"/>
                  </a:ext>
                </a:extLst>
              </p:cNvPr>
              <p:cNvSpPr txBox="1">
                <a:spLocks noRot="1" noChangeAspect="1" noMove="1" noResize="1" noEditPoints="1" noAdjustHandles="1" noChangeArrowheads="1" noChangeShapeType="1" noTextEdit="1"/>
              </p:cNvSpPr>
              <p:nvPr/>
            </p:nvSpPr>
            <p:spPr>
              <a:xfrm>
                <a:off x="1072194" y="4523704"/>
                <a:ext cx="4537112" cy="276999"/>
              </a:xfrm>
              <a:prstGeom prst="rect">
                <a:avLst/>
              </a:prstGeom>
              <a:blipFill>
                <a:blip r:embed="rId12"/>
                <a:stretch>
                  <a:fillRect b="-4348"/>
                </a:stretch>
              </a:blipFill>
            </p:spPr>
            <p:txBody>
              <a:bodyPr/>
              <a:lstStyle/>
              <a:p>
                <a:r>
                  <a:rPr lang="zh-CN" altLang="en-US">
                    <a:noFill/>
                  </a:rPr>
                  <a:t> </a:t>
                </a:r>
              </a:p>
            </p:txBody>
          </p:sp>
        </mc:Fallback>
      </mc:AlternateContent>
      <p:sp>
        <p:nvSpPr>
          <p:cNvPr id="35" name="矩形 34">
            <a:extLst>
              <a:ext uri="{FF2B5EF4-FFF2-40B4-BE49-F238E27FC236}">
                <a16:creationId xmlns:a16="http://schemas.microsoft.com/office/drawing/2014/main" id="{09152126-D610-648C-91DF-85F5A0CF6F57}"/>
              </a:ext>
            </a:extLst>
          </p:cNvPr>
          <p:cNvSpPr/>
          <p:nvPr/>
        </p:nvSpPr>
        <p:spPr>
          <a:xfrm>
            <a:off x="1384704" y="5123251"/>
            <a:ext cx="3717706" cy="730862"/>
          </a:xfrm>
          <a:prstGeom prst="rect">
            <a:avLst/>
          </a:prstGeom>
          <a:solidFill>
            <a:schemeClr val="accent2">
              <a:lumMod val="40000"/>
              <a:lumOff val="6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i="1">
              <a:solidFill>
                <a:schemeClr val="tx1"/>
              </a:solidFill>
              <a:latin typeface="Cambria Math" panose="02040503050406030204" pitchFamily="18" charset="0"/>
            </a:endParaRPr>
          </a:p>
          <a:p>
            <a:pPr algn="ctr"/>
            <a:endParaRPr lang="zh-CN" altLang="en-US" sz="1400" i="1" dirty="0">
              <a:solidFill>
                <a:schemeClr val="tx1"/>
              </a:solidFill>
              <a:latin typeface="Cambria Math" panose="02040503050406030204" pitchFamily="18" charset="0"/>
            </a:endParaRPr>
          </a:p>
        </p:txBody>
      </p:sp>
      <p:sp>
        <p:nvSpPr>
          <p:cNvPr id="36" name="文本框 35">
            <a:extLst>
              <a:ext uri="{FF2B5EF4-FFF2-40B4-BE49-F238E27FC236}">
                <a16:creationId xmlns:a16="http://schemas.microsoft.com/office/drawing/2014/main" id="{1D5F7A38-2644-F9C9-477E-C2487CD27235}"/>
              </a:ext>
            </a:extLst>
          </p:cNvPr>
          <p:cNvSpPr txBox="1"/>
          <p:nvPr/>
        </p:nvSpPr>
        <p:spPr>
          <a:xfrm>
            <a:off x="1452662" y="5160097"/>
            <a:ext cx="3578151" cy="307777"/>
          </a:xfrm>
          <a:prstGeom prst="rect">
            <a:avLst/>
          </a:prstGeom>
          <a:solidFill>
            <a:srgbClr val="C55A11"/>
          </a:solidFill>
        </p:spPr>
        <p:txBody>
          <a:bodyPr wrap="square" rtlCol="0">
            <a:spAutoFit/>
          </a:bodyPr>
          <a:lstStyle/>
          <a:p>
            <a:pPr algn="ctr"/>
            <a:r>
              <a:rPr lang="zh-CN" altLang="en-US" sz="1400" b="1" dirty="0">
                <a:solidFill>
                  <a:schemeClr val="bg1"/>
                </a:solidFill>
              </a:rPr>
              <a:t>基于评分函数更新生成模型参数</a:t>
            </a:r>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0B70027C-9376-185C-ADCF-AD9D675F36C7}"/>
                  </a:ext>
                </a:extLst>
              </p:cNvPr>
              <p:cNvSpPr txBox="1"/>
              <p:nvPr/>
            </p:nvSpPr>
            <p:spPr>
              <a:xfrm>
                <a:off x="2405685" y="5519989"/>
                <a:ext cx="1669923" cy="2954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sz="1200" i="1" smtClean="0">
                              <a:latin typeface="Cambria Math" panose="02040503050406030204" pitchFamily="18" charset="0"/>
                            </a:rPr>
                          </m:ctrlPr>
                        </m:sSubSupPr>
                        <m:e>
                          <m:r>
                            <a:rPr lang="zh-CN" altLang="en-US" sz="1200" i="1">
                              <a:latin typeface="Cambria Math" panose="02040503050406030204" pitchFamily="18" charset="0"/>
                            </a:rPr>
                            <m:t>𝜃</m:t>
                          </m:r>
                        </m:e>
                        <m:sub>
                          <m:r>
                            <a:rPr lang="zh-CN" altLang="en-US" sz="1200" i="1">
                              <a:latin typeface="Cambria Math" panose="02040503050406030204" pitchFamily="18" charset="0"/>
                            </a:rPr>
                            <m:t>𝑔𝑒𝑛</m:t>
                          </m:r>
                        </m:sub>
                        <m:sup>
                          <m:r>
                            <a:rPr lang="zh-CN" altLang="en-US" sz="1200" i="1">
                              <a:latin typeface="Cambria Math" panose="02040503050406030204" pitchFamily="18" charset="0"/>
                            </a:rPr>
                            <m:t>𝑡</m:t>
                          </m:r>
                          <m:r>
                            <a:rPr lang="zh-CN" altLang="en-US" sz="1200" i="0">
                              <a:latin typeface="Cambria Math" panose="02040503050406030204" pitchFamily="18" charset="0"/>
                            </a:rPr>
                            <m:t>+1</m:t>
                          </m:r>
                        </m:sup>
                      </m:sSubSup>
                      <m:r>
                        <a:rPr lang="zh-CN" altLang="en-US" sz="1200" i="0">
                          <a:latin typeface="Cambria Math" panose="02040503050406030204" pitchFamily="18" charset="0"/>
                        </a:rPr>
                        <m:t>=</m:t>
                      </m:r>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𝜃</m:t>
                          </m:r>
                        </m:e>
                        <m:sub>
                          <m:r>
                            <a:rPr lang="zh-CN" altLang="en-US" sz="1200" i="1">
                              <a:latin typeface="Cambria Math" panose="02040503050406030204" pitchFamily="18" charset="0"/>
                            </a:rPr>
                            <m:t>𝑔𝑒𝑛</m:t>
                          </m:r>
                        </m:sub>
                        <m:sup>
                          <m:r>
                            <a:rPr lang="zh-CN" altLang="en-US" sz="1200" i="1">
                              <a:latin typeface="Cambria Math" panose="02040503050406030204" pitchFamily="18" charset="0"/>
                            </a:rPr>
                            <m:t>𝑡</m:t>
                          </m:r>
                        </m:sup>
                      </m:sSubSup>
                      <m:r>
                        <a:rPr lang="zh-CN" altLang="en-US" sz="1200" i="0">
                          <a:latin typeface="Cambria Math" panose="02040503050406030204" pitchFamily="18" charset="0"/>
                        </a:rPr>
                        <m:t>+</m:t>
                      </m:r>
                      <m:r>
                        <m:rPr>
                          <m:sty m:val="p"/>
                        </m:rPr>
                        <a:rPr lang="zh-CN" altLang="en-US" sz="1200" i="0">
                          <a:latin typeface="Cambria Math" panose="02040503050406030204" pitchFamily="18" charset="0"/>
                        </a:rPr>
                        <m:t>Δ</m:t>
                      </m:r>
                      <m:r>
                        <a:rPr lang="zh-CN" altLang="en-US" sz="1200" i="1">
                          <a:latin typeface="Cambria Math" panose="02040503050406030204" pitchFamily="18" charset="0"/>
                        </a:rPr>
                        <m:t>𝜃</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𝑆</m:t>
                          </m:r>
                        </m:e>
                      </m:d>
                    </m:oMath>
                  </m:oMathPara>
                </a14:m>
                <a:endParaRPr lang="zh-CN" altLang="en-US" sz="1200" dirty="0"/>
              </a:p>
            </p:txBody>
          </p:sp>
        </mc:Choice>
        <mc:Fallback xmlns="">
          <p:sp>
            <p:nvSpPr>
              <p:cNvPr id="45" name="文本框 44">
                <a:extLst>
                  <a:ext uri="{FF2B5EF4-FFF2-40B4-BE49-F238E27FC236}">
                    <a16:creationId xmlns:a16="http://schemas.microsoft.com/office/drawing/2014/main" id="{0B70027C-9376-185C-ADCF-AD9D675F36C7}"/>
                  </a:ext>
                </a:extLst>
              </p:cNvPr>
              <p:cNvSpPr txBox="1">
                <a:spLocks noRot="1" noChangeAspect="1" noMove="1" noResize="1" noEditPoints="1" noAdjustHandles="1" noChangeArrowheads="1" noChangeShapeType="1" noTextEdit="1"/>
              </p:cNvSpPr>
              <p:nvPr/>
            </p:nvSpPr>
            <p:spPr>
              <a:xfrm>
                <a:off x="2405685" y="5519989"/>
                <a:ext cx="1669923" cy="295402"/>
              </a:xfrm>
              <a:prstGeom prst="rect">
                <a:avLst/>
              </a:prstGeom>
              <a:blipFill>
                <a:blip r:embed="rId13"/>
                <a:stretch>
                  <a:fillRect/>
                </a:stretch>
              </a:blipFill>
            </p:spPr>
            <p:txBody>
              <a:bodyPr/>
              <a:lstStyle/>
              <a:p>
                <a:r>
                  <a:rPr lang="zh-CN" altLang="en-US">
                    <a:noFill/>
                  </a:rPr>
                  <a:t> </a:t>
                </a:r>
              </a:p>
            </p:txBody>
          </p:sp>
        </mc:Fallback>
      </mc:AlternateContent>
      <p:sp>
        <p:nvSpPr>
          <p:cNvPr id="46" name="文本框 45">
            <a:extLst>
              <a:ext uri="{FF2B5EF4-FFF2-40B4-BE49-F238E27FC236}">
                <a16:creationId xmlns:a16="http://schemas.microsoft.com/office/drawing/2014/main" id="{275F32B9-2CFD-25CB-44DB-BE37F4F9A274}"/>
              </a:ext>
            </a:extLst>
          </p:cNvPr>
          <p:cNvSpPr txBox="1"/>
          <p:nvPr/>
        </p:nvSpPr>
        <p:spPr>
          <a:xfrm>
            <a:off x="348187" y="5438791"/>
            <a:ext cx="1110907" cy="584775"/>
          </a:xfrm>
          <a:prstGeom prst="rect">
            <a:avLst/>
          </a:prstGeom>
          <a:noFill/>
        </p:spPr>
        <p:txBody>
          <a:bodyPr wrap="square" rtlCol="0">
            <a:spAutoFit/>
          </a:bodyPr>
          <a:lstStyle/>
          <a:p>
            <a:pPr algn="ctr"/>
            <a:r>
              <a:rPr lang="zh-CN" altLang="en-US" sz="1600" b="1" dirty="0"/>
              <a:t>更新参数后回传</a:t>
            </a:r>
          </a:p>
        </p:txBody>
      </p:sp>
    </p:spTree>
    <p:extLst>
      <p:ext uri="{BB962C8B-B14F-4D97-AF65-F5344CB8AC3E}">
        <p14:creationId xmlns:p14="http://schemas.microsoft.com/office/powerpoint/2010/main" val="1817466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54155-E4C0-2BA4-D3EE-F98B60670BA3}"/>
            </a:ext>
          </a:extLst>
        </p:cNvPr>
        <p:cNvGrpSpPr/>
        <p:nvPr/>
      </p:nvGrpSpPr>
      <p:grpSpPr>
        <a:xfrm>
          <a:off x="0" y="0"/>
          <a:ext cx="0" cy="0"/>
          <a:chOff x="0" y="0"/>
          <a:chExt cx="0" cy="0"/>
        </a:xfrm>
      </p:grpSpPr>
      <p:sp>
        <p:nvSpPr>
          <p:cNvPr id="21" name="矩形: 圆角 20">
            <a:extLst>
              <a:ext uri="{FF2B5EF4-FFF2-40B4-BE49-F238E27FC236}">
                <a16:creationId xmlns:a16="http://schemas.microsoft.com/office/drawing/2014/main" id="{578AC7B7-CDE0-7330-0908-D54EB9867D43}"/>
              </a:ext>
            </a:extLst>
          </p:cNvPr>
          <p:cNvSpPr/>
          <p:nvPr/>
        </p:nvSpPr>
        <p:spPr>
          <a:xfrm rot="10800000" flipV="1">
            <a:off x="1244790" y="741087"/>
            <a:ext cx="3508796" cy="2993373"/>
          </a:xfrm>
          <a:prstGeom prst="roundRect">
            <a:avLst>
              <a:gd name="adj" fmla="val 3055"/>
            </a:avLst>
          </a:prstGeom>
          <a:noFill/>
          <a:ln w="28575">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zh-CN" sz="1600" dirty="0"/>
          </a:p>
        </p:txBody>
      </p:sp>
      <p:sp>
        <p:nvSpPr>
          <p:cNvPr id="15" name="矩形 14">
            <a:extLst>
              <a:ext uri="{FF2B5EF4-FFF2-40B4-BE49-F238E27FC236}">
                <a16:creationId xmlns:a16="http://schemas.microsoft.com/office/drawing/2014/main" id="{1D836B5C-5074-EC82-B645-A863FF5AEE89}"/>
              </a:ext>
            </a:extLst>
          </p:cNvPr>
          <p:cNvSpPr/>
          <p:nvPr/>
        </p:nvSpPr>
        <p:spPr>
          <a:xfrm>
            <a:off x="8055854" y="1088805"/>
            <a:ext cx="1909962" cy="27576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94FC287-CBA6-5957-C395-64D1C06A83A2}"/>
              </a:ext>
            </a:extLst>
          </p:cNvPr>
          <p:cNvSpPr/>
          <p:nvPr/>
        </p:nvSpPr>
        <p:spPr>
          <a:xfrm>
            <a:off x="325445" y="741087"/>
            <a:ext cx="671510" cy="3066094"/>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b="1" dirty="0"/>
              <a:t>基于研究内容一的多模态数据</a:t>
            </a:r>
          </a:p>
        </p:txBody>
      </p:sp>
      <p:sp>
        <p:nvSpPr>
          <p:cNvPr id="5" name="矩形: 圆角 4">
            <a:extLst>
              <a:ext uri="{FF2B5EF4-FFF2-40B4-BE49-F238E27FC236}">
                <a16:creationId xmlns:a16="http://schemas.microsoft.com/office/drawing/2014/main" id="{D8DBBD85-3A18-29EE-618C-6416FFC4E585}"/>
              </a:ext>
            </a:extLst>
          </p:cNvPr>
          <p:cNvSpPr/>
          <p:nvPr/>
        </p:nvSpPr>
        <p:spPr>
          <a:xfrm rot="10800000" flipV="1">
            <a:off x="1124795" y="205071"/>
            <a:ext cx="3748781" cy="451338"/>
          </a:xfrm>
          <a:prstGeom prst="roundRect">
            <a:avLst>
              <a:gd name="adj" fmla="val 12755"/>
            </a:avLst>
          </a:prstGeom>
          <a:solidFill>
            <a:srgbClr val="2E75B6"/>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t>基于</a:t>
            </a:r>
            <a:r>
              <a:rPr lang="zh-CN" altLang="zh-CN" sz="1600" b="1"/>
              <a:t>跨类别、多形态晶圆缺陷统一表征</a:t>
            </a:r>
            <a:endParaRPr lang="zh-CN" altLang="zh-CN" sz="1600" b="1" dirty="0"/>
          </a:p>
        </p:txBody>
      </p:sp>
      <p:pic>
        <p:nvPicPr>
          <p:cNvPr id="13" name="图片 12">
            <a:extLst>
              <a:ext uri="{FF2B5EF4-FFF2-40B4-BE49-F238E27FC236}">
                <a16:creationId xmlns:a16="http://schemas.microsoft.com/office/drawing/2014/main" id="{94A33F0E-0AED-FB64-88B3-B217B84D8DEE}"/>
              </a:ext>
            </a:extLst>
          </p:cNvPr>
          <p:cNvPicPr>
            <a:picLocks noChangeAspect="1"/>
          </p:cNvPicPr>
          <p:nvPr/>
        </p:nvPicPr>
        <p:blipFill>
          <a:blip r:embed="rId3"/>
          <a:stretch>
            <a:fillRect/>
          </a:stretch>
        </p:blipFill>
        <p:spPr>
          <a:xfrm>
            <a:off x="8192492" y="1761368"/>
            <a:ext cx="1633706" cy="2048227"/>
          </a:xfrm>
          <a:prstGeom prst="rect">
            <a:avLst/>
          </a:prstGeom>
        </p:spPr>
      </p:pic>
      <p:sp>
        <p:nvSpPr>
          <p:cNvPr id="14" name="矩形: 圆角 13">
            <a:extLst>
              <a:ext uri="{FF2B5EF4-FFF2-40B4-BE49-F238E27FC236}">
                <a16:creationId xmlns:a16="http://schemas.microsoft.com/office/drawing/2014/main" id="{826EC1BE-15B9-2BA1-9D80-E11C24B79403}"/>
              </a:ext>
            </a:extLst>
          </p:cNvPr>
          <p:cNvSpPr/>
          <p:nvPr/>
        </p:nvSpPr>
        <p:spPr>
          <a:xfrm rot="10800000" flipV="1">
            <a:off x="5574224" y="206259"/>
            <a:ext cx="6569385" cy="451339"/>
          </a:xfrm>
          <a:prstGeom prst="roundRect">
            <a:avLst>
              <a:gd name="adj" fmla="val 12755"/>
            </a:avLst>
          </a:prstGeom>
          <a:solidFill>
            <a:schemeClr val="accent6">
              <a:lumMod val="75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600" b="1"/>
              <a:t>基于多模态大模型的晶圆缺陷检测架构构建与自监督预训练机制研究</a:t>
            </a:r>
            <a:endParaRPr lang="zh-CN" altLang="zh-CN" sz="1400" b="1" dirty="0"/>
          </a:p>
        </p:txBody>
      </p:sp>
      <p:sp>
        <p:nvSpPr>
          <p:cNvPr id="16" name="文本框 15">
            <a:extLst>
              <a:ext uri="{FF2B5EF4-FFF2-40B4-BE49-F238E27FC236}">
                <a16:creationId xmlns:a16="http://schemas.microsoft.com/office/drawing/2014/main" id="{9B86087E-5E60-AD60-C199-3AAC3566A4EC}"/>
              </a:ext>
            </a:extLst>
          </p:cNvPr>
          <p:cNvSpPr txBox="1"/>
          <p:nvPr/>
        </p:nvSpPr>
        <p:spPr>
          <a:xfrm>
            <a:off x="8083834" y="1111918"/>
            <a:ext cx="1825014" cy="523220"/>
          </a:xfrm>
          <a:prstGeom prst="rect">
            <a:avLst/>
          </a:prstGeom>
          <a:solidFill>
            <a:schemeClr val="bg2"/>
          </a:solidFill>
        </p:spPr>
        <p:txBody>
          <a:bodyPr wrap="square" rtlCol="0">
            <a:spAutoFit/>
          </a:bodyPr>
          <a:lstStyle/>
          <a:p>
            <a:pPr algn="ctr"/>
            <a:r>
              <a:rPr lang="zh-CN" altLang="zh-CN" sz="1400" b="1" dirty="0"/>
              <a:t>预测模块的语义特征强化</a:t>
            </a:r>
            <a:endParaRPr lang="zh-CN" altLang="en-US" sz="1400" dirty="0"/>
          </a:p>
        </p:txBody>
      </p:sp>
      <p:pic>
        <p:nvPicPr>
          <p:cNvPr id="18" name="图片 17">
            <a:extLst>
              <a:ext uri="{FF2B5EF4-FFF2-40B4-BE49-F238E27FC236}">
                <a16:creationId xmlns:a16="http://schemas.microsoft.com/office/drawing/2014/main" id="{4741B2E1-8704-F472-61C7-8024FC39C39D}"/>
              </a:ext>
            </a:extLst>
          </p:cNvPr>
          <p:cNvPicPr>
            <a:picLocks noChangeAspect="1"/>
          </p:cNvPicPr>
          <p:nvPr/>
        </p:nvPicPr>
        <p:blipFill>
          <a:blip r:embed="rId4"/>
          <a:stretch>
            <a:fillRect/>
          </a:stretch>
        </p:blipFill>
        <p:spPr>
          <a:xfrm>
            <a:off x="10057292" y="1628228"/>
            <a:ext cx="1834362" cy="2178577"/>
          </a:xfrm>
          <a:prstGeom prst="rect">
            <a:avLst/>
          </a:prstGeom>
        </p:spPr>
      </p:pic>
      <p:sp>
        <p:nvSpPr>
          <p:cNvPr id="19" name="矩形 18">
            <a:extLst>
              <a:ext uri="{FF2B5EF4-FFF2-40B4-BE49-F238E27FC236}">
                <a16:creationId xmlns:a16="http://schemas.microsoft.com/office/drawing/2014/main" id="{C7F8935A-841A-8E9B-E132-731092C3CBFF}"/>
              </a:ext>
            </a:extLst>
          </p:cNvPr>
          <p:cNvSpPr/>
          <p:nvPr/>
        </p:nvSpPr>
        <p:spPr>
          <a:xfrm>
            <a:off x="10019492" y="1088805"/>
            <a:ext cx="1909962" cy="27693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9722DF3E-2FBE-94C9-A131-D5EEE52B532B}"/>
              </a:ext>
            </a:extLst>
          </p:cNvPr>
          <p:cNvSpPr txBox="1"/>
          <p:nvPr/>
        </p:nvSpPr>
        <p:spPr>
          <a:xfrm>
            <a:off x="10067054" y="1111918"/>
            <a:ext cx="1824600" cy="523220"/>
          </a:xfrm>
          <a:prstGeom prst="rect">
            <a:avLst/>
          </a:prstGeom>
          <a:solidFill>
            <a:schemeClr val="bg2"/>
          </a:solidFill>
        </p:spPr>
        <p:txBody>
          <a:bodyPr wrap="square" rtlCol="0">
            <a:spAutoFit/>
          </a:bodyPr>
          <a:lstStyle/>
          <a:p>
            <a:pPr algn="ctr"/>
            <a:r>
              <a:rPr lang="zh-CN" altLang="zh-CN" sz="1400" b="1" dirty="0"/>
              <a:t>预训练专家引导的特征优化</a:t>
            </a:r>
            <a:endParaRPr lang="zh-CN" altLang="en-US" sz="1100" dirty="0"/>
          </a:p>
        </p:txBody>
      </p:sp>
      <p:sp>
        <p:nvSpPr>
          <p:cNvPr id="22" name="矩形: 圆角 21">
            <a:extLst>
              <a:ext uri="{FF2B5EF4-FFF2-40B4-BE49-F238E27FC236}">
                <a16:creationId xmlns:a16="http://schemas.microsoft.com/office/drawing/2014/main" id="{340A1006-FF86-C8F0-CE54-28A035A8101E}"/>
              </a:ext>
            </a:extLst>
          </p:cNvPr>
          <p:cNvSpPr/>
          <p:nvPr/>
        </p:nvSpPr>
        <p:spPr>
          <a:xfrm rot="10800000" flipV="1">
            <a:off x="5529505" y="741087"/>
            <a:ext cx="6614105" cy="6045186"/>
          </a:xfrm>
          <a:prstGeom prst="roundRect">
            <a:avLst>
              <a:gd name="adj" fmla="val 3679"/>
            </a:avLst>
          </a:prstGeom>
          <a:noFill/>
          <a:ln w="28575">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zh-CN" sz="1600" dirty="0"/>
          </a:p>
        </p:txBody>
      </p:sp>
      <p:pic>
        <p:nvPicPr>
          <p:cNvPr id="27" name="图片 26">
            <a:extLst>
              <a:ext uri="{FF2B5EF4-FFF2-40B4-BE49-F238E27FC236}">
                <a16:creationId xmlns:a16="http://schemas.microsoft.com/office/drawing/2014/main" id="{80F37CEB-5E7F-5CDC-27C7-F9DB223BAE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2273" y="3352087"/>
            <a:ext cx="808080" cy="875618"/>
          </a:xfrm>
          <a:prstGeom prst="rect">
            <a:avLst/>
          </a:prstGeom>
        </p:spPr>
      </p:pic>
      <p:sp>
        <p:nvSpPr>
          <p:cNvPr id="31" name="文本框 30">
            <a:extLst>
              <a:ext uri="{FF2B5EF4-FFF2-40B4-BE49-F238E27FC236}">
                <a16:creationId xmlns:a16="http://schemas.microsoft.com/office/drawing/2014/main" id="{6FE82A54-4E75-6E09-1BBF-2D0BA6750530}"/>
              </a:ext>
            </a:extLst>
          </p:cNvPr>
          <p:cNvSpPr txBox="1"/>
          <p:nvPr/>
        </p:nvSpPr>
        <p:spPr>
          <a:xfrm>
            <a:off x="5889210" y="2660982"/>
            <a:ext cx="1625183" cy="584775"/>
          </a:xfrm>
          <a:prstGeom prst="rect">
            <a:avLst/>
          </a:prstGeom>
          <a:noFill/>
        </p:spPr>
        <p:txBody>
          <a:bodyPr wrap="square" rtlCol="0">
            <a:spAutoFit/>
          </a:bodyPr>
          <a:lstStyle/>
          <a:p>
            <a:pPr algn="ctr"/>
            <a:r>
              <a:rPr lang="zh-CN" altLang="en-US" sz="1600" b="1" dirty="0"/>
              <a:t>基于现有的通用多模态大模型</a:t>
            </a:r>
          </a:p>
        </p:txBody>
      </p:sp>
      <p:sp>
        <p:nvSpPr>
          <p:cNvPr id="40" name="箭头: 右 39">
            <a:extLst>
              <a:ext uri="{FF2B5EF4-FFF2-40B4-BE49-F238E27FC236}">
                <a16:creationId xmlns:a16="http://schemas.microsoft.com/office/drawing/2014/main" id="{BD4F8827-1F2E-167C-8557-0A8561BE0250}"/>
              </a:ext>
            </a:extLst>
          </p:cNvPr>
          <p:cNvSpPr/>
          <p:nvPr/>
        </p:nvSpPr>
        <p:spPr>
          <a:xfrm rot="5400000">
            <a:off x="9844036" y="3873467"/>
            <a:ext cx="390724"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A9491EC9-CAFD-9A37-C2DF-5A295DEA5157}"/>
              </a:ext>
            </a:extLst>
          </p:cNvPr>
          <p:cNvSpPr/>
          <p:nvPr/>
        </p:nvSpPr>
        <p:spPr>
          <a:xfrm>
            <a:off x="8058236" y="4258453"/>
            <a:ext cx="3958019" cy="2061673"/>
          </a:xfrm>
          <a:prstGeom prst="rect">
            <a:avLst/>
          </a:prstGeom>
          <a:solidFill>
            <a:schemeClr val="accent6">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587E54C5-081A-45E8-73A3-22A80CCA6B84}"/>
                  </a:ext>
                </a:extLst>
              </p:cNvPr>
              <p:cNvSpPr txBox="1"/>
              <p:nvPr/>
            </p:nvSpPr>
            <p:spPr>
              <a:xfrm>
                <a:off x="8115296" y="4682328"/>
                <a:ext cx="3671190" cy="96744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eqArr>
                        <m:eqArrPr>
                          <m:ctrlPr>
                            <a:rPr lang="zh-CN" altLang="zh-CN" sz="900" i="1" smtClean="0">
                              <a:latin typeface="Cambria Math" panose="02040503050406030204" pitchFamily="18" charset="0"/>
                            </a:rPr>
                          </m:ctrlPr>
                        </m:eqArrPr>
                        <m:e>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𝐿</m:t>
                              </m:r>
                            </m:e>
                            <m:sub>
                              <m:r>
                                <a:rPr lang="en-US" altLang="zh-CN" sz="900" i="1">
                                  <a:latin typeface="Cambria Math" panose="02040503050406030204" pitchFamily="18" charset="0"/>
                                </a:rPr>
                                <m:t>𝑓𝑜𝑐𝑎𝑙</m:t>
                              </m:r>
                            </m:sub>
                          </m:sSub>
                          <m:r>
                            <a:rPr lang="en-US" altLang="zh-CN" sz="900" i="1">
                              <a:latin typeface="Cambria Math" panose="02040503050406030204" pitchFamily="18" charset="0"/>
                            </a:rPr>
                            <m:t>=−</m:t>
                          </m:r>
                          <m:f>
                            <m:fPr>
                              <m:ctrlPr>
                                <a:rPr lang="zh-CN" altLang="zh-CN" sz="900" i="1">
                                  <a:latin typeface="Cambria Math" panose="02040503050406030204" pitchFamily="18" charset="0"/>
                                </a:rPr>
                              </m:ctrlPr>
                            </m:fPr>
                            <m:num>
                              <m:r>
                                <a:rPr lang="en-US" altLang="zh-CN" sz="900" i="1">
                                  <a:latin typeface="Cambria Math" panose="02040503050406030204" pitchFamily="18" charset="0"/>
                                </a:rPr>
                                <m:t>1</m:t>
                              </m:r>
                            </m:num>
                            <m:den>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den>
                          </m:f>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p>
                            <m:sSupPr>
                              <m:ctrlPr>
                                <a:rPr lang="zh-CN" altLang="zh-CN" sz="900" i="1">
                                  <a:latin typeface="Cambria Math" panose="02040503050406030204" pitchFamily="18" charset="0"/>
                                </a:rPr>
                              </m:ctrlPr>
                            </m:sSupPr>
                            <m:e>
                              <m:d>
                                <m:dPr>
                                  <m:ctrlPr>
                                    <a:rPr lang="zh-CN" altLang="zh-CN" sz="900" i="1">
                                      <a:latin typeface="Cambria Math" panose="02040503050406030204" pitchFamily="18" charset="0"/>
                                    </a:rPr>
                                  </m:ctrlPr>
                                </m:dPr>
                                <m:e>
                                  <m:r>
                                    <a:rPr lang="en-US" altLang="zh-CN" sz="900" i="1">
                                      <a:latin typeface="Cambria Math" panose="02040503050406030204" pitchFamily="18" charset="0"/>
                                    </a:rPr>
                                    <m:t>1−</m:t>
                                  </m:r>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sub>
                                  </m:sSub>
                                </m:e>
                              </m:d>
                            </m:e>
                            <m:sup>
                              <m:r>
                                <a:rPr lang="en-US" altLang="zh-CN" sz="900" i="1">
                                  <a:latin typeface="Cambria Math" panose="02040503050406030204" pitchFamily="18" charset="0"/>
                                </a:rPr>
                                <m:t>𝛾</m:t>
                              </m:r>
                            </m:sup>
                          </m:sSup>
                          <m:r>
                            <a:rPr lang="en-US" altLang="zh-CN" sz="900" i="1">
                              <a:latin typeface="Cambria Math" panose="02040503050406030204" pitchFamily="18" charset="0"/>
                            </a:rPr>
                            <m:t>𝑙𝑜𝑔</m:t>
                          </m:r>
                          <m:d>
                            <m:dPr>
                              <m:ctrlPr>
                                <a:rPr lang="zh-CN" altLang="zh-CN" sz="900" i="1">
                                  <a:latin typeface="Cambria Math" panose="02040503050406030204" pitchFamily="18" charset="0"/>
                                </a:rPr>
                              </m:ctrlPr>
                            </m:dPr>
                            <m:e>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sub>
                              </m:sSub>
                            </m:e>
                          </m:d>
                        </m:e>
                        <m:e>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𝐿</m:t>
                              </m:r>
                            </m:e>
                            <m:sub>
                              <m:r>
                                <a:rPr lang="en-US" altLang="zh-CN" sz="900" i="1">
                                  <a:latin typeface="Cambria Math" panose="02040503050406030204" pitchFamily="18" charset="0"/>
                                </a:rPr>
                                <m:t>𝑑𝑖𝑐𝑒</m:t>
                              </m:r>
                            </m:sub>
                          </m:sSub>
                          <m:r>
                            <a:rPr lang="en-US" altLang="zh-CN" sz="900" i="1">
                              <a:latin typeface="Cambria Math" panose="02040503050406030204" pitchFamily="18" charset="0"/>
                            </a:rPr>
                            <m:t>=−</m:t>
                          </m:r>
                          <m:f>
                            <m:fPr>
                              <m:ctrlPr>
                                <a:rPr lang="zh-CN" altLang="zh-CN" sz="900" i="1">
                                  <a:latin typeface="Cambria Math" panose="02040503050406030204" pitchFamily="18" charset="0"/>
                                </a:rPr>
                              </m:ctrlPr>
                            </m:fPr>
                            <m:num>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b>
                                <m:sSubPr>
                                  <m:ctrlPr>
                                    <a:rPr lang="zh-CN" altLang="zh-CN" sz="900" i="1">
                                      <a:latin typeface="Cambria Math" panose="02040503050406030204" pitchFamily="18" charset="0"/>
                                    </a:rPr>
                                  </m:ctrlPr>
                                </m:sSubPr>
                                <m:e>
                                  <m:r>
                                    <a:rPr lang="en-US" altLang="zh-CN" sz="900" i="1">
                                      <a:latin typeface="Cambria Math" panose="02040503050406030204" pitchFamily="18" charset="0"/>
                                    </a:rPr>
                                    <m:t>𝑦</m:t>
                                  </m:r>
                                </m:e>
                                <m:sub>
                                  <m:r>
                                    <a:rPr lang="en-US" altLang="zh-CN" sz="900" i="1">
                                      <a:latin typeface="Cambria Math" panose="02040503050406030204" pitchFamily="18" charset="0"/>
                                    </a:rPr>
                                    <m:t>𝑖</m:t>
                                  </m:r>
                                </m:sub>
                              </m:sSub>
                              <m:sSub>
                                <m:sSubPr>
                                  <m:ctrlPr>
                                    <a:rPr lang="zh-CN" altLang="zh-CN" sz="900" i="1">
                                      <a:latin typeface="Cambria Math" panose="02040503050406030204" pitchFamily="18" charset="0"/>
                                    </a:rPr>
                                  </m:ctrlPr>
                                </m:sSubPr>
                                <m:e>
                                  <m:acc>
                                    <m:accPr>
                                      <m:chr m:val="̂"/>
                                      <m:ctrlPr>
                                        <a:rPr lang="zh-CN" altLang="zh-CN" sz="900" i="1">
                                          <a:latin typeface="Cambria Math" panose="02040503050406030204" pitchFamily="18" charset="0"/>
                                        </a:rPr>
                                      </m:ctrlPr>
                                    </m:accPr>
                                    <m:e>
                                      <m:r>
                                        <a:rPr lang="en-US" altLang="zh-CN" sz="900" i="1">
                                          <a:latin typeface="Cambria Math" panose="02040503050406030204" pitchFamily="18" charset="0"/>
                                        </a:rPr>
                                        <m:t>𝑦</m:t>
                                      </m:r>
                                    </m:e>
                                  </m:acc>
                                </m:e>
                                <m:sub>
                                  <m:r>
                                    <a:rPr lang="en-US" altLang="zh-CN" sz="900" i="1">
                                      <a:latin typeface="Cambria Math" panose="02040503050406030204" pitchFamily="18" charset="0"/>
                                    </a:rPr>
                                    <m:t>𝑖</m:t>
                                  </m:r>
                                </m:sub>
                              </m:sSub>
                            </m:num>
                            <m:den>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bSup>
                                <m:sSubSupPr>
                                  <m:ctrlPr>
                                    <a:rPr lang="zh-CN" altLang="zh-CN" sz="900" i="1">
                                      <a:latin typeface="Cambria Math" panose="02040503050406030204" pitchFamily="18" charset="0"/>
                                    </a:rPr>
                                  </m:ctrlPr>
                                </m:sSubSupPr>
                                <m:e>
                                  <m:r>
                                    <a:rPr lang="en-US" altLang="zh-CN" sz="900" i="1">
                                      <a:latin typeface="Cambria Math" panose="02040503050406030204" pitchFamily="18" charset="0"/>
                                    </a:rPr>
                                    <m:t>𝑦</m:t>
                                  </m:r>
                                </m:e>
                                <m:sub>
                                  <m:r>
                                    <a:rPr lang="en-US" altLang="zh-CN" sz="900" i="1">
                                      <a:latin typeface="Cambria Math" panose="02040503050406030204" pitchFamily="18" charset="0"/>
                                    </a:rPr>
                                    <m:t>𝑖</m:t>
                                  </m:r>
                                </m:sub>
                                <m:sup>
                                  <m:r>
                                    <a:rPr lang="en-US" altLang="zh-CN" sz="900" i="1">
                                      <a:latin typeface="Cambria Math" panose="02040503050406030204" pitchFamily="18" charset="0"/>
                                    </a:rPr>
                                    <m:t>2</m:t>
                                  </m:r>
                                </m:sup>
                              </m:sSubSup>
                              <m:r>
                                <a:rPr lang="en-US" altLang="zh-CN" sz="900" i="1">
                                  <a:latin typeface="Cambria Math" panose="02040503050406030204" pitchFamily="18" charset="0"/>
                                </a:rPr>
                                <m:t>+</m:t>
                              </m:r>
                              <m:nary>
                                <m:naryPr>
                                  <m:chr m:val="∑"/>
                                  <m:limLoc m:val="undOvr"/>
                                  <m:grow m:val="on"/>
                                  <m:ctrlPr>
                                    <a:rPr lang="zh-CN" altLang="zh-CN" sz="900" i="1">
                                      <a:latin typeface="Cambria Math" panose="02040503050406030204" pitchFamily="18" charset="0"/>
                                    </a:rPr>
                                  </m:ctrlPr>
                                </m:naryPr>
                                <m:sub>
                                  <m:r>
                                    <a:rPr lang="en-US" altLang="zh-CN" sz="900" i="1">
                                      <a:latin typeface="Cambria Math" panose="02040503050406030204" pitchFamily="18" charset="0"/>
                                    </a:rPr>
                                    <m:t>𝑖</m:t>
                                  </m:r>
                                  <m:r>
                                    <a:rPr lang="en-US" altLang="zh-CN" sz="900" i="1">
                                      <a:latin typeface="Cambria Math" panose="02040503050406030204" pitchFamily="18" charset="0"/>
                                    </a:rPr>
                                    <m:t>=1</m:t>
                                  </m:r>
                                </m:sub>
                                <m:sup>
                                  <m:r>
                                    <a:rPr lang="en-US" altLang="zh-CN" sz="900" i="1">
                                      <a:latin typeface="Cambria Math" panose="02040503050406030204" pitchFamily="18" charset="0"/>
                                    </a:rPr>
                                    <m:t>𝐻</m:t>
                                  </m:r>
                                  <m:r>
                                    <a:rPr lang="en-US" altLang="zh-CN" sz="900" i="1">
                                      <a:latin typeface="Cambria Math" panose="02040503050406030204" pitchFamily="18" charset="0"/>
                                    </a:rPr>
                                    <m:t>×</m:t>
                                  </m:r>
                                  <m:r>
                                    <a:rPr lang="en-US" altLang="zh-CN" sz="900" i="1">
                                      <a:latin typeface="Cambria Math" panose="02040503050406030204" pitchFamily="18" charset="0"/>
                                    </a:rPr>
                                    <m:t>𝑊</m:t>
                                  </m:r>
                                </m:sup>
                                <m:e>
                                  <m:r>
                                    <a:rPr lang="en-US" altLang="zh-CN" sz="900" i="1">
                                      <a:latin typeface="Cambria Math" panose="02040503050406030204" pitchFamily="18" charset="0"/>
                                    </a:rPr>
                                    <m:t> </m:t>
                                  </m:r>
                                </m:e>
                              </m:nary>
                              <m:sSubSup>
                                <m:sSubSupPr>
                                  <m:ctrlPr>
                                    <a:rPr lang="zh-CN" altLang="zh-CN" sz="900" i="1">
                                      <a:latin typeface="Cambria Math" panose="02040503050406030204" pitchFamily="18" charset="0"/>
                                    </a:rPr>
                                  </m:ctrlPr>
                                </m:sSubSupPr>
                                <m:e>
                                  <m:acc>
                                    <m:accPr>
                                      <m:chr m:val="̂"/>
                                      <m:ctrlPr>
                                        <a:rPr lang="zh-CN" altLang="zh-CN" sz="900" i="1">
                                          <a:latin typeface="Cambria Math" panose="02040503050406030204" pitchFamily="18" charset="0"/>
                                        </a:rPr>
                                      </m:ctrlPr>
                                    </m:accPr>
                                    <m:e>
                                      <m:r>
                                        <a:rPr lang="en-US" altLang="zh-CN" sz="900" i="1">
                                          <a:latin typeface="Cambria Math" panose="02040503050406030204" pitchFamily="18" charset="0"/>
                                        </a:rPr>
                                        <m:t>𝑦</m:t>
                                      </m:r>
                                    </m:e>
                                  </m:acc>
                                </m:e>
                                <m:sub>
                                  <m:r>
                                    <a:rPr lang="en-US" altLang="zh-CN" sz="900" i="1">
                                      <a:latin typeface="Cambria Math" panose="02040503050406030204" pitchFamily="18" charset="0"/>
                                    </a:rPr>
                                    <m:t>𝑖</m:t>
                                  </m:r>
                                </m:sub>
                                <m:sup>
                                  <m:r>
                                    <a:rPr lang="en-US" altLang="zh-CN" sz="900" i="1">
                                      <a:latin typeface="Cambria Math" panose="02040503050406030204" pitchFamily="18" charset="0"/>
                                    </a:rPr>
                                    <m:t>2</m:t>
                                  </m:r>
                                </m:sup>
                              </m:sSubSup>
                            </m:den>
                          </m:f>
                        </m:e>
                      </m:eqArr>
                    </m:oMath>
                  </m:oMathPara>
                </a14:m>
                <a:endParaRPr lang="zh-CN" altLang="zh-CN" sz="900" dirty="0"/>
              </a:p>
              <a:p>
                <a:pPr algn="ctr"/>
                <a:endParaRPr lang="zh-CN" altLang="en-US" sz="900" b="1" dirty="0"/>
              </a:p>
            </p:txBody>
          </p:sp>
        </mc:Choice>
        <mc:Fallback xmlns="">
          <p:sp>
            <p:nvSpPr>
              <p:cNvPr id="53" name="文本框 52">
                <a:extLst>
                  <a:ext uri="{FF2B5EF4-FFF2-40B4-BE49-F238E27FC236}">
                    <a16:creationId xmlns:a16="http://schemas.microsoft.com/office/drawing/2014/main" id="{F8FA4239-88E2-5C6A-25D0-BD098A7C4600}"/>
                  </a:ext>
                </a:extLst>
              </p:cNvPr>
              <p:cNvSpPr txBox="1">
                <a:spLocks noRot="1" noChangeAspect="1" noMove="1" noResize="1" noEditPoints="1" noAdjustHandles="1" noChangeArrowheads="1" noChangeShapeType="1" noTextEdit="1"/>
              </p:cNvSpPr>
              <p:nvPr/>
            </p:nvSpPr>
            <p:spPr>
              <a:xfrm>
                <a:off x="8115296" y="4682328"/>
                <a:ext cx="3671190" cy="967444"/>
              </a:xfrm>
              <a:prstGeom prst="rect">
                <a:avLst/>
              </a:prstGeom>
              <a:blipFill>
                <a:blip r:embed="rId6"/>
                <a:stretch>
                  <a:fillRect/>
                </a:stretch>
              </a:blipFill>
            </p:spPr>
            <p:txBody>
              <a:bodyPr/>
              <a:lstStyle/>
              <a:p>
                <a:r>
                  <a:rPr lang="zh-CN" altLang="en-US">
                    <a:noFill/>
                  </a:rPr>
                  <a:t> </a:t>
                </a:r>
              </a:p>
            </p:txBody>
          </p:sp>
        </mc:Fallback>
      </mc:AlternateContent>
      <p:sp>
        <p:nvSpPr>
          <p:cNvPr id="62" name="矩形: 圆角 61">
            <a:extLst>
              <a:ext uri="{FF2B5EF4-FFF2-40B4-BE49-F238E27FC236}">
                <a16:creationId xmlns:a16="http://schemas.microsoft.com/office/drawing/2014/main" id="{EA416103-BF88-D24C-C797-63166B250580}"/>
              </a:ext>
            </a:extLst>
          </p:cNvPr>
          <p:cNvSpPr/>
          <p:nvPr/>
        </p:nvSpPr>
        <p:spPr>
          <a:xfrm rot="10800000" flipV="1">
            <a:off x="325444" y="6309359"/>
            <a:ext cx="5074853" cy="476913"/>
          </a:xfrm>
          <a:prstGeom prst="roundRect">
            <a:avLst>
              <a:gd name="adj" fmla="val 12755"/>
            </a:avLst>
          </a:prstGeom>
          <a:solidFill>
            <a:schemeClr val="accent2">
              <a:lumMod val="75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t>大模型驱动的晶圆缺陷判别与生成指导机制</a:t>
            </a:r>
            <a:endParaRPr lang="zh-CN" altLang="zh-CN" sz="1600" b="1" dirty="0"/>
          </a:p>
        </p:txBody>
      </p:sp>
      <p:sp>
        <p:nvSpPr>
          <p:cNvPr id="63" name="矩形: 圆角 62">
            <a:extLst>
              <a:ext uri="{FF2B5EF4-FFF2-40B4-BE49-F238E27FC236}">
                <a16:creationId xmlns:a16="http://schemas.microsoft.com/office/drawing/2014/main" id="{634FE4DE-D9C9-3DB4-94AB-0559FE041769}"/>
              </a:ext>
            </a:extLst>
          </p:cNvPr>
          <p:cNvSpPr/>
          <p:nvPr/>
        </p:nvSpPr>
        <p:spPr>
          <a:xfrm rot="10800000">
            <a:off x="325444" y="3964382"/>
            <a:ext cx="5074855" cy="2245918"/>
          </a:xfrm>
          <a:prstGeom prst="roundRect">
            <a:avLst>
              <a:gd name="adj" fmla="val 12755"/>
            </a:avLst>
          </a:prstGeom>
          <a:noFill/>
          <a:ln w="28575">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zh-CN" sz="1600" dirty="0"/>
          </a:p>
        </p:txBody>
      </p:sp>
      <p:sp>
        <p:nvSpPr>
          <p:cNvPr id="72" name="箭头: 直角双向 71">
            <a:extLst>
              <a:ext uri="{FF2B5EF4-FFF2-40B4-BE49-F238E27FC236}">
                <a16:creationId xmlns:a16="http://schemas.microsoft.com/office/drawing/2014/main" id="{6A978A15-8BB6-F917-5B59-24CEFEE7294F}"/>
              </a:ext>
            </a:extLst>
          </p:cNvPr>
          <p:cNvSpPr/>
          <p:nvPr/>
        </p:nvSpPr>
        <p:spPr>
          <a:xfrm rot="5400000">
            <a:off x="102109" y="4219090"/>
            <a:ext cx="1564662" cy="793520"/>
          </a:xfrm>
          <a:prstGeom prst="leftUpArrow">
            <a:avLst/>
          </a:prstGeom>
          <a:solidFill>
            <a:srgbClr val="FFD9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C51C112C-B93E-B0C2-8D4A-F75645043FDD}"/>
              </a:ext>
            </a:extLst>
          </p:cNvPr>
          <p:cNvSpPr txBox="1"/>
          <p:nvPr/>
        </p:nvSpPr>
        <p:spPr>
          <a:xfrm>
            <a:off x="1527066" y="1275774"/>
            <a:ext cx="2944241" cy="307777"/>
          </a:xfrm>
          <a:prstGeom prst="rect">
            <a:avLst/>
          </a:prstGeom>
          <a:solidFill>
            <a:schemeClr val="accent5">
              <a:lumMod val="75000"/>
            </a:schemeClr>
          </a:solidFill>
        </p:spPr>
        <p:txBody>
          <a:bodyPr wrap="square" rtlCol="0">
            <a:spAutoFit/>
          </a:bodyPr>
          <a:lstStyle/>
          <a:p>
            <a:pPr algn="ctr"/>
            <a:r>
              <a:rPr lang="zh-CN" altLang="en-US" sz="1400" b="1">
                <a:solidFill>
                  <a:schemeClr val="bg1"/>
                </a:solidFill>
              </a:rPr>
              <a:t>跨</a:t>
            </a:r>
            <a:r>
              <a:rPr lang="zh-CN" altLang="zh-CN" sz="1400" b="1">
                <a:solidFill>
                  <a:schemeClr val="bg1"/>
                </a:solidFill>
              </a:rPr>
              <a:t>类无关特征提取器</a:t>
            </a:r>
            <a:endParaRPr lang="zh-CN" altLang="en-US" sz="1400" b="1" dirty="0">
              <a:solidFill>
                <a:schemeClr val="bg1"/>
              </a:solidFill>
            </a:endParaRPr>
          </a:p>
        </p:txBody>
      </p:sp>
      <p:sp>
        <p:nvSpPr>
          <p:cNvPr id="25" name="文本框 24">
            <a:extLst>
              <a:ext uri="{FF2B5EF4-FFF2-40B4-BE49-F238E27FC236}">
                <a16:creationId xmlns:a16="http://schemas.microsoft.com/office/drawing/2014/main" id="{BD36D401-C40C-215A-D969-5422516DC322}"/>
              </a:ext>
            </a:extLst>
          </p:cNvPr>
          <p:cNvSpPr txBox="1"/>
          <p:nvPr/>
        </p:nvSpPr>
        <p:spPr>
          <a:xfrm>
            <a:off x="1513665" y="1757641"/>
            <a:ext cx="2941003" cy="307777"/>
          </a:xfrm>
          <a:prstGeom prst="rect">
            <a:avLst/>
          </a:prstGeom>
          <a:solidFill>
            <a:schemeClr val="accent5">
              <a:lumMod val="75000"/>
            </a:schemeClr>
          </a:solidFill>
        </p:spPr>
        <p:txBody>
          <a:bodyPr wrap="square" rtlCol="0">
            <a:spAutoFit/>
          </a:bodyPr>
          <a:lstStyle/>
          <a:p>
            <a:pPr algn="ctr"/>
            <a:r>
              <a:rPr lang="zh-CN" altLang="en-US" sz="1400" b="1">
                <a:solidFill>
                  <a:schemeClr val="bg1"/>
                </a:solidFill>
              </a:rPr>
              <a:t>晶圆</a:t>
            </a:r>
            <a:r>
              <a:rPr lang="zh-CN" altLang="zh-CN" sz="1400" b="1">
                <a:solidFill>
                  <a:schemeClr val="bg1"/>
                </a:solidFill>
              </a:rPr>
              <a:t>缺陷类别条件解码器</a:t>
            </a:r>
            <a:endParaRPr lang="zh-CN" altLang="en-US" sz="1400" b="1" dirty="0">
              <a:solidFill>
                <a:schemeClr val="bg1"/>
              </a:solidFill>
            </a:endParaRPr>
          </a:p>
        </p:txBody>
      </p:sp>
      <p:sp>
        <p:nvSpPr>
          <p:cNvPr id="9" name="箭头: 右 8">
            <a:extLst>
              <a:ext uri="{FF2B5EF4-FFF2-40B4-BE49-F238E27FC236}">
                <a16:creationId xmlns:a16="http://schemas.microsoft.com/office/drawing/2014/main" id="{C217E202-FC2B-A10A-70D3-FA21136966EE}"/>
              </a:ext>
            </a:extLst>
          </p:cNvPr>
          <p:cNvSpPr/>
          <p:nvPr/>
        </p:nvSpPr>
        <p:spPr>
          <a:xfrm>
            <a:off x="1038710" y="1974780"/>
            <a:ext cx="345749"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830DC0EB-8820-1466-7B6C-4AF7564D6267}"/>
              </a:ext>
            </a:extLst>
          </p:cNvPr>
          <p:cNvSpPr txBox="1"/>
          <p:nvPr/>
        </p:nvSpPr>
        <p:spPr>
          <a:xfrm>
            <a:off x="1521097" y="2284343"/>
            <a:ext cx="2941003" cy="307777"/>
          </a:xfrm>
          <a:prstGeom prst="rect">
            <a:avLst/>
          </a:prstGeom>
          <a:solidFill>
            <a:schemeClr val="accent5">
              <a:lumMod val="75000"/>
            </a:schemeClr>
          </a:solidFill>
        </p:spPr>
        <p:txBody>
          <a:bodyPr wrap="square" rtlCol="0">
            <a:spAutoFit/>
          </a:bodyPr>
          <a:lstStyle/>
          <a:p>
            <a:pPr algn="ctr"/>
            <a:r>
              <a:rPr lang="zh-CN" altLang="zh-CN" sz="1400" b="1">
                <a:solidFill>
                  <a:schemeClr val="bg1"/>
                </a:solidFill>
              </a:rPr>
              <a:t>结构性缺陷表示模块</a:t>
            </a:r>
            <a:endParaRPr lang="zh-CN" altLang="en-US" sz="1400" b="1" dirty="0">
              <a:solidFill>
                <a:schemeClr val="bg1"/>
              </a:solidFill>
            </a:endParaRPr>
          </a:p>
        </p:txBody>
      </p:sp>
      <p:sp>
        <p:nvSpPr>
          <p:cNvPr id="70" name="箭头: 右 69">
            <a:extLst>
              <a:ext uri="{FF2B5EF4-FFF2-40B4-BE49-F238E27FC236}">
                <a16:creationId xmlns:a16="http://schemas.microsoft.com/office/drawing/2014/main" id="{FA63DE52-77F3-589A-E059-7C6ECD25964D}"/>
              </a:ext>
            </a:extLst>
          </p:cNvPr>
          <p:cNvSpPr/>
          <p:nvPr/>
        </p:nvSpPr>
        <p:spPr>
          <a:xfrm>
            <a:off x="4922790" y="1707890"/>
            <a:ext cx="43751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0B2BCABC-FF54-BA16-818B-7DA78C22F5D0}"/>
              </a:ext>
            </a:extLst>
          </p:cNvPr>
          <p:cNvSpPr txBox="1"/>
          <p:nvPr/>
        </p:nvSpPr>
        <p:spPr>
          <a:xfrm>
            <a:off x="8125013" y="5519989"/>
            <a:ext cx="3776358" cy="307777"/>
          </a:xfrm>
          <a:prstGeom prst="rect">
            <a:avLst/>
          </a:prstGeom>
          <a:solidFill>
            <a:schemeClr val="accent6">
              <a:lumMod val="75000"/>
            </a:schemeClr>
          </a:solidFill>
        </p:spPr>
        <p:txBody>
          <a:bodyPr wrap="square" rtlCol="0">
            <a:spAutoFit/>
          </a:bodyPr>
          <a:lstStyle/>
          <a:p>
            <a:pPr algn="ctr"/>
            <a:r>
              <a:rPr lang="zh-CN" altLang="en-US" sz="1400" b="1" dirty="0">
                <a:solidFill>
                  <a:schemeClr val="bg1"/>
                </a:solidFill>
              </a:rPr>
              <a:t>动态权重优化与模态适配</a:t>
            </a:r>
            <a:endParaRPr lang="zh-CN" altLang="en-US" sz="1100" dirty="0">
              <a:solidFill>
                <a:schemeClr val="bg1"/>
              </a:solidFill>
            </a:endParaRPr>
          </a:p>
        </p:txBody>
      </p:sp>
      <p:sp>
        <p:nvSpPr>
          <p:cNvPr id="54" name="矩形 53">
            <a:extLst>
              <a:ext uri="{FF2B5EF4-FFF2-40B4-BE49-F238E27FC236}">
                <a16:creationId xmlns:a16="http://schemas.microsoft.com/office/drawing/2014/main" id="{0D0BC991-98F8-8EF0-59C6-86163AD1129F}"/>
              </a:ext>
            </a:extLst>
          </p:cNvPr>
          <p:cNvSpPr/>
          <p:nvPr/>
        </p:nvSpPr>
        <p:spPr>
          <a:xfrm>
            <a:off x="8115296" y="4341941"/>
            <a:ext cx="3776358" cy="31473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rPr>
              <a:t>检测任务的微调</a:t>
            </a:r>
            <a:endParaRPr lang="zh-CN" altLang="en-US" sz="1100" dirty="0">
              <a:solidFill>
                <a:schemeClr val="bg1"/>
              </a:solidFill>
            </a:endParaRPr>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4FDAA529-E934-4D4F-A4EF-2ABF9D2EF451}"/>
                  </a:ext>
                </a:extLst>
              </p:cNvPr>
              <p:cNvSpPr txBox="1"/>
              <p:nvPr/>
            </p:nvSpPr>
            <p:spPr>
              <a:xfrm>
                <a:off x="8167097" y="5931049"/>
                <a:ext cx="3671190" cy="291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latin typeface="Cambria Math" panose="02040503050406030204" pitchFamily="18" charset="0"/>
                        </a:rPr>
                        <m:t>𝐿</m:t>
                      </m:r>
                      <m:r>
                        <a:rPr lang="zh-CN" altLang="en-US" sz="1200" i="0">
                          <a:latin typeface="Cambria Math" panose="02040503050406030204" pitchFamily="18" charset="0"/>
                        </a:rPr>
                        <m:t>=</m:t>
                      </m:r>
                      <m:r>
                        <a:rPr lang="zh-CN" altLang="en-US" sz="1200" i="1">
                          <a:latin typeface="Cambria Math" panose="02040503050406030204" pitchFamily="18" charset="0"/>
                        </a:rPr>
                        <m:t>𝛼</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𝑓𝑜𝑐𝑎𝑙</m:t>
                          </m:r>
                        </m:sub>
                      </m:sSub>
                      <m:r>
                        <a:rPr lang="zh-CN" altLang="en-US" sz="1200" i="0">
                          <a:latin typeface="Cambria Math" panose="02040503050406030204" pitchFamily="18" charset="0"/>
                        </a:rPr>
                        <m:t>+</m:t>
                      </m:r>
                      <m:r>
                        <a:rPr lang="zh-CN" altLang="en-US" sz="1200" i="1">
                          <a:latin typeface="Cambria Math" panose="02040503050406030204" pitchFamily="18" charset="0"/>
                        </a:rPr>
                        <m:t>𝛽</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𝑑𝑖𝑐𝑒</m:t>
                          </m:r>
                        </m:sub>
                      </m:sSub>
                      <m:r>
                        <a:rPr lang="zh-CN" altLang="en-US" sz="1200" i="0">
                          <a:latin typeface="Cambria Math" panose="02040503050406030204" pitchFamily="18" charset="0"/>
                        </a:rPr>
                        <m:t>+</m:t>
                      </m:r>
                      <m:r>
                        <a:rPr lang="zh-CN" altLang="en-US" sz="1200" i="1">
                          <a:latin typeface="Cambria Math" panose="02040503050406030204" pitchFamily="18" charset="0"/>
                        </a:rPr>
                        <m:t>𝛾</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𝑐𝑜𝑛</m:t>
                          </m:r>
                        </m:sub>
                      </m:sSub>
                      <m:r>
                        <a:rPr lang="zh-CN" altLang="en-US" sz="1200" i="0">
                          <a:latin typeface="Cambria Math" panose="02040503050406030204" pitchFamily="18" charset="0"/>
                        </a:rPr>
                        <m:t>+</m:t>
                      </m:r>
                      <m:r>
                        <a:rPr lang="zh-CN" altLang="en-US" sz="1200" i="1">
                          <a:latin typeface="Cambria Math" panose="02040503050406030204" pitchFamily="18" charset="0"/>
                        </a:rPr>
                        <m:t>𝛿</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𝑟𝑒𝑐</m:t>
                          </m:r>
                        </m:sub>
                      </m:sSub>
                    </m:oMath>
                  </m:oMathPara>
                </a14:m>
                <a:endParaRPr lang="zh-CN" altLang="en-US" sz="1200" dirty="0"/>
              </a:p>
            </p:txBody>
          </p:sp>
        </mc:Choice>
        <mc:Fallback xmlns="">
          <p:sp>
            <p:nvSpPr>
              <p:cNvPr id="56" name="文本框 55">
                <a:extLst>
                  <a:ext uri="{FF2B5EF4-FFF2-40B4-BE49-F238E27FC236}">
                    <a16:creationId xmlns:a16="http://schemas.microsoft.com/office/drawing/2014/main" id="{1073B468-315D-08DB-DF75-29F83F683661}"/>
                  </a:ext>
                </a:extLst>
              </p:cNvPr>
              <p:cNvSpPr txBox="1">
                <a:spLocks noRot="1" noChangeAspect="1" noMove="1" noResize="1" noEditPoints="1" noAdjustHandles="1" noChangeArrowheads="1" noChangeShapeType="1" noTextEdit="1"/>
              </p:cNvSpPr>
              <p:nvPr/>
            </p:nvSpPr>
            <p:spPr>
              <a:xfrm>
                <a:off x="8167097" y="5931049"/>
                <a:ext cx="3671190" cy="291811"/>
              </a:xfrm>
              <a:prstGeom prst="rect">
                <a:avLst/>
              </a:prstGeom>
              <a:blipFill>
                <a:blip r:embed="rId10"/>
                <a:stretch>
                  <a:fillRect b="-2083"/>
                </a:stretch>
              </a:blipFill>
            </p:spPr>
            <p:txBody>
              <a:bodyPr/>
              <a:lstStyle/>
              <a:p>
                <a:r>
                  <a:rPr lang="zh-CN" altLang="en-US">
                    <a:noFill/>
                  </a:rPr>
                  <a:t> </a:t>
                </a:r>
              </a:p>
            </p:txBody>
          </p:sp>
        </mc:Fallback>
      </mc:AlternateContent>
      <p:sp>
        <p:nvSpPr>
          <p:cNvPr id="2" name="箭头: 右 1">
            <a:extLst>
              <a:ext uri="{FF2B5EF4-FFF2-40B4-BE49-F238E27FC236}">
                <a16:creationId xmlns:a16="http://schemas.microsoft.com/office/drawing/2014/main" id="{47A27471-6F0A-6F51-5196-37E34AD7726F}"/>
              </a:ext>
            </a:extLst>
          </p:cNvPr>
          <p:cNvSpPr/>
          <p:nvPr/>
        </p:nvSpPr>
        <p:spPr>
          <a:xfrm>
            <a:off x="7567932" y="3045721"/>
            <a:ext cx="434246"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箭头: 右 2">
            <a:extLst>
              <a:ext uri="{FF2B5EF4-FFF2-40B4-BE49-F238E27FC236}">
                <a16:creationId xmlns:a16="http://schemas.microsoft.com/office/drawing/2014/main" id="{A181C18C-9523-C437-7A81-F41B9393E340}"/>
              </a:ext>
            </a:extLst>
          </p:cNvPr>
          <p:cNvSpPr/>
          <p:nvPr/>
        </p:nvSpPr>
        <p:spPr>
          <a:xfrm rot="10800000">
            <a:off x="7566165" y="5128681"/>
            <a:ext cx="434246"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15EA4175-C008-60A0-7EBC-8A1887C2A1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4865" y="5128681"/>
            <a:ext cx="808080" cy="875618"/>
          </a:xfrm>
          <a:prstGeom prst="rect">
            <a:avLst/>
          </a:prstGeom>
        </p:spPr>
      </p:pic>
      <p:sp>
        <p:nvSpPr>
          <p:cNvPr id="8" name="文本框 7">
            <a:extLst>
              <a:ext uri="{FF2B5EF4-FFF2-40B4-BE49-F238E27FC236}">
                <a16:creationId xmlns:a16="http://schemas.microsoft.com/office/drawing/2014/main" id="{0DA89B34-2A9B-D0E6-F3A4-405AB87E8913}"/>
              </a:ext>
            </a:extLst>
          </p:cNvPr>
          <p:cNvSpPr txBox="1"/>
          <p:nvPr/>
        </p:nvSpPr>
        <p:spPr>
          <a:xfrm>
            <a:off x="5846313" y="4499309"/>
            <a:ext cx="1625183" cy="584775"/>
          </a:xfrm>
          <a:prstGeom prst="rect">
            <a:avLst/>
          </a:prstGeom>
          <a:noFill/>
        </p:spPr>
        <p:txBody>
          <a:bodyPr wrap="square" rtlCol="0">
            <a:spAutoFit/>
          </a:bodyPr>
          <a:lstStyle/>
          <a:p>
            <a:pPr algn="ctr"/>
            <a:r>
              <a:rPr lang="zh-CN" altLang="en-US" sz="1600" b="1" dirty="0"/>
              <a:t>构建晶体缺陷识别大模型</a:t>
            </a:r>
          </a:p>
        </p:txBody>
      </p:sp>
      <p:sp>
        <p:nvSpPr>
          <p:cNvPr id="38" name="箭头: 右 37">
            <a:extLst>
              <a:ext uri="{FF2B5EF4-FFF2-40B4-BE49-F238E27FC236}">
                <a16:creationId xmlns:a16="http://schemas.microsoft.com/office/drawing/2014/main" id="{030D8C49-B520-7CC3-707E-A34184E4E1D7}"/>
              </a:ext>
            </a:extLst>
          </p:cNvPr>
          <p:cNvSpPr/>
          <p:nvPr/>
        </p:nvSpPr>
        <p:spPr>
          <a:xfrm rot="10800000">
            <a:off x="5211316" y="5128681"/>
            <a:ext cx="72582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B600B1D8-C35B-8090-BF70-3FE55CAF9E3D}"/>
              </a:ext>
            </a:extLst>
          </p:cNvPr>
          <p:cNvSpPr/>
          <p:nvPr/>
        </p:nvSpPr>
        <p:spPr>
          <a:xfrm>
            <a:off x="7895322" y="1748129"/>
            <a:ext cx="434247"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C5A56C44-07F9-7F9C-D3C6-E53228F92136}"/>
              </a:ext>
            </a:extLst>
          </p:cNvPr>
          <p:cNvSpPr txBox="1"/>
          <p:nvPr/>
        </p:nvSpPr>
        <p:spPr>
          <a:xfrm>
            <a:off x="5649561" y="1265337"/>
            <a:ext cx="2217149" cy="307777"/>
          </a:xfrm>
          <a:prstGeom prst="rect">
            <a:avLst/>
          </a:prstGeom>
          <a:solidFill>
            <a:srgbClr val="548235"/>
          </a:solidFill>
        </p:spPr>
        <p:txBody>
          <a:bodyPr wrap="square" rtlCol="0">
            <a:spAutoFit/>
          </a:bodyPr>
          <a:lstStyle/>
          <a:p>
            <a:pPr algn="ctr"/>
            <a:r>
              <a:rPr lang="zh-CN" altLang="zh-CN" sz="1400" b="1">
                <a:solidFill>
                  <a:schemeClr val="bg1"/>
                </a:solidFill>
              </a:rPr>
              <a:t>多模态大模型编码架构</a:t>
            </a:r>
            <a:endParaRPr lang="zh-CN" altLang="en-US" sz="1400" b="1" dirty="0">
              <a:solidFill>
                <a:schemeClr val="bg1"/>
              </a:solidFill>
            </a:endParaRPr>
          </a:p>
        </p:txBody>
      </p:sp>
      <p:sp>
        <p:nvSpPr>
          <p:cNvPr id="10" name="矩形 9">
            <a:extLst>
              <a:ext uri="{FF2B5EF4-FFF2-40B4-BE49-F238E27FC236}">
                <a16:creationId xmlns:a16="http://schemas.microsoft.com/office/drawing/2014/main" id="{4650F9BC-68E3-5DBC-D303-93D83AE3B2FC}"/>
              </a:ext>
            </a:extLst>
          </p:cNvPr>
          <p:cNvSpPr/>
          <p:nvPr/>
        </p:nvSpPr>
        <p:spPr>
          <a:xfrm>
            <a:off x="1383614" y="4124461"/>
            <a:ext cx="3717706" cy="730862"/>
          </a:xfrm>
          <a:prstGeom prst="rect">
            <a:avLst/>
          </a:prstGeom>
          <a:solidFill>
            <a:schemeClr val="accent2">
              <a:lumMod val="40000"/>
              <a:lumOff val="6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i="1">
              <a:solidFill>
                <a:schemeClr val="tx1"/>
              </a:solidFill>
              <a:latin typeface="Cambria Math" panose="02040503050406030204" pitchFamily="18" charset="0"/>
            </a:endParaRPr>
          </a:p>
          <a:p>
            <a:pPr algn="ctr"/>
            <a:endParaRPr lang="zh-CN" altLang="en-US" sz="1400" i="1" dirty="0">
              <a:solidFill>
                <a:schemeClr val="tx1"/>
              </a:solidFill>
              <a:latin typeface="Cambria Math" panose="02040503050406030204" pitchFamily="18" charset="0"/>
            </a:endParaRPr>
          </a:p>
        </p:txBody>
      </p:sp>
      <p:sp>
        <p:nvSpPr>
          <p:cNvPr id="11" name="文本框 10">
            <a:extLst>
              <a:ext uri="{FF2B5EF4-FFF2-40B4-BE49-F238E27FC236}">
                <a16:creationId xmlns:a16="http://schemas.microsoft.com/office/drawing/2014/main" id="{42195D49-A793-9C39-9F04-161887CB56B9}"/>
              </a:ext>
            </a:extLst>
          </p:cNvPr>
          <p:cNvSpPr txBox="1"/>
          <p:nvPr/>
        </p:nvSpPr>
        <p:spPr>
          <a:xfrm>
            <a:off x="1451572" y="4161307"/>
            <a:ext cx="3578151" cy="307777"/>
          </a:xfrm>
          <a:prstGeom prst="rect">
            <a:avLst/>
          </a:prstGeom>
          <a:solidFill>
            <a:srgbClr val="C55A11"/>
          </a:solidFill>
        </p:spPr>
        <p:txBody>
          <a:bodyPr wrap="square" rtlCol="0">
            <a:spAutoFit/>
          </a:bodyPr>
          <a:lstStyle/>
          <a:p>
            <a:pPr algn="ctr"/>
            <a:r>
              <a:rPr lang="zh-CN" altLang="en-US" sz="1400" b="1" dirty="0">
                <a:solidFill>
                  <a:schemeClr val="bg1"/>
                </a:solidFill>
              </a:rPr>
              <a:t>构建异常评分函数</a:t>
            </a: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B7AD926C-9B9B-79CE-9E80-F2B7016BC17A}"/>
                  </a:ext>
                </a:extLst>
              </p:cNvPr>
              <p:cNvSpPr txBox="1"/>
              <p:nvPr/>
            </p:nvSpPr>
            <p:spPr>
              <a:xfrm>
                <a:off x="1072194" y="4523704"/>
                <a:ext cx="453711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latin typeface="Cambria Math" panose="02040503050406030204" pitchFamily="18" charset="0"/>
                        </a:rPr>
                        <m:t>𝑆</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𝑥</m:t>
                          </m:r>
                        </m:e>
                      </m:d>
                      <m:r>
                        <a:rPr lang="zh-CN" altLang="en-US" sz="1200" i="0">
                          <a:latin typeface="Cambria Math" panose="02040503050406030204" pitchFamily="18" charset="0"/>
                        </a:rPr>
                        <m:t>=</m:t>
                      </m:r>
                      <m:r>
                        <a:rPr lang="zh-CN" altLang="en-US" sz="1200" i="1">
                          <a:latin typeface="Cambria Math" panose="02040503050406030204" pitchFamily="18" charset="0"/>
                        </a:rPr>
                        <m:t>𝛼</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1−</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1">
                                  <a:latin typeface="Cambria Math" panose="02040503050406030204" pitchFamily="18" charset="0"/>
                                </a:rPr>
                                <m:t>𝑑𝑒𝑡</m:t>
                              </m:r>
                            </m:sub>
                          </m:sSub>
                        </m:e>
                      </m:d>
                      <m:r>
                        <a:rPr lang="zh-CN" altLang="en-US" sz="1200" i="0">
                          <a:latin typeface="Cambria Math" panose="02040503050406030204" pitchFamily="18" charset="0"/>
                        </a:rPr>
                        <m:t>+</m:t>
                      </m:r>
                      <m:r>
                        <a:rPr lang="zh-CN" altLang="en-US" sz="1200" i="1">
                          <a:latin typeface="Cambria Math" panose="02040503050406030204" pitchFamily="18" charset="0"/>
                        </a:rPr>
                        <m:t>𝛽</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1−</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1">
                                  <a:latin typeface="Cambria Math" panose="02040503050406030204" pitchFamily="18" charset="0"/>
                                </a:rPr>
                                <m:t>𝑐𝑜𝑛𝑠</m:t>
                              </m:r>
                            </m:sub>
                          </m:sSub>
                        </m:e>
                      </m:d>
                      <m:r>
                        <a:rPr lang="zh-CN" altLang="en-US" sz="1200" i="0">
                          <a:latin typeface="Cambria Math" panose="02040503050406030204" pitchFamily="18" charset="0"/>
                        </a:rPr>
                        <m:t>+</m:t>
                      </m:r>
                      <m:r>
                        <a:rPr lang="zh-CN" altLang="en-US" sz="1200" i="1">
                          <a:latin typeface="Cambria Math" panose="02040503050406030204" pitchFamily="18" charset="0"/>
                        </a:rPr>
                        <m:t>𝛾</m:t>
                      </m:r>
                      <m:r>
                        <a:rPr lang="zh-CN" altLang="en-US" sz="1200" i="1">
                          <a:latin typeface="Cambria Math" panose="02040503050406030204" pitchFamily="18" charset="0"/>
                        </a:rPr>
                        <m:t>𝐷</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𝑥</m:t>
                          </m:r>
                        </m:e>
                      </m:d>
                    </m:oMath>
                  </m:oMathPara>
                </a14:m>
                <a:endParaRPr lang="zh-CN" altLang="en-US" sz="1200" dirty="0"/>
              </a:p>
            </p:txBody>
          </p:sp>
        </mc:Choice>
        <mc:Fallback xmlns="">
          <p:sp>
            <p:nvSpPr>
              <p:cNvPr id="34" name="文本框 33">
                <a:extLst>
                  <a:ext uri="{FF2B5EF4-FFF2-40B4-BE49-F238E27FC236}">
                    <a16:creationId xmlns:a16="http://schemas.microsoft.com/office/drawing/2014/main" id="{669ACD9C-70AF-1DD7-83AB-3BFA59439C5F}"/>
                  </a:ext>
                </a:extLst>
              </p:cNvPr>
              <p:cNvSpPr txBox="1">
                <a:spLocks noRot="1" noChangeAspect="1" noMove="1" noResize="1" noEditPoints="1" noAdjustHandles="1" noChangeArrowheads="1" noChangeShapeType="1" noTextEdit="1"/>
              </p:cNvSpPr>
              <p:nvPr/>
            </p:nvSpPr>
            <p:spPr>
              <a:xfrm>
                <a:off x="1072194" y="4523704"/>
                <a:ext cx="4537112" cy="276999"/>
              </a:xfrm>
              <a:prstGeom prst="rect">
                <a:avLst/>
              </a:prstGeom>
              <a:blipFill>
                <a:blip r:embed="rId12"/>
                <a:stretch>
                  <a:fillRect b="-4348"/>
                </a:stretch>
              </a:blipFill>
            </p:spPr>
            <p:txBody>
              <a:bodyPr/>
              <a:lstStyle/>
              <a:p>
                <a:r>
                  <a:rPr lang="zh-CN" altLang="en-US">
                    <a:noFill/>
                  </a:rPr>
                  <a:t> </a:t>
                </a:r>
              </a:p>
            </p:txBody>
          </p:sp>
        </mc:Fallback>
      </mc:AlternateContent>
      <p:sp>
        <p:nvSpPr>
          <p:cNvPr id="35" name="矩形 34">
            <a:extLst>
              <a:ext uri="{FF2B5EF4-FFF2-40B4-BE49-F238E27FC236}">
                <a16:creationId xmlns:a16="http://schemas.microsoft.com/office/drawing/2014/main" id="{A7FE075F-DF39-F1B9-C003-6F9BAF405EDE}"/>
              </a:ext>
            </a:extLst>
          </p:cNvPr>
          <p:cNvSpPr/>
          <p:nvPr/>
        </p:nvSpPr>
        <p:spPr>
          <a:xfrm>
            <a:off x="1384704" y="5123251"/>
            <a:ext cx="3717706" cy="730862"/>
          </a:xfrm>
          <a:prstGeom prst="rect">
            <a:avLst/>
          </a:prstGeom>
          <a:solidFill>
            <a:schemeClr val="accent2">
              <a:lumMod val="40000"/>
              <a:lumOff val="6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i="1">
              <a:solidFill>
                <a:schemeClr val="tx1"/>
              </a:solidFill>
              <a:latin typeface="Cambria Math" panose="02040503050406030204" pitchFamily="18" charset="0"/>
            </a:endParaRPr>
          </a:p>
          <a:p>
            <a:pPr algn="ctr"/>
            <a:endParaRPr lang="zh-CN" altLang="en-US" sz="1400" i="1" dirty="0">
              <a:solidFill>
                <a:schemeClr val="tx1"/>
              </a:solidFill>
              <a:latin typeface="Cambria Math" panose="02040503050406030204" pitchFamily="18" charset="0"/>
            </a:endParaRPr>
          </a:p>
        </p:txBody>
      </p:sp>
      <p:sp>
        <p:nvSpPr>
          <p:cNvPr id="36" name="文本框 35">
            <a:extLst>
              <a:ext uri="{FF2B5EF4-FFF2-40B4-BE49-F238E27FC236}">
                <a16:creationId xmlns:a16="http://schemas.microsoft.com/office/drawing/2014/main" id="{346503FB-D8F1-B928-FFDB-9B6297E071C1}"/>
              </a:ext>
            </a:extLst>
          </p:cNvPr>
          <p:cNvSpPr txBox="1"/>
          <p:nvPr/>
        </p:nvSpPr>
        <p:spPr>
          <a:xfrm>
            <a:off x="1452662" y="5160097"/>
            <a:ext cx="3578151" cy="307777"/>
          </a:xfrm>
          <a:prstGeom prst="rect">
            <a:avLst/>
          </a:prstGeom>
          <a:solidFill>
            <a:srgbClr val="C55A11"/>
          </a:solidFill>
        </p:spPr>
        <p:txBody>
          <a:bodyPr wrap="square" rtlCol="0">
            <a:spAutoFit/>
          </a:bodyPr>
          <a:lstStyle/>
          <a:p>
            <a:pPr algn="ctr"/>
            <a:r>
              <a:rPr lang="zh-CN" altLang="en-US" sz="1400" b="1" dirty="0">
                <a:solidFill>
                  <a:schemeClr val="bg1"/>
                </a:solidFill>
              </a:rPr>
              <a:t>基于评分函数更新生成模型参数</a:t>
            </a:r>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94FAB1E3-83FA-B3FA-08E5-DCA64B23339C}"/>
                  </a:ext>
                </a:extLst>
              </p:cNvPr>
              <p:cNvSpPr txBox="1"/>
              <p:nvPr/>
            </p:nvSpPr>
            <p:spPr>
              <a:xfrm>
                <a:off x="2405685" y="5519989"/>
                <a:ext cx="1669923" cy="2954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sz="1200" i="1" smtClean="0">
                              <a:latin typeface="Cambria Math" panose="02040503050406030204" pitchFamily="18" charset="0"/>
                            </a:rPr>
                          </m:ctrlPr>
                        </m:sSubSupPr>
                        <m:e>
                          <m:r>
                            <a:rPr lang="zh-CN" altLang="en-US" sz="1200" i="1">
                              <a:latin typeface="Cambria Math" panose="02040503050406030204" pitchFamily="18" charset="0"/>
                            </a:rPr>
                            <m:t>𝜃</m:t>
                          </m:r>
                        </m:e>
                        <m:sub>
                          <m:r>
                            <a:rPr lang="zh-CN" altLang="en-US" sz="1200" i="1">
                              <a:latin typeface="Cambria Math" panose="02040503050406030204" pitchFamily="18" charset="0"/>
                            </a:rPr>
                            <m:t>𝑔𝑒𝑛</m:t>
                          </m:r>
                        </m:sub>
                        <m:sup>
                          <m:r>
                            <a:rPr lang="zh-CN" altLang="en-US" sz="1200" i="1">
                              <a:latin typeface="Cambria Math" panose="02040503050406030204" pitchFamily="18" charset="0"/>
                            </a:rPr>
                            <m:t>𝑡</m:t>
                          </m:r>
                          <m:r>
                            <a:rPr lang="zh-CN" altLang="en-US" sz="1200" i="0">
                              <a:latin typeface="Cambria Math" panose="02040503050406030204" pitchFamily="18" charset="0"/>
                            </a:rPr>
                            <m:t>+1</m:t>
                          </m:r>
                        </m:sup>
                      </m:sSubSup>
                      <m:r>
                        <a:rPr lang="zh-CN" altLang="en-US" sz="1200" i="0">
                          <a:latin typeface="Cambria Math" panose="02040503050406030204" pitchFamily="18" charset="0"/>
                        </a:rPr>
                        <m:t>=</m:t>
                      </m:r>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𝜃</m:t>
                          </m:r>
                        </m:e>
                        <m:sub>
                          <m:r>
                            <a:rPr lang="zh-CN" altLang="en-US" sz="1200" i="1">
                              <a:latin typeface="Cambria Math" panose="02040503050406030204" pitchFamily="18" charset="0"/>
                            </a:rPr>
                            <m:t>𝑔𝑒𝑛</m:t>
                          </m:r>
                        </m:sub>
                        <m:sup>
                          <m:r>
                            <a:rPr lang="zh-CN" altLang="en-US" sz="1200" i="1">
                              <a:latin typeface="Cambria Math" panose="02040503050406030204" pitchFamily="18" charset="0"/>
                            </a:rPr>
                            <m:t>𝑡</m:t>
                          </m:r>
                        </m:sup>
                      </m:sSubSup>
                      <m:r>
                        <a:rPr lang="zh-CN" altLang="en-US" sz="1200" i="0">
                          <a:latin typeface="Cambria Math" panose="02040503050406030204" pitchFamily="18" charset="0"/>
                        </a:rPr>
                        <m:t>+</m:t>
                      </m:r>
                      <m:r>
                        <m:rPr>
                          <m:sty m:val="p"/>
                        </m:rPr>
                        <a:rPr lang="zh-CN" altLang="en-US" sz="1200" i="0">
                          <a:latin typeface="Cambria Math" panose="02040503050406030204" pitchFamily="18" charset="0"/>
                        </a:rPr>
                        <m:t>Δ</m:t>
                      </m:r>
                      <m:r>
                        <a:rPr lang="zh-CN" altLang="en-US" sz="1200" i="1">
                          <a:latin typeface="Cambria Math" panose="02040503050406030204" pitchFamily="18" charset="0"/>
                        </a:rPr>
                        <m:t>𝜃</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𝑆</m:t>
                          </m:r>
                        </m:e>
                      </m:d>
                    </m:oMath>
                  </m:oMathPara>
                </a14:m>
                <a:endParaRPr lang="zh-CN" altLang="en-US" sz="1200" dirty="0"/>
              </a:p>
            </p:txBody>
          </p:sp>
        </mc:Choice>
        <mc:Fallback xmlns="">
          <p:sp>
            <p:nvSpPr>
              <p:cNvPr id="45" name="文本框 44">
                <a:extLst>
                  <a:ext uri="{FF2B5EF4-FFF2-40B4-BE49-F238E27FC236}">
                    <a16:creationId xmlns:a16="http://schemas.microsoft.com/office/drawing/2014/main" id="{0B70027C-9376-185C-ADCF-AD9D675F36C7}"/>
                  </a:ext>
                </a:extLst>
              </p:cNvPr>
              <p:cNvSpPr txBox="1">
                <a:spLocks noRot="1" noChangeAspect="1" noMove="1" noResize="1" noEditPoints="1" noAdjustHandles="1" noChangeArrowheads="1" noChangeShapeType="1" noTextEdit="1"/>
              </p:cNvSpPr>
              <p:nvPr/>
            </p:nvSpPr>
            <p:spPr>
              <a:xfrm>
                <a:off x="2405685" y="5519989"/>
                <a:ext cx="1669923" cy="295402"/>
              </a:xfrm>
              <a:prstGeom prst="rect">
                <a:avLst/>
              </a:prstGeom>
              <a:blipFill>
                <a:blip r:embed="rId13"/>
                <a:stretch>
                  <a:fillRect/>
                </a:stretch>
              </a:blipFill>
            </p:spPr>
            <p:txBody>
              <a:bodyPr/>
              <a:lstStyle/>
              <a:p>
                <a:r>
                  <a:rPr lang="zh-CN" altLang="en-US">
                    <a:noFill/>
                  </a:rPr>
                  <a:t> </a:t>
                </a:r>
              </a:p>
            </p:txBody>
          </p:sp>
        </mc:Fallback>
      </mc:AlternateContent>
      <p:sp>
        <p:nvSpPr>
          <p:cNvPr id="46" name="文本框 45">
            <a:extLst>
              <a:ext uri="{FF2B5EF4-FFF2-40B4-BE49-F238E27FC236}">
                <a16:creationId xmlns:a16="http://schemas.microsoft.com/office/drawing/2014/main" id="{AD884641-38CE-5AE0-6513-B64E37AD8E4D}"/>
              </a:ext>
            </a:extLst>
          </p:cNvPr>
          <p:cNvSpPr txBox="1"/>
          <p:nvPr/>
        </p:nvSpPr>
        <p:spPr>
          <a:xfrm>
            <a:off x="348187" y="5438791"/>
            <a:ext cx="1110907" cy="584775"/>
          </a:xfrm>
          <a:prstGeom prst="rect">
            <a:avLst/>
          </a:prstGeom>
          <a:noFill/>
        </p:spPr>
        <p:txBody>
          <a:bodyPr wrap="square" rtlCol="0">
            <a:spAutoFit/>
          </a:bodyPr>
          <a:lstStyle/>
          <a:p>
            <a:pPr algn="ctr"/>
            <a:r>
              <a:rPr lang="zh-CN" altLang="en-US" sz="1600" b="1" dirty="0"/>
              <a:t>更新参数后回传</a:t>
            </a:r>
          </a:p>
        </p:txBody>
      </p:sp>
      <p:sp>
        <p:nvSpPr>
          <p:cNvPr id="49" name="文本框 48">
            <a:extLst>
              <a:ext uri="{FF2B5EF4-FFF2-40B4-BE49-F238E27FC236}">
                <a16:creationId xmlns:a16="http://schemas.microsoft.com/office/drawing/2014/main" id="{20612E3E-C39F-8DCB-A5A9-254B7683624F}"/>
              </a:ext>
            </a:extLst>
          </p:cNvPr>
          <p:cNvSpPr txBox="1"/>
          <p:nvPr/>
        </p:nvSpPr>
        <p:spPr>
          <a:xfrm>
            <a:off x="5659273" y="1761368"/>
            <a:ext cx="2217149" cy="307777"/>
          </a:xfrm>
          <a:prstGeom prst="rect">
            <a:avLst/>
          </a:prstGeom>
          <a:solidFill>
            <a:srgbClr val="548235"/>
          </a:solidFill>
        </p:spPr>
        <p:txBody>
          <a:bodyPr wrap="square" rtlCol="0">
            <a:spAutoFit/>
          </a:bodyPr>
          <a:lstStyle/>
          <a:p>
            <a:pPr algn="ctr"/>
            <a:r>
              <a:rPr lang="zh-CN" altLang="en-US" sz="1400" b="1">
                <a:solidFill>
                  <a:schemeClr val="bg1"/>
                </a:solidFill>
              </a:rPr>
              <a:t>跨模态融合机制研究</a:t>
            </a:r>
            <a:endParaRPr lang="zh-CN" altLang="en-US" sz="1400" b="1" dirty="0">
              <a:solidFill>
                <a:schemeClr val="bg1"/>
              </a:solidFill>
            </a:endParaRPr>
          </a:p>
        </p:txBody>
      </p:sp>
      <p:sp>
        <p:nvSpPr>
          <p:cNvPr id="50" name="文本框 49">
            <a:extLst>
              <a:ext uri="{FF2B5EF4-FFF2-40B4-BE49-F238E27FC236}">
                <a16:creationId xmlns:a16="http://schemas.microsoft.com/office/drawing/2014/main" id="{CBA70875-6765-05B7-719C-429E0C36D337}"/>
              </a:ext>
            </a:extLst>
          </p:cNvPr>
          <p:cNvSpPr txBox="1"/>
          <p:nvPr/>
        </p:nvSpPr>
        <p:spPr>
          <a:xfrm>
            <a:off x="5685329" y="2285618"/>
            <a:ext cx="2165035" cy="307777"/>
          </a:xfrm>
          <a:prstGeom prst="rect">
            <a:avLst/>
          </a:prstGeom>
          <a:solidFill>
            <a:srgbClr val="548235"/>
          </a:solidFill>
        </p:spPr>
        <p:txBody>
          <a:bodyPr wrap="square" rtlCol="0">
            <a:spAutoFit/>
          </a:bodyPr>
          <a:lstStyle/>
          <a:p>
            <a:pPr algn="ctr"/>
            <a:r>
              <a:rPr lang="zh-CN" altLang="en-US" sz="1400" b="1">
                <a:solidFill>
                  <a:schemeClr val="bg1"/>
                </a:solidFill>
              </a:rPr>
              <a:t>自监督训练机制研究</a:t>
            </a:r>
            <a:endParaRPr lang="zh-CN" altLang="en-US" sz="1400" b="1" dirty="0">
              <a:solidFill>
                <a:schemeClr val="bg1"/>
              </a:solidFill>
            </a:endParaRPr>
          </a:p>
        </p:txBody>
      </p:sp>
      <p:pic>
        <p:nvPicPr>
          <p:cNvPr id="52" name="图片 51" descr="形状&#10;&#10;AI 生成的内容可能不正确。">
            <a:extLst>
              <a:ext uri="{FF2B5EF4-FFF2-40B4-BE49-F238E27FC236}">
                <a16:creationId xmlns:a16="http://schemas.microsoft.com/office/drawing/2014/main" id="{9F38B598-0603-A35C-8420-85ADEEF0EF3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517006" y="2720881"/>
            <a:ext cx="901994" cy="901994"/>
          </a:xfrm>
          <a:prstGeom prst="rect">
            <a:avLst/>
          </a:prstGeom>
        </p:spPr>
      </p:pic>
      <p:pic>
        <p:nvPicPr>
          <p:cNvPr id="55" name="图片 54">
            <a:extLst>
              <a:ext uri="{FF2B5EF4-FFF2-40B4-BE49-F238E27FC236}">
                <a16:creationId xmlns:a16="http://schemas.microsoft.com/office/drawing/2014/main" id="{92EFDBBB-0309-0F30-7232-C2C9255DB573}"/>
              </a:ext>
            </a:extLst>
          </p:cNvPr>
          <p:cNvPicPr>
            <a:picLocks noChangeAspect="1"/>
          </p:cNvPicPr>
          <p:nvPr/>
        </p:nvPicPr>
        <p:blipFill>
          <a:blip r:embed="rId15"/>
          <a:stretch>
            <a:fillRect/>
          </a:stretch>
        </p:blipFill>
        <p:spPr>
          <a:xfrm>
            <a:off x="1526656" y="2888968"/>
            <a:ext cx="709456" cy="712835"/>
          </a:xfrm>
          <a:prstGeom prst="rect">
            <a:avLst/>
          </a:prstGeom>
        </p:spPr>
      </p:pic>
      <p:pic>
        <p:nvPicPr>
          <p:cNvPr id="57" name="图片 56">
            <a:extLst>
              <a:ext uri="{FF2B5EF4-FFF2-40B4-BE49-F238E27FC236}">
                <a16:creationId xmlns:a16="http://schemas.microsoft.com/office/drawing/2014/main" id="{FFECDB87-585B-D160-154C-F609C65D9F2F}"/>
              </a:ext>
            </a:extLst>
          </p:cNvPr>
          <p:cNvPicPr>
            <a:picLocks noChangeAspect="1"/>
          </p:cNvPicPr>
          <p:nvPr/>
        </p:nvPicPr>
        <p:blipFill>
          <a:blip r:embed="rId15"/>
          <a:stretch>
            <a:fillRect/>
          </a:stretch>
        </p:blipFill>
        <p:spPr>
          <a:xfrm>
            <a:off x="1608657" y="2788095"/>
            <a:ext cx="709456" cy="712835"/>
          </a:xfrm>
          <a:prstGeom prst="rect">
            <a:avLst/>
          </a:prstGeom>
        </p:spPr>
      </p:pic>
      <p:pic>
        <p:nvPicPr>
          <p:cNvPr id="58" name="图片 57">
            <a:extLst>
              <a:ext uri="{FF2B5EF4-FFF2-40B4-BE49-F238E27FC236}">
                <a16:creationId xmlns:a16="http://schemas.microsoft.com/office/drawing/2014/main" id="{2AF5AA7B-181E-BBB3-C397-493B540E6B83}"/>
              </a:ext>
            </a:extLst>
          </p:cNvPr>
          <p:cNvPicPr>
            <a:picLocks noChangeAspect="1"/>
          </p:cNvPicPr>
          <p:nvPr/>
        </p:nvPicPr>
        <p:blipFill>
          <a:blip r:embed="rId15"/>
          <a:stretch>
            <a:fillRect/>
          </a:stretch>
        </p:blipFill>
        <p:spPr>
          <a:xfrm>
            <a:off x="1735981" y="2683692"/>
            <a:ext cx="709456" cy="712835"/>
          </a:xfrm>
          <a:prstGeom prst="rect">
            <a:avLst/>
          </a:prstGeom>
        </p:spPr>
      </p:pic>
      <p:sp>
        <p:nvSpPr>
          <p:cNvPr id="59" name="箭头: 右 58">
            <a:extLst>
              <a:ext uri="{FF2B5EF4-FFF2-40B4-BE49-F238E27FC236}">
                <a16:creationId xmlns:a16="http://schemas.microsoft.com/office/drawing/2014/main" id="{F6E430A2-12C8-DD42-B2EA-1E0CD325BD99}"/>
              </a:ext>
            </a:extLst>
          </p:cNvPr>
          <p:cNvSpPr/>
          <p:nvPr/>
        </p:nvSpPr>
        <p:spPr>
          <a:xfrm>
            <a:off x="2780430" y="2943871"/>
            <a:ext cx="437510" cy="360000"/>
          </a:xfrm>
          <a:prstGeom prst="right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52328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3140</TotalTime>
  <Words>1303</Words>
  <Application>Microsoft Office PowerPoint</Application>
  <PresentationFormat>宽屏</PresentationFormat>
  <Paragraphs>153</Paragraphs>
  <Slides>9</Slides>
  <Notes>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等线</vt:lpstr>
      <vt:lpstr>等线 Light</vt:lpstr>
      <vt:lpstr>黑体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贺 鹏</dc:creator>
  <cp:lastModifiedBy>han hongyong</cp:lastModifiedBy>
  <cp:revision>14</cp:revision>
  <dcterms:created xsi:type="dcterms:W3CDTF">2025-09-03T06:19:44Z</dcterms:created>
  <dcterms:modified xsi:type="dcterms:W3CDTF">2025-09-11T09:47:34Z</dcterms:modified>
</cp:coreProperties>
</file>