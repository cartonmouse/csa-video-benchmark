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2" r:id="rId2"/>
    <p:sldId id="263" r:id="rId3"/>
    <p:sldId id="257" r:id="rId4"/>
    <p:sldId id="267" r:id="rId5"/>
    <p:sldId id="268" r:id="rId6"/>
    <p:sldId id="260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主题样式 1 - 强调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762" autoAdjust="0"/>
  </p:normalViewPr>
  <p:slideViewPr>
    <p:cSldViewPr snapToGrid="0">
      <p:cViewPr varScale="1">
        <p:scale>
          <a:sx n="96" d="100"/>
          <a:sy n="96" d="100"/>
        </p:scale>
        <p:origin x="4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790646-AADF-4862-98F6-4577E6F15E7A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2ACBED-D150-446B-8DD3-8D2427C979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4991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这个真实的场景。这个人在房间里进行一系列动作：看书、拿东西、放东西等等。</a:t>
            </a:r>
            <a:endParaRPr lang="en-US" altLang="zh-CN" dirty="0"/>
          </a:p>
          <a:p>
            <a:r>
              <a:rPr lang="zh-CN" altLang="en-US" b="1" dirty="0"/>
              <a:t>核心问题提出：</a:t>
            </a:r>
            <a:r>
              <a:rPr lang="zh-CN" altLang="en-US" dirty="0"/>
              <a:t> </a:t>
            </a:r>
            <a:r>
              <a:rPr lang="en-US" altLang="zh-CN" dirty="0"/>
              <a:t>"</a:t>
            </a:r>
            <a:r>
              <a:rPr lang="zh-CN" altLang="en-US" dirty="0"/>
              <a:t>当前的视频理解模型主要依赖相关性匹配而非逻辑推理。它们根据训练数据进行关键词匹配，而缺乏对动态情境的结构化理解和推理能力。</a:t>
            </a:r>
            <a:r>
              <a:rPr lang="en-US" altLang="zh-CN" dirty="0"/>
              <a:t>"</a:t>
            </a:r>
          </a:p>
          <a:p>
            <a:r>
              <a:rPr lang="zh-CN" altLang="en-US" b="1" dirty="0"/>
              <a:t>对比说明：</a:t>
            </a:r>
            <a:r>
              <a:rPr lang="zh-CN" altLang="en-US" dirty="0"/>
              <a:t> </a:t>
            </a:r>
            <a:r>
              <a:rPr lang="en-US" altLang="zh-CN" dirty="0"/>
              <a:t>"</a:t>
            </a:r>
            <a:r>
              <a:rPr lang="zh-CN" altLang="en-US" dirty="0"/>
              <a:t>你们看这个对比：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左边的笑脸加对勾代表现在的</a:t>
            </a:r>
            <a:r>
              <a:rPr lang="en-GB" altLang="zh-CN" dirty="0"/>
              <a:t>AI</a:t>
            </a:r>
            <a:r>
              <a:rPr lang="zh-CN" altLang="en-GB" dirty="0"/>
              <a:t>：</a:t>
            </a:r>
            <a:r>
              <a:rPr lang="zh-CN" altLang="en-US" dirty="0"/>
              <a:t>看到问题里有某个关键词，就选包含这个词的答案，表面上可能答对了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右边的人脑加叉号代表我们希望的</a:t>
            </a:r>
            <a:r>
              <a:rPr lang="en-GB" altLang="zh-CN" dirty="0"/>
              <a:t>AI</a:t>
            </a:r>
            <a:r>
              <a:rPr lang="zh-CN" altLang="en-GB" dirty="0"/>
              <a:t>：</a:t>
            </a:r>
            <a:r>
              <a:rPr lang="zh-CN" altLang="en-US" dirty="0"/>
              <a:t>真正理解整个情境，进行逻辑推理</a:t>
            </a:r>
            <a:r>
              <a:rPr lang="en-US" altLang="zh-CN" dirty="0"/>
              <a:t>"</a:t>
            </a:r>
          </a:p>
          <a:p>
            <a:r>
              <a:rPr lang="zh-CN" altLang="en-US" b="1" dirty="0"/>
              <a:t>引出核心挑战：</a:t>
            </a:r>
            <a:r>
              <a:rPr lang="zh-CN" altLang="en-US" dirty="0"/>
              <a:t> </a:t>
            </a:r>
            <a:r>
              <a:rPr lang="en-US" altLang="zh-CN" dirty="0"/>
              <a:t>"</a:t>
            </a:r>
            <a:r>
              <a:rPr lang="zh-CN" altLang="en-US" dirty="0"/>
              <a:t>这就引出了两个根本问题：</a:t>
            </a:r>
          </a:p>
          <a:p>
            <a:pPr>
              <a:buFont typeface="+mj-lt"/>
              <a:buAutoNum type="arabicPeriod"/>
            </a:pPr>
            <a:r>
              <a:rPr lang="zh-CN" altLang="en-US" dirty="0"/>
              <a:t>如何让</a:t>
            </a:r>
            <a:r>
              <a:rPr lang="en-GB" altLang="zh-CN" dirty="0"/>
              <a:t>AI</a:t>
            </a:r>
            <a:r>
              <a:rPr lang="zh-CN" altLang="en-US" dirty="0"/>
              <a:t>真正</a:t>
            </a:r>
            <a:r>
              <a:rPr lang="en-US" altLang="zh-CN" dirty="0"/>
              <a:t>'</a:t>
            </a:r>
            <a:r>
              <a:rPr lang="zh-CN" altLang="en-US" dirty="0"/>
              <a:t>理解</a:t>
            </a:r>
            <a:r>
              <a:rPr lang="en-US" altLang="zh-CN" dirty="0"/>
              <a:t>'</a:t>
            </a:r>
            <a:r>
              <a:rPr lang="zh-CN" altLang="en-US" dirty="0"/>
              <a:t>动态情境而不是简单匹配关键词？</a:t>
            </a:r>
          </a:p>
          <a:p>
            <a:pPr>
              <a:buFont typeface="+mj-lt"/>
              <a:buAutoNum type="arabicPeriod"/>
            </a:pPr>
            <a:r>
              <a:rPr lang="zh-CN" altLang="en-US" dirty="0"/>
              <a:t>如何区分</a:t>
            </a:r>
            <a:r>
              <a:rPr lang="en-US" altLang="zh-CN" dirty="0"/>
              <a:t>'</a:t>
            </a:r>
            <a:r>
              <a:rPr lang="zh-CN" altLang="en-US" dirty="0"/>
              <a:t>看图说话</a:t>
            </a:r>
            <a:r>
              <a:rPr lang="en-US" altLang="zh-CN" dirty="0"/>
              <a:t>'</a:t>
            </a:r>
            <a:r>
              <a:rPr lang="zh-CN" altLang="en-US" dirty="0"/>
              <a:t>和</a:t>
            </a:r>
            <a:r>
              <a:rPr lang="en-US" altLang="zh-CN" dirty="0"/>
              <a:t>'</a:t>
            </a:r>
            <a:r>
              <a:rPr lang="zh-CN" altLang="en-US" dirty="0"/>
              <a:t>逻辑推理</a:t>
            </a:r>
            <a:r>
              <a:rPr lang="en-US" altLang="zh-CN" dirty="0"/>
              <a:t>'</a:t>
            </a:r>
            <a:r>
              <a:rPr lang="zh-CN" altLang="en-US" dirty="0"/>
              <a:t>？</a:t>
            </a:r>
            <a:r>
              <a:rPr lang="en-US" altLang="zh-CN" dirty="0"/>
              <a:t>"</a:t>
            </a:r>
          </a:p>
          <a:p>
            <a:r>
              <a:rPr lang="zh-CN" altLang="en-US" b="1" dirty="0"/>
              <a:t>过渡到解决方案：</a:t>
            </a:r>
            <a:r>
              <a:rPr lang="zh-CN" altLang="en-US" dirty="0"/>
              <a:t> </a:t>
            </a:r>
            <a:r>
              <a:rPr lang="en-US" altLang="zh-CN" dirty="0"/>
              <a:t>"</a:t>
            </a:r>
            <a:r>
              <a:rPr lang="zh-CN" altLang="en-US" dirty="0"/>
              <a:t>正是为了解决这些挑战，</a:t>
            </a:r>
            <a:r>
              <a:rPr lang="en-GB" altLang="zh-CN" dirty="0"/>
              <a:t>MIT</a:t>
            </a:r>
            <a:r>
              <a:rPr lang="zh-CN" altLang="en-US" dirty="0"/>
              <a:t>的研究团队提出了</a:t>
            </a:r>
            <a:r>
              <a:rPr lang="en-GB" altLang="zh-CN" dirty="0"/>
              <a:t>STAR benchmark</a:t>
            </a:r>
            <a:r>
              <a:rPr lang="zh-CN" altLang="en-GB" dirty="0"/>
              <a:t>，</a:t>
            </a:r>
            <a:r>
              <a:rPr lang="zh-CN" altLang="en-US" dirty="0"/>
              <a:t>专门评估</a:t>
            </a:r>
            <a:r>
              <a:rPr lang="en-GB" altLang="zh-CN" dirty="0"/>
              <a:t>AI</a:t>
            </a:r>
            <a:r>
              <a:rPr lang="zh-CN" altLang="en-US" dirty="0"/>
              <a:t>的情境推理能力。接下来我们就看看他们是怎么做的。</a:t>
            </a:r>
            <a:r>
              <a:rPr lang="en-US" altLang="zh-CN" dirty="0"/>
              <a:t>"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ACBED-D150-446B-8DD3-8D2427C9799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90145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超图表示法</a:t>
            </a:r>
            <a:endParaRPr lang="en-US" altLang="zh-CN" dirty="0"/>
          </a:p>
          <a:p>
            <a:r>
              <a:rPr lang="zh-CN" altLang="en-US" dirty="0"/>
              <a:t>节点代表人和物体</a:t>
            </a:r>
            <a:endParaRPr lang="en-US" altLang="zh-CN" dirty="0"/>
          </a:p>
          <a:p>
            <a:r>
              <a:rPr lang="zh-CN" altLang="en-US" dirty="0"/>
              <a:t>边代表关系（人</a:t>
            </a:r>
            <a:r>
              <a:rPr lang="en-US" altLang="zh-CN" dirty="0"/>
              <a:t>-</a:t>
            </a:r>
            <a:r>
              <a:rPr lang="zh-CN" altLang="en-US" dirty="0"/>
              <a:t>物体，物体</a:t>
            </a:r>
            <a:r>
              <a:rPr lang="en-US" altLang="zh-CN" dirty="0"/>
              <a:t>-</a:t>
            </a:r>
            <a:r>
              <a:rPr lang="zh-CN" altLang="en-US" dirty="0"/>
              <a:t>物体） </a:t>
            </a:r>
            <a:endParaRPr lang="en-US" altLang="zh-CN" dirty="0"/>
          </a:p>
          <a:p>
            <a:r>
              <a:rPr lang="zh-CN" altLang="en-US" dirty="0"/>
              <a:t>超边代表动作，一个动作可以连接多个实体</a:t>
            </a:r>
            <a:endParaRPr lang="en-US" altLang="zh-CN" dirty="0"/>
          </a:p>
          <a:p>
            <a:r>
              <a:rPr lang="zh-CN" altLang="en-US" b="1" dirty="0"/>
              <a:t>整体场景：</a:t>
            </a:r>
            <a:r>
              <a:rPr lang="zh-CN" altLang="en-US" dirty="0"/>
              <a:t> </a:t>
            </a:r>
            <a:r>
              <a:rPr lang="en-US" altLang="zh-CN" dirty="0"/>
              <a:t>“</a:t>
            </a:r>
            <a:r>
              <a:rPr lang="zh-CN" altLang="en-US" dirty="0"/>
              <a:t>这就是一个完整的情景推理例子。上面一排是视频的</a:t>
            </a:r>
            <a:r>
              <a:rPr lang="en-US" altLang="zh-CN" dirty="0"/>
              <a:t>5</a:t>
            </a:r>
            <a:r>
              <a:rPr lang="zh-CN" altLang="en-US" dirty="0"/>
              <a:t>个关键帧，下面是对应的超图表示。</a:t>
            </a:r>
            <a:r>
              <a:rPr lang="en-US" altLang="zh-CN" dirty="0"/>
              <a:t>"</a:t>
            </a:r>
          </a:p>
          <a:p>
            <a:r>
              <a:rPr lang="zh-CN" altLang="en-US" b="1" dirty="0"/>
              <a:t>时间轴分析：</a:t>
            </a:r>
            <a:r>
              <a:rPr lang="zh-CN" altLang="en-US" dirty="0"/>
              <a:t> </a:t>
            </a:r>
            <a:r>
              <a:rPr lang="en-US" altLang="zh-CN" dirty="0"/>
              <a:t>"</a:t>
            </a:r>
            <a:r>
              <a:rPr lang="zh-CN" altLang="en-US" dirty="0"/>
              <a:t>从左到右看这</a:t>
            </a:r>
            <a:r>
              <a:rPr lang="en-US" altLang="zh-CN" dirty="0"/>
              <a:t>5</a:t>
            </a:r>
            <a:r>
              <a:rPr lang="zh-CN" altLang="en-US" dirty="0"/>
              <a:t>个帧：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altLang="zh-CN" dirty="0"/>
              <a:t>T1: </a:t>
            </a:r>
            <a:r>
              <a:rPr lang="zh-CN" altLang="en-US" dirty="0"/>
              <a:t>这个人开始时拿着瓶子，还有手机，桌上放着书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altLang="zh-CN" dirty="0"/>
              <a:t>T2: </a:t>
            </a:r>
            <a:r>
              <a:rPr lang="zh-CN" altLang="en-US" dirty="0"/>
              <a:t>他开始喝水，从瓶子里</a:t>
            </a:r>
            <a:r>
              <a:rPr lang="en-GB" altLang="zh-CN" dirty="0"/>
              <a:t>drink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altLang="zh-CN" dirty="0"/>
              <a:t>T3: </a:t>
            </a:r>
            <a:r>
              <a:rPr lang="zh-CN" altLang="en-US" dirty="0"/>
              <a:t>他</a:t>
            </a:r>
            <a:r>
              <a:rPr lang="en-GB" altLang="zh-CN" dirty="0"/>
              <a:t>put down</a:t>
            </a:r>
            <a:r>
              <a:rPr lang="zh-CN" altLang="en-US" dirty="0"/>
              <a:t>了瓶子，拿起了书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altLang="zh-CN" dirty="0"/>
              <a:t>T4: </a:t>
            </a:r>
            <a:r>
              <a:rPr lang="zh-CN" altLang="en-US" dirty="0"/>
              <a:t>他在看书，还是</a:t>
            </a:r>
            <a:r>
              <a:rPr lang="en-GB" altLang="zh-CN" dirty="0"/>
              <a:t>holding</a:t>
            </a:r>
            <a:r>
              <a:rPr lang="zh-CN" altLang="en-US" dirty="0"/>
              <a:t>着手机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altLang="zh-CN" dirty="0"/>
              <a:t>T5: </a:t>
            </a:r>
            <a:r>
              <a:rPr lang="zh-CN" altLang="en-US" dirty="0"/>
              <a:t>被遮住了，这就是模型要推理的部分</a:t>
            </a:r>
            <a:r>
              <a:rPr lang="en-US" altLang="zh-CN" dirty="0"/>
              <a:t>"</a:t>
            </a:r>
          </a:p>
          <a:p>
            <a:r>
              <a:rPr lang="zh-CN" altLang="en-US" b="1" dirty="0"/>
              <a:t>超图的精妙之处：</a:t>
            </a:r>
            <a:r>
              <a:rPr lang="zh-CN" altLang="en-US" dirty="0"/>
              <a:t> </a:t>
            </a:r>
            <a:r>
              <a:rPr lang="en-US" altLang="zh-CN" dirty="0"/>
              <a:t>"</a:t>
            </a:r>
            <a:r>
              <a:rPr lang="zh-CN" altLang="en-US" dirty="0"/>
              <a:t>你们看下面那些连线图，这就是超图。每个时间点都有：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黄色的</a:t>
            </a:r>
            <a:r>
              <a:rPr lang="en-GB" altLang="zh-CN" dirty="0"/>
              <a:t>person</a:t>
            </a:r>
            <a:r>
              <a:rPr lang="zh-CN" altLang="en-GB" dirty="0"/>
              <a:t>（</a:t>
            </a:r>
            <a:r>
              <a:rPr lang="zh-CN" altLang="en-US" dirty="0"/>
              <a:t>人）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不同颜色的物体：</a:t>
            </a:r>
            <a:r>
              <a:rPr lang="en-GB" altLang="zh-CN" dirty="0"/>
              <a:t>bottle</a:t>
            </a:r>
            <a:r>
              <a:rPr lang="zh-CN" altLang="en-GB" dirty="0"/>
              <a:t>（</a:t>
            </a:r>
            <a:r>
              <a:rPr lang="zh-CN" altLang="en-US" dirty="0"/>
              <a:t>瓶子）、</a:t>
            </a:r>
            <a:r>
              <a:rPr lang="en-GB" altLang="zh-CN" dirty="0"/>
              <a:t>book</a:t>
            </a:r>
            <a:r>
              <a:rPr lang="zh-CN" altLang="en-GB" dirty="0"/>
              <a:t>（</a:t>
            </a:r>
            <a:r>
              <a:rPr lang="zh-CN" altLang="en-US" dirty="0"/>
              <a:t>书）、</a:t>
            </a:r>
            <a:r>
              <a:rPr lang="en-GB" altLang="zh-CN" dirty="0"/>
              <a:t>phone</a:t>
            </a:r>
            <a:r>
              <a:rPr lang="zh-CN" altLang="en-GB" dirty="0"/>
              <a:t>（</a:t>
            </a:r>
            <a:r>
              <a:rPr lang="zh-CN" altLang="en-US" dirty="0"/>
              <a:t>手机）、</a:t>
            </a:r>
            <a:r>
              <a:rPr lang="en-GB" altLang="zh-CN" dirty="0"/>
              <a:t>table</a:t>
            </a:r>
            <a:r>
              <a:rPr lang="zh-CN" altLang="en-GB" dirty="0"/>
              <a:t>（</a:t>
            </a:r>
            <a:r>
              <a:rPr lang="zh-CN" altLang="en-US" dirty="0"/>
              <a:t>桌子）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连线表示关系：</a:t>
            </a:r>
            <a:r>
              <a:rPr lang="en-GB" altLang="zh-CN" dirty="0"/>
              <a:t>holding</a:t>
            </a:r>
            <a:r>
              <a:rPr lang="zh-CN" altLang="en-GB" dirty="0"/>
              <a:t>（</a:t>
            </a:r>
            <a:r>
              <a:rPr lang="zh-CN" altLang="en-US" dirty="0"/>
              <a:t>拿着）、</a:t>
            </a:r>
            <a:r>
              <a:rPr lang="en-GB" altLang="zh-CN" dirty="0"/>
              <a:t>on</a:t>
            </a:r>
            <a:r>
              <a:rPr lang="zh-CN" altLang="en-GB" dirty="0"/>
              <a:t>（</a:t>
            </a:r>
            <a:r>
              <a:rPr lang="zh-CN" altLang="en-US" dirty="0"/>
              <a:t>在</a:t>
            </a:r>
            <a:r>
              <a:rPr lang="en-US" altLang="zh-CN" dirty="0"/>
              <a:t>...</a:t>
            </a:r>
            <a:r>
              <a:rPr lang="zh-CN" altLang="en-US" dirty="0"/>
              <a:t>上面）、</a:t>
            </a:r>
            <a:r>
              <a:rPr lang="en-GB" altLang="zh-CN" dirty="0"/>
              <a:t>in front of</a:t>
            </a:r>
            <a:r>
              <a:rPr lang="zh-CN" altLang="en-GB" dirty="0"/>
              <a:t>（</a:t>
            </a:r>
            <a:r>
              <a:rPr lang="zh-CN" altLang="en-US" dirty="0"/>
              <a:t>在</a:t>
            </a:r>
            <a:r>
              <a:rPr lang="en-US" altLang="zh-CN" dirty="0"/>
              <a:t>...</a:t>
            </a:r>
            <a:r>
              <a:rPr lang="zh-CN" altLang="en-US" dirty="0"/>
              <a:t>前面）</a:t>
            </a:r>
          </a:p>
          <a:p>
            <a:r>
              <a:rPr lang="zh-CN" altLang="en-US" dirty="0"/>
              <a:t>重点是那些彩色的弧线，那就是动作超边：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橙色弧线：</a:t>
            </a:r>
            <a:r>
              <a:rPr lang="en-GB" altLang="zh-CN" dirty="0"/>
              <a:t>drink from the bottle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绿色弧线：</a:t>
            </a:r>
            <a:r>
              <a:rPr lang="en-GB" altLang="zh-CN" dirty="0"/>
              <a:t>put down the bottle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蓝色弧线：</a:t>
            </a:r>
            <a:r>
              <a:rPr lang="en-GB" altLang="zh-CN" dirty="0"/>
              <a:t>take the book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红色弧线：</a:t>
            </a:r>
            <a:r>
              <a:rPr lang="en-GB" altLang="zh-CN" dirty="0"/>
              <a:t>holding the phone"</a:t>
            </a:r>
          </a:p>
          <a:p>
            <a:r>
              <a:rPr lang="zh-CN" altLang="en-US" b="1" dirty="0"/>
              <a:t>四种问题类型：</a:t>
            </a:r>
            <a:r>
              <a:rPr lang="zh-CN" altLang="en-US" dirty="0"/>
              <a:t> </a:t>
            </a:r>
            <a:r>
              <a:rPr lang="en-US" altLang="zh-CN" dirty="0"/>
              <a:t>"</a:t>
            </a:r>
            <a:r>
              <a:rPr lang="zh-CN" altLang="en-US" dirty="0"/>
              <a:t>基于这个场景，</a:t>
            </a:r>
            <a:r>
              <a:rPr lang="en-GB" altLang="zh-CN" dirty="0"/>
              <a:t>STAR</a:t>
            </a:r>
            <a:r>
              <a:rPr lang="zh-CN" altLang="en-US" dirty="0"/>
              <a:t>设计了四种问题：</a:t>
            </a:r>
          </a:p>
          <a:p>
            <a:pPr>
              <a:buFont typeface="+mj-lt"/>
              <a:buAutoNum type="arabicPeriod"/>
            </a:pPr>
            <a:r>
              <a:rPr lang="en-GB" altLang="zh-CN" b="1" dirty="0"/>
              <a:t>Interaction</a:t>
            </a:r>
            <a:r>
              <a:rPr lang="zh-CN" altLang="en-GB" dirty="0"/>
              <a:t>：</a:t>
            </a:r>
            <a:r>
              <a:rPr lang="zh-CN" altLang="en-US" dirty="0"/>
              <a:t>人对瓶子做了什么？答案是</a:t>
            </a:r>
            <a:r>
              <a:rPr lang="en-GB" altLang="zh-CN" dirty="0"/>
              <a:t>drink</a:t>
            </a:r>
            <a:r>
              <a:rPr lang="zh-CN" altLang="en-GB" dirty="0"/>
              <a:t>（</a:t>
            </a:r>
            <a:r>
              <a:rPr lang="zh-CN" altLang="en-US" dirty="0"/>
              <a:t>喝）</a:t>
            </a:r>
          </a:p>
          <a:p>
            <a:pPr>
              <a:buFont typeface="+mj-lt"/>
              <a:buAutoNum type="arabicPeriod"/>
            </a:pPr>
            <a:r>
              <a:rPr lang="en-GB" altLang="zh-CN" b="1" dirty="0"/>
              <a:t>Sequence</a:t>
            </a:r>
            <a:r>
              <a:rPr lang="zh-CN" altLang="en-GB" dirty="0"/>
              <a:t>：</a:t>
            </a:r>
            <a:r>
              <a:rPr lang="zh-CN" altLang="en-US" dirty="0"/>
              <a:t>放下瓶子后人拿了什么？答案是</a:t>
            </a:r>
            <a:r>
              <a:rPr lang="en-GB" altLang="zh-CN" dirty="0"/>
              <a:t>book</a:t>
            </a:r>
            <a:r>
              <a:rPr lang="zh-CN" altLang="en-GB" dirty="0"/>
              <a:t>（</a:t>
            </a:r>
            <a:r>
              <a:rPr lang="zh-CN" altLang="en-US" dirty="0"/>
              <a:t>书）</a:t>
            </a:r>
          </a:p>
          <a:p>
            <a:pPr>
              <a:buFont typeface="+mj-lt"/>
              <a:buAutoNum type="arabicPeriod"/>
            </a:pPr>
            <a:r>
              <a:rPr lang="en-GB" altLang="zh-CN" b="1" dirty="0"/>
              <a:t>Prediction</a:t>
            </a:r>
            <a:r>
              <a:rPr lang="zh-CN" altLang="en-GB" dirty="0"/>
              <a:t>：</a:t>
            </a:r>
            <a:r>
              <a:rPr lang="zh-CN" altLang="en-US" dirty="0"/>
              <a:t>接下来会放下什么？这需要推理，可能是</a:t>
            </a:r>
            <a:r>
              <a:rPr lang="en-GB" altLang="zh-CN" dirty="0"/>
              <a:t>book</a:t>
            </a:r>
          </a:p>
          <a:p>
            <a:pPr>
              <a:buFont typeface="+mj-lt"/>
              <a:buAutoNum type="arabicPeriod"/>
            </a:pPr>
            <a:r>
              <a:rPr lang="en-GB" altLang="zh-CN" b="1" dirty="0"/>
              <a:t>Feasibility</a:t>
            </a:r>
            <a:r>
              <a:rPr lang="zh-CN" altLang="en-GB" dirty="0"/>
              <a:t>：</a:t>
            </a:r>
            <a:r>
              <a:rPr lang="zh-CN" altLang="en-US" dirty="0"/>
              <a:t>站在桌前能拿什么？需要分析空间关系</a:t>
            </a:r>
            <a:r>
              <a:rPr lang="en-US" altLang="zh-CN" dirty="0"/>
              <a:t>"</a:t>
            </a:r>
          </a:p>
          <a:p>
            <a:r>
              <a:rPr lang="zh-CN" altLang="en-US" dirty="0"/>
              <a:t>超图的引入将杂乱无章的图像帧变得有条理，</a:t>
            </a:r>
            <a:r>
              <a:rPr lang="en-US" altLang="zh-CN" dirty="0"/>
              <a:t>AI</a:t>
            </a:r>
            <a:r>
              <a:rPr lang="zh-CN" altLang="en-US" dirty="0"/>
              <a:t>可以根据超边来串起前后的动作关系，并进行下一步的预测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ACBED-D150-446B-8DD3-8D2427C9799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78445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视频转换成超图的。这个过程分为五个步骤。</a:t>
            </a:r>
            <a:r>
              <a:rPr lang="en-US" altLang="zh-CN" dirty="0"/>
              <a:t>"</a:t>
            </a:r>
          </a:p>
          <a:p>
            <a:r>
              <a:rPr lang="zh-CN" altLang="en-US" b="1" dirty="0"/>
              <a:t>第一步 </a:t>
            </a:r>
            <a:r>
              <a:rPr lang="en-US" altLang="zh-CN" b="1" dirty="0"/>
              <a:t>- </a:t>
            </a:r>
            <a:r>
              <a:rPr lang="zh-CN" altLang="en-US" b="1" dirty="0"/>
              <a:t>预处理和分割：</a:t>
            </a:r>
            <a:r>
              <a:rPr lang="zh-CN" altLang="en-US" dirty="0"/>
              <a:t> </a:t>
            </a:r>
            <a:r>
              <a:rPr lang="en-US" altLang="zh-CN" dirty="0"/>
              <a:t>"</a:t>
            </a:r>
            <a:r>
              <a:rPr lang="zh-CN" altLang="en-US" dirty="0"/>
              <a:t>首先要把连续的视频按动作切分。这个视频被分成了</a:t>
            </a:r>
            <a:r>
              <a:rPr lang="en-US" altLang="zh-CN" dirty="0"/>
              <a:t>4</a:t>
            </a:r>
            <a:r>
              <a:rPr lang="zh-CN" altLang="en-US" dirty="0"/>
              <a:t>个片段：人走向桌子、拿瓶子、喝水、放下瓶子。每个片段有明确的时间边界，比如片段</a:t>
            </a:r>
            <a:r>
              <a:rPr lang="en-US" altLang="zh-CN" dirty="0"/>
              <a:t>1</a:t>
            </a:r>
            <a:r>
              <a:rPr lang="zh-CN" altLang="en-US" dirty="0"/>
              <a:t>是</a:t>
            </a:r>
            <a:r>
              <a:rPr lang="en-US" altLang="zh-CN" dirty="0"/>
              <a:t>0-3</a:t>
            </a:r>
            <a:r>
              <a:rPr lang="zh-CN" altLang="en-US" dirty="0"/>
              <a:t>秒。</a:t>
            </a:r>
            <a:r>
              <a:rPr lang="en-US" altLang="zh-CN" dirty="0"/>
              <a:t>"</a:t>
            </a:r>
          </a:p>
          <a:p>
            <a:r>
              <a:rPr lang="zh-CN" altLang="en-US" b="1" dirty="0"/>
              <a:t>第二步 </a:t>
            </a:r>
            <a:r>
              <a:rPr lang="en-US" altLang="zh-CN" b="1" dirty="0"/>
              <a:t>- </a:t>
            </a:r>
            <a:r>
              <a:rPr lang="zh-CN" altLang="en-US" b="1" dirty="0"/>
              <a:t>实体检测：</a:t>
            </a:r>
            <a:r>
              <a:rPr lang="zh-CN" altLang="en-US" dirty="0"/>
              <a:t> </a:t>
            </a:r>
            <a:r>
              <a:rPr lang="en-US" altLang="zh-CN" dirty="0"/>
              <a:t>"</a:t>
            </a:r>
            <a:r>
              <a:rPr lang="zh-CN" altLang="en-US" dirty="0"/>
              <a:t>接下来用目标检测器找出所有的人和物体。你们看图中标出的：黄色的</a:t>
            </a:r>
            <a:r>
              <a:rPr lang="en-GB" altLang="zh-CN" dirty="0"/>
              <a:t>person</a:t>
            </a:r>
            <a:r>
              <a:rPr lang="zh-CN" altLang="en-GB" dirty="0"/>
              <a:t>，</a:t>
            </a:r>
            <a:r>
              <a:rPr lang="zh-CN" altLang="en-US" dirty="0"/>
              <a:t>还有</a:t>
            </a:r>
            <a:r>
              <a:rPr lang="en-GB" altLang="zh-CN" dirty="0"/>
              <a:t>bottle</a:t>
            </a:r>
            <a:r>
              <a:rPr lang="zh-CN" altLang="en-GB" dirty="0"/>
              <a:t>、</a:t>
            </a:r>
            <a:r>
              <a:rPr lang="en-GB" altLang="zh-CN" dirty="0"/>
              <a:t>book</a:t>
            </a:r>
            <a:r>
              <a:rPr lang="zh-CN" altLang="en-GB" dirty="0"/>
              <a:t>、</a:t>
            </a:r>
            <a:r>
              <a:rPr lang="en-GB" altLang="zh-CN" dirty="0"/>
              <a:t>phone</a:t>
            </a:r>
            <a:r>
              <a:rPr lang="zh-CN" altLang="en-GB" dirty="0"/>
              <a:t>、</a:t>
            </a:r>
            <a:r>
              <a:rPr lang="en-GB" altLang="zh-CN" dirty="0"/>
              <a:t>table</a:t>
            </a:r>
            <a:r>
              <a:rPr lang="zh-CN" altLang="en-US" dirty="0"/>
              <a:t>这些物体。这一步主要靠现有的检测模型自动完成。</a:t>
            </a:r>
            <a:r>
              <a:rPr lang="en-US" altLang="zh-CN" dirty="0"/>
              <a:t>"</a:t>
            </a:r>
          </a:p>
          <a:p>
            <a:r>
              <a:rPr lang="zh-CN" altLang="en-US" b="1" dirty="0"/>
              <a:t>第三步 </a:t>
            </a:r>
            <a:r>
              <a:rPr lang="en-US" altLang="zh-CN" b="1" dirty="0"/>
              <a:t>- </a:t>
            </a:r>
            <a:r>
              <a:rPr lang="zh-CN" altLang="en-US" b="1" dirty="0"/>
              <a:t>关系抽取：</a:t>
            </a:r>
            <a:r>
              <a:rPr lang="zh-CN" altLang="en-US" dirty="0"/>
              <a:t> </a:t>
            </a:r>
            <a:r>
              <a:rPr lang="en-US" altLang="zh-CN" dirty="0"/>
              <a:t>"</a:t>
            </a:r>
            <a:r>
              <a:rPr lang="zh-CN" altLang="en-US" dirty="0"/>
              <a:t>然后分析实体之间的关系。比如</a:t>
            </a:r>
            <a:r>
              <a:rPr lang="en-GB" altLang="zh-CN" dirty="0"/>
              <a:t>person</a:t>
            </a:r>
            <a:r>
              <a:rPr lang="zh-CN" altLang="en-US" dirty="0"/>
              <a:t>和</a:t>
            </a:r>
            <a:r>
              <a:rPr lang="en-GB" altLang="zh-CN" dirty="0"/>
              <a:t>phone</a:t>
            </a:r>
            <a:r>
              <a:rPr lang="zh-CN" altLang="en-US" dirty="0"/>
              <a:t>之间是</a:t>
            </a:r>
            <a:r>
              <a:rPr lang="en-GB" altLang="zh-CN" dirty="0"/>
              <a:t>holding</a:t>
            </a:r>
            <a:r>
              <a:rPr lang="zh-CN" altLang="en-GB" dirty="0"/>
              <a:t>（</a:t>
            </a:r>
            <a:r>
              <a:rPr lang="zh-CN" altLang="en-US" dirty="0"/>
              <a:t>拿着），</a:t>
            </a:r>
            <a:r>
              <a:rPr lang="en-GB" altLang="zh-CN" dirty="0"/>
              <a:t>bottle</a:t>
            </a:r>
            <a:r>
              <a:rPr lang="zh-CN" altLang="en-US" dirty="0"/>
              <a:t>和</a:t>
            </a:r>
            <a:r>
              <a:rPr lang="en-GB" altLang="zh-CN" dirty="0"/>
              <a:t>table</a:t>
            </a:r>
            <a:r>
              <a:rPr lang="zh-CN" altLang="en-US" dirty="0"/>
              <a:t>之间是</a:t>
            </a:r>
            <a:r>
              <a:rPr lang="en-GB" altLang="zh-CN" dirty="0"/>
              <a:t>on</a:t>
            </a:r>
            <a:r>
              <a:rPr lang="zh-CN" altLang="en-GB" dirty="0"/>
              <a:t>（</a:t>
            </a:r>
            <a:r>
              <a:rPr lang="zh-CN" altLang="en-US" dirty="0"/>
              <a:t>在上面）。这些关系用图中的连线表示。</a:t>
            </a:r>
            <a:r>
              <a:rPr lang="en-US" altLang="zh-CN" dirty="0"/>
              <a:t>"</a:t>
            </a:r>
          </a:p>
          <a:p>
            <a:r>
              <a:rPr lang="zh-CN" altLang="en-US" b="1" dirty="0"/>
              <a:t>第四步 </a:t>
            </a:r>
            <a:r>
              <a:rPr lang="en-US" altLang="zh-CN" b="1" dirty="0"/>
              <a:t>- </a:t>
            </a:r>
            <a:r>
              <a:rPr lang="zh-CN" altLang="en-US" b="1" dirty="0"/>
              <a:t>构建超边：</a:t>
            </a:r>
            <a:r>
              <a:rPr lang="zh-CN" altLang="en-US" dirty="0"/>
              <a:t> </a:t>
            </a:r>
            <a:r>
              <a:rPr lang="en-US" altLang="zh-CN" dirty="0"/>
              <a:t>"</a:t>
            </a:r>
            <a:r>
              <a:rPr lang="zh-CN" altLang="en-US" dirty="0"/>
              <a:t>这是最关键的一步。把每个动作变成一个超边，连接所有相关的实体。你们看那些彩色的弧线：橙色的</a:t>
            </a:r>
            <a:r>
              <a:rPr lang="en-US" altLang="zh-CN" dirty="0"/>
              <a:t>'</a:t>
            </a:r>
            <a:r>
              <a:rPr lang="en-GB" altLang="zh-CN" dirty="0"/>
              <a:t>drink from bottle'</a:t>
            </a:r>
            <a:r>
              <a:rPr lang="zh-CN" altLang="en-GB" dirty="0"/>
              <a:t>、</a:t>
            </a:r>
            <a:r>
              <a:rPr lang="zh-CN" altLang="en-US" dirty="0"/>
              <a:t>绿色的</a:t>
            </a:r>
            <a:r>
              <a:rPr lang="en-US" altLang="zh-CN" dirty="0"/>
              <a:t>'</a:t>
            </a:r>
            <a:r>
              <a:rPr lang="en-GB" altLang="zh-CN" dirty="0"/>
              <a:t>put down bottle'</a:t>
            </a:r>
            <a:r>
              <a:rPr lang="zh-CN" altLang="en-GB" dirty="0"/>
              <a:t>，</a:t>
            </a:r>
            <a:r>
              <a:rPr lang="zh-CN" altLang="en-US" dirty="0"/>
              <a:t>每个超边代表一个完整的动作事件。这一步需要人工判断哪些实体与动作相关。</a:t>
            </a:r>
            <a:r>
              <a:rPr lang="en-US" altLang="zh-CN" dirty="0"/>
              <a:t>"</a:t>
            </a:r>
          </a:p>
          <a:p>
            <a:r>
              <a:rPr lang="zh-CN" altLang="en-US" b="1" dirty="0"/>
              <a:t>第五步 </a:t>
            </a:r>
            <a:r>
              <a:rPr lang="en-US" altLang="zh-CN" b="1" dirty="0"/>
              <a:t>- </a:t>
            </a:r>
            <a:r>
              <a:rPr lang="zh-CN" altLang="en-US" b="1" dirty="0"/>
              <a:t>时序连接：</a:t>
            </a:r>
            <a:r>
              <a:rPr lang="zh-CN" altLang="en-US" dirty="0"/>
              <a:t> </a:t>
            </a:r>
            <a:r>
              <a:rPr lang="en-US" altLang="zh-CN" dirty="0"/>
              <a:t>"</a:t>
            </a:r>
            <a:r>
              <a:rPr lang="zh-CN" altLang="en-US" dirty="0"/>
              <a:t>最后按照动作发生的先后顺序，把这些超边连接起来，形成完整的时间序列。这样程序就能理解</a:t>
            </a:r>
            <a:r>
              <a:rPr lang="en-US" altLang="zh-CN" dirty="0"/>
              <a:t>'</a:t>
            </a:r>
            <a:r>
              <a:rPr lang="zh-CN" altLang="en-US" dirty="0"/>
              <a:t>先做了什么，后做了什么</a:t>
            </a:r>
            <a:r>
              <a:rPr lang="en-US" altLang="zh-CN" dirty="0"/>
              <a:t>’</a:t>
            </a:r>
            <a:r>
              <a:rPr lang="zh-CN" altLang="en-US" dirty="0"/>
              <a:t>。</a:t>
            </a:r>
            <a:r>
              <a:rPr lang="en-US" altLang="zh-CN" dirty="0"/>
              <a:t>”</a:t>
            </a:r>
          </a:p>
          <a:p>
            <a:r>
              <a:rPr lang="zh-CN" altLang="en-US" b="1" dirty="0"/>
              <a:t>数据来源依赖：</a:t>
            </a:r>
          </a:p>
          <a:p>
            <a:r>
              <a:rPr lang="en-GB" altLang="zh-CN" b="1" dirty="0"/>
              <a:t>STAR</a:t>
            </a:r>
            <a:r>
              <a:rPr lang="zh-CN" altLang="en-US" b="1" dirty="0"/>
              <a:t>依赖现有标注：</a:t>
            </a:r>
            <a:endParaRPr lang="zh-CN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基础视频来自</a:t>
            </a:r>
            <a:r>
              <a:rPr lang="en-GB" altLang="zh-CN" dirty="0"/>
              <a:t>Charades</a:t>
            </a:r>
            <a:r>
              <a:rPr lang="zh-CN" altLang="en-US" dirty="0"/>
              <a:t>数据集（已有动作标注）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人</a:t>
            </a:r>
            <a:r>
              <a:rPr lang="en-US" altLang="zh-CN" dirty="0"/>
              <a:t>-</a:t>
            </a:r>
            <a:r>
              <a:rPr lang="zh-CN" altLang="en-US" dirty="0"/>
              <a:t>物关系来自</a:t>
            </a:r>
            <a:r>
              <a:rPr lang="en-GB" altLang="zh-CN" dirty="0"/>
              <a:t>ActionGenome</a:t>
            </a:r>
            <a:r>
              <a:rPr lang="zh-CN" altLang="en-US" dirty="0"/>
              <a:t>数据集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物</a:t>
            </a:r>
            <a:r>
              <a:rPr lang="en-US" altLang="zh-CN" dirty="0"/>
              <a:t>-</a:t>
            </a:r>
            <a:r>
              <a:rPr lang="zh-CN" altLang="en-US" dirty="0"/>
              <a:t>物关系通过检测器自动生成后人工验证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ACBED-D150-446B-8DD3-8D2427C9799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32264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26799-7669-83AD-C2D0-159799D30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3E3C5A1-8CD7-A030-9F3D-599CAF4A1D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7BE737B-D7CA-1CB4-EFA6-F23010AB26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"</a:t>
            </a:r>
            <a:r>
              <a:rPr lang="zh-CN" altLang="en-US" dirty="0"/>
              <a:t>现在我们来看看</a:t>
            </a:r>
            <a:r>
              <a:rPr lang="en-GB" altLang="zh-CN" dirty="0"/>
              <a:t>STAR</a:t>
            </a:r>
            <a:r>
              <a:rPr lang="zh-CN" altLang="en-US" dirty="0"/>
              <a:t>是怎么把视频转换成超图的。这个过程分为五个步骤。</a:t>
            </a:r>
            <a:r>
              <a:rPr lang="en-US" altLang="zh-CN" dirty="0"/>
              <a:t>"</a:t>
            </a:r>
          </a:p>
          <a:p>
            <a:r>
              <a:rPr lang="zh-CN" altLang="en-US" b="1" dirty="0"/>
              <a:t>第一步 </a:t>
            </a:r>
            <a:r>
              <a:rPr lang="en-US" altLang="zh-CN" b="1" dirty="0"/>
              <a:t>- </a:t>
            </a:r>
            <a:r>
              <a:rPr lang="zh-CN" altLang="en-US" b="1" dirty="0"/>
              <a:t>预处理和分割：</a:t>
            </a:r>
            <a:r>
              <a:rPr lang="zh-CN" altLang="en-US" dirty="0"/>
              <a:t> </a:t>
            </a:r>
            <a:r>
              <a:rPr lang="en-US" altLang="zh-CN" dirty="0"/>
              <a:t>"</a:t>
            </a:r>
            <a:r>
              <a:rPr lang="zh-CN" altLang="en-US" dirty="0"/>
              <a:t>首先要把连续的视频按动作切分。你们看，这个视频被分成了</a:t>
            </a:r>
            <a:r>
              <a:rPr lang="en-US" altLang="zh-CN" dirty="0"/>
              <a:t>4</a:t>
            </a:r>
            <a:r>
              <a:rPr lang="zh-CN" altLang="en-US" dirty="0"/>
              <a:t>个片段：人走向桌子、拿瓶子、喝水、放下瓶子。每个片段有明确的时间边界，比如片段</a:t>
            </a:r>
            <a:r>
              <a:rPr lang="en-US" altLang="zh-CN" dirty="0"/>
              <a:t>1</a:t>
            </a:r>
            <a:r>
              <a:rPr lang="zh-CN" altLang="en-US" dirty="0"/>
              <a:t>是</a:t>
            </a:r>
            <a:r>
              <a:rPr lang="en-US" altLang="zh-CN" dirty="0"/>
              <a:t>0-3</a:t>
            </a:r>
            <a:r>
              <a:rPr lang="zh-CN" altLang="en-US" dirty="0"/>
              <a:t>秒。</a:t>
            </a:r>
            <a:r>
              <a:rPr lang="en-US" altLang="zh-CN" dirty="0"/>
              <a:t>"</a:t>
            </a:r>
          </a:p>
          <a:p>
            <a:r>
              <a:rPr lang="zh-CN" altLang="en-US" b="1" dirty="0"/>
              <a:t>第二步 </a:t>
            </a:r>
            <a:r>
              <a:rPr lang="en-US" altLang="zh-CN" b="1" dirty="0"/>
              <a:t>- </a:t>
            </a:r>
            <a:r>
              <a:rPr lang="zh-CN" altLang="en-US" b="1" dirty="0"/>
              <a:t>实体检测：</a:t>
            </a:r>
            <a:r>
              <a:rPr lang="zh-CN" altLang="en-US" dirty="0"/>
              <a:t> </a:t>
            </a:r>
            <a:r>
              <a:rPr lang="en-US" altLang="zh-CN" dirty="0"/>
              <a:t>"</a:t>
            </a:r>
            <a:r>
              <a:rPr lang="zh-CN" altLang="en-US" dirty="0"/>
              <a:t>接下来用目标检测器找出所有的人和物体。你们看图中标出的：黄色的</a:t>
            </a:r>
            <a:r>
              <a:rPr lang="en-GB" altLang="zh-CN" dirty="0"/>
              <a:t>person</a:t>
            </a:r>
            <a:r>
              <a:rPr lang="zh-CN" altLang="en-GB" dirty="0"/>
              <a:t>，</a:t>
            </a:r>
            <a:r>
              <a:rPr lang="zh-CN" altLang="en-US" dirty="0"/>
              <a:t>还有</a:t>
            </a:r>
            <a:r>
              <a:rPr lang="en-GB" altLang="zh-CN" dirty="0"/>
              <a:t>bottle</a:t>
            </a:r>
            <a:r>
              <a:rPr lang="zh-CN" altLang="en-GB" dirty="0"/>
              <a:t>、</a:t>
            </a:r>
            <a:r>
              <a:rPr lang="en-GB" altLang="zh-CN" dirty="0"/>
              <a:t>book</a:t>
            </a:r>
            <a:r>
              <a:rPr lang="zh-CN" altLang="en-GB" dirty="0"/>
              <a:t>、</a:t>
            </a:r>
            <a:r>
              <a:rPr lang="en-GB" altLang="zh-CN" dirty="0"/>
              <a:t>phone</a:t>
            </a:r>
            <a:r>
              <a:rPr lang="zh-CN" altLang="en-GB" dirty="0"/>
              <a:t>、</a:t>
            </a:r>
            <a:r>
              <a:rPr lang="en-GB" altLang="zh-CN" dirty="0"/>
              <a:t>table</a:t>
            </a:r>
            <a:r>
              <a:rPr lang="zh-CN" altLang="en-US" dirty="0"/>
              <a:t>这些物体。这一步主要靠现有的检测模型自动完成。</a:t>
            </a:r>
            <a:r>
              <a:rPr lang="en-US" altLang="zh-CN" dirty="0"/>
              <a:t>"</a:t>
            </a:r>
          </a:p>
          <a:p>
            <a:r>
              <a:rPr lang="zh-CN" altLang="en-US" b="1" dirty="0"/>
              <a:t>第三步 </a:t>
            </a:r>
            <a:r>
              <a:rPr lang="en-US" altLang="zh-CN" b="1" dirty="0"/>
              <a:t>- </a:t>
            </a:r>
            <a:r>
              <a:rPr lang="zh-CN" altLang="en-US" b="1" dirty="0"/>
              <a:t>关系抽取：</a:t>
            </a:r>
            <a:r>
              <a:rPr lang="zh-CN" altLang="en-US" dirty="0"/>
              <a:t> </a:t>
            </a:r>
            <a:r>
              <a:rPr lang="en-US" altLang="zh-CN" dirty="0"/>
              <a:t>"</a:t>
            </a:r>
            <a:r>
              <a:rPr lang="zh-CN" altLang="en-US" dirty="0"/>
              <a:t>然后分析实体之间的关系。比如</a:t>
            </a:r>
            <a:r>
              <a:rPr lang="en-GB" altLang="zh-CN" dirty="0"/>
              <a:t>person</a:t>
            </a:r>
            <a:r>
              <a:rPr lang="zh-CN" altLang="en-US" dirty="0"/>
              <a:t>和</a:t>
            </a:r>
            <a:r>
              <a:rPr lang="en-GB" altLang="zh-CN" dirty="0"/>
              <a:t>phone</a:t>
            </a:r>
            <a:r>
              <a:rPr lang="zh-CN" altLang="en-US" dirty="0"/>
              <a:t>之间是</a:t>
            </a:r>
            <a:r>
              <a:rPr lang="en-GB" altLang="zh-CN" dirty="0"/>
              <a:t>holding</a:t>
            </a:r>
            <a:r>
              <a:rPr lang="zh-CN" altLang="en-GB" dirty="0"/>
              <a:t>（</a:t>
            </a:r>
            <a:r>
              <a:rPr lang="zh-CN" altLang="en-US" dirty="0"/>
              <a:t>拿着），</a:t>
            </a:r>
            <a:r>
              <a:rPr lang="en-GB" altLang="zh-CN" dirty="0"/>
              <a:t>bottle</a:t>
            </a:r>
            <a:r>
              <a:rPr lang="zh-CN" altLang="en-US" dirty="0"/>
              <a:t>和</a:t>
            </a:r>
            <a:r>
              <a:rPr lang="en-GB" altLang="zh-CN" dirty="0"/>
              <a:t>table</a:t>
            </a:r>
            <a:r>
              <a:rPr lang="zh-CN" altLang="en-US" dirty="0"/>
              <a:t>之间是</a:t>
            </a:r>
            <a:r>
              <a:rPr lang="en-GB" altLang="zh-CN" dirty="0"/>
              <a:t>on</a:t>
            </a:r>
            <a:r>
              <a:rPr lang="zh-CN" altLang="en-GB" dirty="0"/>
              <a:t>（</a:t>
            </a:r>
            <a:r>
              <a:rPr lang="zh-CN" altLang="en-US" dirty="0"/>
              <a:t>在上面）。这些关系用图中的连线表示。</a:t>
            </a:r>
            <a:r>
              <a:rPr lang="en-US" altLang="zh-CN" dirty="0"/>
              <a:t>"</a:t>
            </a:r>
          </a:p>
          <a:p>
            <a:r>
              <a:rPr lang="zh-CN" altLang="en-US" b="1" dirty="0"/>
              <a:t>第四步 </a:t>
            </a:r>
            <a:r>
              <a:rPr lang="en-US" altLang="zh-CN" b="1" dirty="0"/>
              <a:t>- </a:t>
            </a:r>
            <a:r>
              <a:rPr lang="zh-CN" altLang="en-US" b="1" dirty="0"/>
              <a:t>构建超边：</a:t>
            </a:r>
            <a:r>
              <a:rPr lang="zh-CN" altLang="en-US" dirty="0"/>
              <a:t> </a:t>
            </a:r>
            <a:r>
              <a:rPr lang="en-US" altLang="zh-CN" dirty="0"/>
              <a:t>"</a:t>
            </a:r>
            <a:r>
              <a:rPr lang="zh-CN" altLang="en-US" dirty="0"/>
              <a:t>这是最关键的一步。把每个动作变成一个超边，连接所有相关的实体。你们看那些彩色的弧线：橙色的</a:t>
            </a:r>
            <a:r>
              <a:rPr lang="en-US" altLang="zh-CN" dirty="0"/>
              <a:t>'</a:t>
            </a:r>
            <a:r>
              <a:rPr lang="en-GB" altLang="zh-CN" dirty="0"/>
              <a:t>drink from bottle'</a:t>
            </a:r>
            <a:r>
              <a:rPr lang="zh-CN" altLang="en-GB" dirty="0"/>
              <a:t>、</a:t>
            </a:r>
            <a:r>
              <a:rPr lang="zh-CN" altLang="en-US" dirty="0"/>
              <a:t>绿色的</a:t>
            </a:r>
            <a:r>
              <a:rPr lang="en-US" altLang="zh-CN" dirty="0"/>
              <a:t>'</a:t>
            </a:r>
            <a:r>
              <a:rPr lang="en-GB" altLang="zh-CN" dirty="0"/>
              <a:t>put down bottle'</a:t>
            </a:r>
            <a:r>
              <a:rPr lang="zh-CN" altLang="en-GB" dirty="0"/>
              <a:t>，</a:t>
            </a:r>
            <a:r>
              <a:rPr lang="zh-CN" altLang="en-US" dirty="0"/>
              <a:t>每个超边代表一个完整的动作事件。这一步需要人工判断哪些实体与动作相关。</a:t>
            </a:r>
            <a:r>
              <a:rPr lang="en-US" altLang="zh-CN" dirty="0"/>
              <a:t>"</a:t>
            </a:r>
          </a:p>
          <a:p>
            <a:r>
              <a:rPr lang="zh-CN" altLang="en-US" b="1" dirty="0"/>
              <a:t>第五步 </a:t>
            </a:r>
            <a:r>
              <a:rPr lang="en-US" altLang="zh-CN" b="1" dirty="0"/>
              <a:t>- </a:t>
            </a:r>
            <a:r>
              <a:rPr lang="zh-CN" altLang="en-US" b="1" dirty="0"/>
              <a:t>时序连接：</a:t>
            </a:r>
            <a:r>
              <a:rPr lang="zh-CN" altLang="en-US" dirty="0"/>
              <a:t> </a:t>
            </a:r>
            <a:r>
              <a:rPr lang="en-US" altLang="zh-CN" dirty="0"/>
              <a:t>"</a:t>
            </a:r>
            <a:r>
              <a:rPr lang="zh-CN" altLang="en-US" dirty="0"/>
              <a:t>最后按照动作发生的先后顺序，把这些超边连接起来，形成完整的时间序列。这样程序就能理解</a:t>
            </a:r>
            <a:r>
              <a:rPr lang="en-US" altLang="zh-CN" dirty="0"/>
              <a:t>'</a:t>
            </a:r>
            <a:r>
              <a:rPr lang="zh-CN" altLang="en-US" dirty="0"/>
              <a:t>先做了什么，后做了什么</a:t>
            </a:r>
            <a:r>
              <a:rPr lang="en-US" altLang="zh-CN" dirty="0"/>
              <a:t>’</a:t>
            </a:r>
            <a:r>
              <a:rPr lang="zh-CN" altLang="en-US" dirty="0"/>
              <a:t>。</a:t>
            </a:r>
            <a:r>
              <a:rPr lang="en-US" altLang="zh-CN" dirty="0"/>
              <a:t>”</a:t>
            </a:r>
          </a:p>
          <a:p>
            <a:r>
              <a:rPr lang="zh-CN" altLang="en-US" b="1" dirty="0"/>
              <a:t>数据来源依赖：</a:t>
            </a:r>
          </a:p>
          <a:p>
            <a:r>
              <a:rPr lang="en-GB" altLang="zh-CN" b="1" dirty="0"/>
              <a:t>STAR</a:t>
            </a:r>
            <a:r>
              <a:rPr lang="zh-CN" altLang="en-US" b="1" dirty="0"/>
              <a:t>依赖现有标注：</a:t>
            </a:r>
            <a:endParaRPr lang="zh-CN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基础视频来自</a:t>
            </a:r>
            <a:r>
              <a:rPr lang="en-GB" altLang="zh-CN" dirty="0"/>
              <a:t>Charades</a:t>
            </a:r>
            <a:r>
              <a:rPr lang="zh-CN" altLang="en-US" dirty="0"/>
              <a:t>数据集（已有动作标注）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人</a:t>
            </a:r>
            <a:r>
              <a:rPr lang="en-US" altLang="zh-CN" dirty="0"/>
              <a:t>-</a:t>
            </a:r>
            <a:r>
              <a:rPr lang="zh-CN" altLang="en-US" dirty="0"/>
              <a:t>物关系来自</a:t>
            </a:r>
            <a:r>
              <a:rPr lang="en-GB" altLang="zh-CN" dirty="0"/>
              <a:t>ActionGenome</a:t>
            </a:r>
            <a:r>
              <a:rPr lang="zh-CN" altLang="en-US" dirty="0"/>
              <a:t>数据集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物</a:t>
            </a:r>
            <a:r>
              <a:rPr lang="en-US" altLang="zh-CN" dirty="0"/>
              <a:t>-</a:t>
            </a:r>
            <a:r>
              <a:rPr lang="zh-CN" altLang="en-US" dirty="0"/>
              <a:t>物关系通过检测器自动生成后人工验证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6B5794-D1FD-5307-AC4E-D6CA5F507C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ACBED-D150-446B-8DD3-8D2427C9799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55720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zh-CN" b="1" dirty="0"/>
              <a:t>Interaction</a:t>
            </a:r>
            <a:r>
              <a:rPr lang="zh-CN" altLang="en-GB" b="1" dirty="0"/>
              <a:t>（</a:t>
            </a:r>
            <a:r>
              <a:rPr lang="zh-CN" altLang="en-US" b="1" dirty="0"/>
              <a:t>交互）</a:t>
            </a:r>
            <a:r>
              <a:rPr lang="en-US" altLang="zh-CN" b="1" dirty="0"/>
              <a:t>- </a:t>
            </a:r>
            <a:r>
              <a:rPr lang="zh-CN" altLang="en-US" b="1" dirty="0"/>
              <a:t>基础级</a:t>
            </a:r>
            <a:endParaRPr lang="zh-CN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问题形式</a:t>
            </a:r>
            <a:r>
              <a:rPr lang="zh-CN" altLang="en-US" dirty="0"/>
              <a:t>：</a:t>
            </a:r>
            <a:r>
              <a:rPr lang="en-US" altLang="zh-CN" dirty="0"/>
              <a:t>"</a:t>
            </a:r>
            <a:r>
              <a:rPr lang="en-GB" altLang="zh-CN" dirty="0"/>
              <a:t>What did the person do with the bottle?"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认知需求</a:t>
            </a:r>
            <a:r>
              <a:rPr lang="zh-CN" altLang="en-US" dirty="0"/>
              <a:t>：动作识别 </a:t>
            </a:r>
            <a:r>
              <a:rPr lang="en-US" altLang="zh-CN" dirty="0"/>
              <a:t>+ </a:t>
            </a:r>
            <a:r>
              <a:rPr lang="zh-CN" altLang="en-US" dirty="0"/>
              <a:t>物体关联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推理深度</a:t>
            </a:r>
            <a:r>
              <a:rPr lang="zh-CN" altLang="en-US" dirty="0"/>
              <a:t>：</a:t>
            </a:r>
            <a:r>
              <a:rPr lang="en-US" altLang="zh-CN" dirty="0"/>
              <a:t>1</a:t>
            </a:r>
            <a:r>
              <a:rPr lang="zh-CN" altLang="en-US" dirty="0"/>
              <a:t>步推理，直接从视频中观察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成功率相对最高</a:t>
            </a:r>
            <a:r>
              <a:rPr lang="zh-CN" altLang="en-US" dirty="0"/>
              <a:t>，因为主要考察感知能力</a:t>
            </a:r>
          </a:p>
          <a:p>
            <a:r>
              <a:rPr lang="en-US" altLang="zh-CN" b="1" dirty="0"/>
              <a:t>2. </a:t>
            </a:r>
            <a:r>
              <a:rPr lang="en-GB" altLang="zh-CN" b="1" dirty="0"/>
              <a:t>Sequence</a:t>
            </a:r>
            <a:r>
              <a:rPr lang="zh-CN" altLang="en-GB" b="1" dirty="0"/>
              <a:t>（</a:t>
            </a:r>
            <a:r>
              <a:rPr lang="zh-CN" altLang="en-US" b="1" dirty="0"/>
              <a:t>序列）</a:t>
            </a:r>
            <a:r>
              <a:rPr lang="en-US" altLang="zh-CN" b="1" dirty="0"/>
              <a:t>- </a:t>
            </a:r>
            <a:r>
              <a:rPr lang="zh-CN" altLang="en-US" b="1" dirty="0"/>
              <a:t>进阶级</a:t>
            </a:r>
            <a:endParaRPr lang="zh-CN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问题形式</a:t>
            </a:r>
            <a:r>
              <a:rPr lang="zh-CN" altLang="en-US" dirty="0"/>
              <a:t>：</a:t>
            </a:r>
            <a:r>
              <a:rPr lang="en-US" altLang="zh-CN" dirty="0"/>
              <a:t>"</a:t>
            </a:r>
            <a:r>
              <a:rPr lang="en-GB" altLang="zh-CN" dirty="0"/>
              <a:t>What did the person take after putting down the bottle?"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认知需求</a:t>
            </a:r>
            <a:r>
              <a:rPr lang="zh-CN" altLang="en-US" dirty="0"/>
              <a:t>：时序理解 </a:t>
            </a:r>
            <a:r>
              <a:rPr lang="en-US" altLang="zh-CN" dirty="0"/>
              <a:t>+ </a:t>
            </a:r>
            <a:r>
              <a:rPr lang="zh-CN" altLang="en-US" dirty="0"/>
              <a:t>因果关联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推理深度</a:t>
            </a:r>
            <a:r>
              <a:rPr lang="zh-CN" altLang="en-US" dirty="0"/>
              <a:t>：</a:t>
            </a:r>
            <a:r>
              <a:rPr lang="en-US" altLang="zh-CN" dirty="0"/>
              <a:t>2</a:t>
            </a:r>
            <a:r>
              <a:rPr lang="zh-CN" altLang="en-US" dirty="0"/>
              <a:t>步推理，需要定位时间点再查找后续动作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关键挑战</a:t>
            </a:r>
            <a:r>
              <a:rPr lang="zh-CN" altLang="en-US" dirty="0"/>
              <a:t>：理解动作的先后顺序</a:t>
            </a:r>
          </a:p>
          <a:p>
            <a:r>
              <a:rPr lang="en-US" altLang="zh-CN" b="1" dirty="0"/>
              <a:t>3. </a:t>
            </a:r>
            <a:r>
              <a:rPr lang="en-GB" altLang="zh-CN" b="1" dirty="0"/>
              <a:t>Prediction</a:t>
            </a:r>
            <a:r>
              <a:rPr lang="zh-CN" altLang="en-GB" b="1" dirty="0"/>
              <a:t>（</a:t>
            </a:r>
            <a:r>
              <a:rPr lang="zh-CN" altLang="en-US" b="1" dirty="0"/>
              <a:t>预测）</a:t>
            </a:r>
            <a:r>
              <a:rPr lang="en-US" altLang="zh-CN" b="1" dirty="0"/>
              <a:t>- </a:t>
            </a:r>
            <a:r>
              <a:rPr lang="zh-CN" altLang="en-US" b="1" dirty="0"/>
              <a:t>高级</a:t>
            </a:r>
            <a:endParaRPr lang="zh-CN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问题形式</a:t>
            </a:r>
            <a:r>
              <a:rPr lang="zh-CN" altLang="en-US" dirty="0"/>
              <a:t>：</a:t>
            </a:r>
            <a:r>
              <a:rPr lang="en-US" altLang="zh-CN" dirty="0"/>
              <a:t>"</a:t>
            </a:r>
            <a:r>
              <a:rPr lang="en-GB" altLang="zh-CN" dirty="0"/>
              <a:t>What will the person put down next?"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认知需求</a:t>
            </a:r>
            <a:r>
              <a:rPr lang="zh-CN" altLang="en-US" dirty="0"/>
              <a:t>：状态推理 </a:t>
            </a:r>
            <a:r>
              <a:rPr lang="en-US" altLang="zh-CN" dirty="0"/>
              <a:t>+ </a:t>
            </a:r>
            <a:r>
              <a:rPr lang="zh-CN" altLang="en-US" dirty="0"/>
              <a:t>未来预测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推理深度</a:t>
            </a:r>
            <a:r>
              <a:rPr lang="zh-CN" altLang="en-US" dirty="0"/>
              <a:t>：多步推理，基于当前状态推断未来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特殊设置</a:t>
            </a:r>
            <a:r>
              <a:rPr lang="zh-CN" altLang="en-US" dirty="0"/>
              <a:t>：只给前</a:t>
            </a:r>
            <a:r>
              <a:rPr lang="en-US" altLang="zh-CN" dirty="0"/>
              <a:t>1/4</a:t>
            </a:r>
            <a:r>
              <a:rPr lang="zh-CN" altLang="en-US" dirty="0"/>
              <a:t>视频，后面需要推理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最大挑战</a:t>
            </a:r>
            <a:r>
              <a:rPr lang="zh-CN" altLang="en-US" dirty="0"/>
              <a:t>：从已知推断未知</a:t>
            </a:r>
          </a:p>
          <a:p>
            <a:r>
              <a:rPr lang="en-US" altLang="zh-CN" b="1" dirty="0"/>
              <a:t>4. </a:t>
            </a:r>
            <a:r>
              <a:rPr lang="en-GB" altLang="zh-CN" b="1" dirty="0"/>
              <a:t>Feasibility</a:t>
            </a:r>
            <a:r>
              <a:rPr lang="zh-CN" altLang="en-GB" b="1" dirty="0"/>
              <a:t>（</a:t>
            </a:r>
            <a:r>
              <a:rPr lang="zh-CN" altLang="en-US" b="1" dirty="0"/>
              <a:t>可行性）</a:t>
            </a:r>
            <a:r>
              <a:rPr lang="en-US" altLang="zh-CN" b="1" dirty="0"/>
              <a:t>- </a:t>
            </a:r>
            <a:r>
              <a:rPr lang="zh-CN" altLang="en-US" b="1" dirty="0"/>
              <a:t>专家级</a:t>
            </a:r>
            <a:endParaRPr lang="zh-CN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问题形式</a:t>
            </a:r>
            <a:r>
              <a:rPr lang="zh-CN" altLang="en-US" dirty="0"/>
              <a:t>：</a:t>
            </a:r>
            <a:r>
              <a:rPr lang="en-US" altLang="zh-CN" dirty="0"/>
              <a:t>"</a:t>
            </a:r>
            <a:r>
              <a:rPr lang="en-GB" altLang="zh-CN" dirty="0"/>
              <a:t>Which object is possible to be took when the person is in front of the table?"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认知需求</a:t>
            </a:r>
            <a:r>
              <a:rPr lang="zh-CN" altLang="en-US" dirty="0"/>
              <a:t>：空间推理 </a:t>
            </a:r>
            <a:r>
              <a:rPr lang="en-US" altLang="zh-CN" dirty="0"/>
              <a:t>+ </a:t>
            </a:r>
            <a:r>
              <a:rPr lang="zh-CN" altLang="en-US" dirty="0"/>
              <a:t>物理约束 </a:t>
            </a:r>
            <a:r>
              <a:rPr lang="en-US" altLang="zh-CN" dirty="0"/>
              <a:t>+ </a:t>
            </a:r>
            <a:r>
              <a:rPr lang="zh-CN" altLang="en-US" dirty="0"/>
              <a:t>逻辑推理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推理深度</a:t>
            </a:r>
            <a:r>
              <a:rPr lang="zh-CN" altLang="en-US" dirty="0"/>
              <a:t>：多维度推理，综合空间、物理、逻辑多种约束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核心考察</a:t>
            </a:r>
            <a:r>
              <a:rPr lang="zh-CN" altLang="en-US" dirty="0"/>
              <a:t>：理解情境中的可能性边界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ACBED-D150-446B-8DD3-8D2427C9799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23171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AC0F9-12DB-7AC5-A5DD-46A2A37DE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3588086-8D7D-A9A7-2875-F704A60246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98320AF-F07F-0034-0CA2-0BBA9DA0C6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实验概述：</a:t>
            </a:r>
            <a:r>
              <a:rPr lang="zh-CN" altLang="en-US" dirty="0"/>
              <a:t> </a:t>
            </a:r>
            <a:r>
              <a:rPr lang="en-US" altLang="zh-CN" dirty="0"/>
              <a:t>"</a:t>
            </a:r>
            <a:r>
              <a:rPr lang="zh-CN" altLang="en-US" dirty="0"/>
              <a:t>现在我们来看</a:t>
            </a:r>
            <a:r>
              <a:rPr lang="en-GB" altLang="zh-CN" dirty="0"/>
              <a:t>STAR</a:t>
            </a:r>
            <a:r>
              <a:rPr lang="zh-CN" altLang="en-US" dirty="0"/>
              <a:t>数据集上的实验结果。作者测试了</a:t>
            </a:r>
            <a:r>
              <a:rPr lang="en-US" altLang="zh-CN" dirty="0"/>
              <a:t>9</a:t>
            </a:r>
            <a:r>
              <a:rPr lang="zh-CN" altLang="en-US" dirty="0"/>
              <a:t>个不同的模型，从最基础的随机选择到最先进的视频问答模型。</a:t>
            </a:r>
            <a:r>
              <a:rPr lang="en-US" altLang="zh-CN" dirty="0"/>
              <a:t>"</a:t>
            </a:r>
          </a:p>
          <a:p>
            <a:r>
              <a:rPr lang="zh-CN" altLang="en-US" b="1" dirty="0"/>
              <a:t>基准模型分析：</a:t>
            </a:r>
            <a:r>
              <a:rPr lang="zh-CN" altLang="en-US" dirty="0"/>
              <a:t> </a:t>
            </a:r>
            <a:r>
              <a:rPr lang="en-US" altLang="zh-CN" dirty="0"/>
              <a:t>"</a:t>
            </a:r>
            <a:r>
              <a:rPr lang="zh-CN" altLang="en-US" dirty="0"/>
              <a:t>首先看基准线：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随机选择准确率约</a:t>
            </a:r>
            <a:r>
              <a:rPr lang="en-US" altLang="zh-CN" dirty="0"/>
              <a:t>25%</a:t>
            </a:r>
            <a:r>
              <a:rPr lang="zh-CN" altLang="en-US" dirty="0"/>
              <a:t>，这符合</a:t>
            </a:r>
            <a:r>
              <a:rPr lang="en-US" altLang="zh-CN" dirty="0"/>
              <a:t>4</a:t>
            </a:r>
            <a:r>
              <a:rPr lang="zh-CN" altLang="en-US" dirty="0"/>
              <a:t>选</a:t>
            </a:r>
            <a:r>
              <a:rPr lang="en-US" altLang="zh-CN" dirty="0"/>
              <a:t>1</a:t>
            </a:r>
            <a:r>
              <a:rPr lang="zh-CN" altLang="en-US" dirty="0"/>
              <a:t>的理论期望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选择频繁答案反而更差，只有</a:t>
            </a:r>
            <a:r>
              <a:rPr lang="en-US" altLang="zh-CN" dirty="0"/>
              <a:t>19%</a:t>
            </a:r>
            <a:r>
              <a:rPr lang="zh-CN" altLang="en-US" dirty="0"/>
              <a:t>左右，说明</a:t>
            </a:r>
            <a:r>
              <a:rPr lang="en-GB" altLang="zh-CN" dirty="0"/>
              <a:t>STAR</a:t>
            </a:r>
            <a:r>
              <a:rPr lang="zh-CN" altLang="en-US" dirty="0"/>
              <a:t>的干扰项设计很有效，避免了统计偏差</a:t>
            </a:r>
            <a:r>
              <a:rPr lang="en-US" altLang="zh-CN" dirty="0"/>
              <a:t>"</a:t>
            </a:r>
          </a:p>
          <a:p>
            <a:r>
              <a:rPr lang="zh-CN" altLang="en-US" b="1" dirty="0"/>
              <a:t>语言模型表现：</a:t>
            </a:r>
            <a:r>
              <a:rPr lang="zh-CN" altLang="en-US" dirty="0"/>
              <a:t> </a:t>
            </a:r>
            <a:r>
              <a:rPr lang="en-US" altLang="zh-CN" dirty="0"/>
              <a:t>"</a:t>
            </a:r>
            <a:r>
              <a:rPr lang="zh-CN" altLang="en-US" dirty="0"/>
              <a:t>纯语言模型（</a:t>
            </a:r>
            <a:r>
              <a:rPr lang="en-GB" altLang="zh-CN" dirty="0"/>
              <a:t>LSTM</a:t>
            </a:r>
            <a:r>
              <a:rPr lang="zh-CN" altLang="en-US" dirty="0"/>
              <a:t>和</a:t>
            </a:r>
            <a:r>
              <a:rPr lang="en-GB" altLang="zh-CN" dirty="0"/>
              <a:t>BERT</a:t>
            </a:r>
            <a:r>
              <a:rPr lang="zh-CN" altLang="en-GB" dirty="0"/>
              <a:t>）</a:t>
            </a:r>
            <a:r>
              <a:rPr lang="zh-CN" altLang="en-US" dirty="0"/>
              <a:t>能达到</a:t>
            </a:r>
            <a:r>
              <a:rPr lang="en-US" altLang="zh-CN" dirty="0"/>
              <a:t>32%</a:t>
            </a:r>
            <a:r>
              <a:rPr lang="zh-CN" altLang="en-US" dirty="0"/>
              <a:t>左右，比随机好一些，但提升有限，说明视觉信息确实很重要。</a:t>
            </a:r>
            <a:r>
              <a:rPr lang="en-US" altLang="zh-CN" dirty="0"/>
              <a:t>"</a:t>
            </a:r>
          </a:p>
          <a:p>
            <a:r>
              <a:rPr lang="zh-CN" altLang="en-US" b="1" dirty="0"/>
              <a:t>视觉</a:t>
            </a:r>
            <a:r>
              <a:rPr lang="en-US" altLang="zh-CN" b="1" dirty="0"/>
              <a:t>-</a:t>
            </a:r>
            <a:r>
              <a:rPr lang="zh-CN" altLang="en-US" b="1" dirty="0"/>
              <a:t>语言模型：</a:t>
            </a:r>
            <a:r>
              <a:rPr lang="zh-CN" altLang="en-US" dirty="0"/>
              <a:t> </a:t>
            </a:r>
            <a:r>
              <a:rPr lang="en-US" altLang="zh-CN" dirty="0"/>
              <a:t>"</a:t>
            </a:r>
            <a:r>
              <a:rPr lang="zh-CN" altLang="en-US" dirty="0"/>
              <a:t>加入视觉信息后：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简单的</a:t>
            </a:r>
            <a:r>
              <a:rPr lang="en-GB" altLang="zh-CN" dirty="0"/>
              <a:t>CNN+LSTM</a:t>
            </a:r>
            <a:r>
              <a:rPr lang="zh-CN" altLang="en-US" dirty="0"/>
              <a:t>和</a:t>
            </a:r>
            <a:r>
              <a:rPr lang="en-GB" altLang="zh-CN" dirty="0"/>
              <a:t>CNN+BERT</a:t>
            </a:r>
            <a:r>
              <a:rPr lang="zh-CN" altLang="en-US" dirty="0"/>
              <a:t>提升到</a:t>
            </a:r>
            <a:r>
              <a:rPr lang="en-US" altLang="zh-CN" dirty="0"/>
              <a:t>33-37%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更复杂的模型如</a:t>
            </a:r>
            <a:r>
              <a:rPr lang="en-GB" altLang="zh-CN" dirty="0"/>
              <a:t>LCGN</a:t>
            </a:r>
            <a:r>
              <a:rPr lang="zh-CN" altLang="en-US" dirty="0"/>
              <a:t>和</a:t>
            </a:r>
            <a:r>
              <a:rPr lang="en-GB" altLang="zh-CN" dirty="0"/>
              <a:t>HCRN</a:t>
            </a:r>
            <a:r>
              <a:rPr lang="zh-CN" altLang="en-US" dirty="0"/>
              <a:t>在简单任务上能达到</a:t>
            </a:r>
            <a:r>
              <a:rPr lang="en-US" altLang="zh-CN" dirty="0"/>
              <a:t>39%</a:t>
            </a:r>
            <a:r>
              <a:rPr lang="zh-CN" altLang="en-US" dirty="0"/>
              <a:t>，但在难任务上又掉下来了</a:t>
            </a:r>
            <a:r>
              <a:rPr lang="en-US" altLang="zh-CN" dirty="0"/>
              <a:t>"</a:t>
            </a:r>
          </a:p>
          <a:p>
            <a:r>
              <a:rPr lang="zh-CN" altLang="en-US" b="1" dirty="0"/>
              <a:t>最佳表现分析：</a:t>
            </a:r>
            <a:r>
              <a:rPr lang="zh-CN" altLang="en-US" dirty="0"/>
              <a:t> </a:t>
            </a:r>
            <a:r>
              <a:rPr lang="en-US" altLang="zh-CN" dirty="0"/>
              <a:t>"</a:t>
            </a:r>
            <a:r>
              <a:rPr lang="zh-CN" altLang="en-US" dirty="0"/>
              <a:t>表现最好的</a:t>
            </a:r>
            <a:r>
              <a:rPr lang="en-GB" altLang="zh-CN" dirty="0"/>
              <a:t>ClipBERT</a:t>
            </a:r>
            <a:r>
              <a:rPr lang="zh-CN" altLang="en-GB" dirty="0"/>
              <a:t>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在序列推理上达到</a:t>
            </a:r>
            <a:r>
              <a:rPr lang="en-US" altLang="zh-CN" dirty="0"/>
              <a:t>43.59%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但平均准确率也只有</a:t>
            </a:r>
            <a:r>
              <a:rPr lang="en-US" altLang="zh-CN" dirty="0"/>
              <a:t>36.79%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在预测和可行性任务上仍然很困难</a:t>
            </a:r>
            <a:r>
              <a:rPr lang="en-US" altLang="zh-CN" dirty="0"/>
              <a:t>"</a:t>
            </a:r>
          </a:p>
          <a:p>
            <a:r>
              <a:rPr lang="zh-CN" altLang="en-US" b="1" dirty="0"/>
              <a:t>关键发现：</a:t>
            </a:r>
            <a:r>
              <a:rPr lang="zh-CN" altLang="en-US" dirty="0"/>
              <a:t> </a:t>
            </a:r>
            <a:r>
              <a:rPr lang="en-US" altLang="zh-CN" dirty="0"/>
              <a:t>"</a:t>
            </a:r>
            <a:r>
              <a:rPr lang="zh-CN" altLang="en-US" dirty="0"/>
              <a:t>两个重要观察：</a:t>
            </a:r>
          </a:p>
          <a:p>
            <a:pPr>
              <a:buFont typeface="+mj-lt"/>
              <a:buAutoNum type="arabicPeriod"/>
            </a:pPr>
            <a:r>
              <a:rPr lang="zh-CN" altLang="en-US" dirty="0"/>
              <a:t>所有模型表现都远未达到人类水平</a:t>
            </a:r>
          </a:p>
          <a:p>
            <a:pPr>
              <a:buFont typeface="+mj-lt"/>
              <a:buAutoNum type="arabicPeriod"/>
            </a:pPr>
            <a:r>
              <a:rPr lang="zh-CN" altLang="en-US" dirty="0"/>
              <a:t>任务难度越高（从交互到可行性），模型表现越差，证实了</a:t>
            </a:r>
            <a:r>
              <a:rPr lang="en-GB" altLang="zh-CN" dirty="0"/>
              <a:t>situated reasoning</a:t>
            </a:r>
            <a:r>
              <a:rPr lang="zh-CN" altLang="en-US" dirty="0"/>
              <a:t>的挑战性</a:t>
            </a:r>
            <a:r>
              <a:rPr lang="en-US" altLang="zh-CN" dirty="0"/>
              <a:t>"</a:t>
            </a:r>
          </a:p>
          <a:p>
            <a:r>
              <a:rPr lang="zh-CN" altLang="en-US" b="1" dirty="0"/>
              <a:t>结论：</a:t>
            </a:r>
            <a:r>
              <a:rPr lang="zh-CN" altLang="en-US" dirty="0"/>
              <a:t> </a:t>
            </a:r>
            <a:r>
              <a:rPr lang="en-US" altLang="zh-CN" dirty="0"/>
              <a:t>"</a:t>
            </a:r>
            <a:r>
              <a:rPr lang="zh-CN" altLang="en-US" dirty="0"/>
              <a:t>这些结果清楚表明，现有的视频理解模型在真正的情境推理任务上还有很大差距。</a:t>
            </a:r>
            <a:r>
              <a:rPr lang="en-US" altLang="zh-CN" dirty="0"/>
              <a:t>"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9E5DFC-721D-513D-E624-DBA6B9E1C4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ACBED-D150-446B-8DD3-8D2427C9799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1813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21609-C9A4-BCA7-7D31-09592AC6D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60BB9F6-071F-ADAB-5AD8-5E050A27BE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4B4B646-889F-1FC9-09B5-1F6ADE6993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实验设计理念：</a:t>
            </a:r>
            <a:r>
              <a:rPr lang="zh-CN" altLang="en-US" dirty="0"/>
              <a:t> </a:t>
            </a:r>
            <a:r>
              <a:rPr lang="en-US" altLang="zh-CN" dirty="0"/>
              <a:t>"</a:t>
            </a:r>
            <a:r>
              <a:rPr lang="zh-CN" altLang="en-US" dirty="0"/>
              <a:t>这是一个很巧妙的诊断实验。通过逐步移除不同的</a:t>
            </a:r>
            <a:r>
              <a:rPr lang="en-US" altLang="zh-CN" dirty="0"/>
              <a:t>'</a:t>
            </a:r>
            <a:r>
              <a:rPr lang="zh-CN" altLang="en-US" dirty="0"/>
              <a:t>完美条件</a:t>
            </a:r>
            <a:r>
              <a:rPr lang="en-US" altLang="zh-CN" dirty="0"/>
              <a:t>'</a:t>
            </a:r>
            <a:r>
              <a:rPr lang="zh-CN" altLang="en-US" dirty="0"/>
              <a:t>，我们能精确定位</a:t>
            </a:r>
            <a:r>
              <a:rPr lang="en-GB" altLang="zh-CN" dirty="0"/>
              <a:t>situated reasoning</a:t>
            </a:r>
            <a:r>
              <a:rPr lang="zh-CN" altLang="en-US" dirty="0"/>
              <a:t>任务的瓶颈在哪里。</a:t>
            </a:r>
            <a:r>
              <a:rPr lang="en-US" altLang="zh-CN" dirty="0"/>
              <a:t>"</a:t>
            </a:r>
          </a:p>
          <a:p>
            <a:r>
              <a:rPr lang="zh-CN" altLang="en-US" b="1" dirty="0"/>
              <a:t>理论上限验证：</a:t>
            </a:r>
            <a:r>
              <a:rPr lang="zh-CN" altLang="en-US" dirty="0"/>
              <a:t> </a:t>
            </a:r>
            <a:r>
              <a:rPr lang="en-US" altLang="zh-CN" dirty="0"/>
              <a:t>"</a:t>
            </a:r>
            <a:r>
              <a:rPr lang="zh-CN" altLang="en-US" dirty="0"/>
              <a:t>第一行是</a:t>
            </a:r>
            <a:r>
              <a:rPr lang="en-GB" altLang="zh-CN" dirty="0"/>
              <a:t>oracle</a:t>
            </a:r>
            <a:r>
              <a:rPr lang="zh-CN" altLang="en-US" dirty="0"/>
              <a:t>版本，所有组件都用标准答案，达到</a:t>
            </a:r>
            <a:r>
              <a:rPr lang="en-US" altLang="zh-CN" dirty="0"/>
              <a:t>100%</a:t>
            </a:r>
            <a:r>
              <a:rPr lang="zh-CN" altLang="en-US" dirty="0"/>
              <a:t>准确率。这证明了任务设计是合理的，理论上完全可解。</a:t>
            </a:r>
            <a:r>
              <a:rPr lang="en-US" altLang="zh-CN" dirty="0"/>
              <a:t>"</a:t>
            </a:r>
          </a:p>
          <a:p>
            <a:r>
              <a:rPr lang="zh-CN" altLang="en-US" b="1" dirty="0"/>
              <a:t>核心瓶颈识别：</a:t>
            </a:r>
            <a:r>
              <a:rPr lang="zh-CN" altLang="en-US" dirty="0"/>
              <a:t> </a:t>
            </a:r>
            <a:r>
              <a:rPr lang="en-US" altLang="zh-CN" dirty="0"/>
              <a:t>"</a:t>
            </a:r>
            <a:r>
              <a:rPr lang="zh-CN" altLang="en-US" dirty="0"/>
              <a:t>关键发现在第二行：去掉完美超图后，性能骤降到</a:t>
            </a:r>
            <a:r>
              <a:rPr lang="en-US" altLang="zh-CN" dirty="0"/>
              <a:t>43%</a:t>
            </a:r>
            <a:r>
              <a:rPr lang="zh-CN" altLang="en-US" dirty="0"/>
              <a:t>左右。这意味着从视频到结构化表示的转换是最大的难点，损失了</a:t>
            </a:r>
            <a:r>
              <a:rPr lang="en-US" altLang="zh-CN" dirty="0"/>
              <a:t>57%</a:t>
            </a:r>
            <a:r>
              <a:rPr lang="zh-CN" altLang="en-US" dirty="0"/>
              <a:t>的性能。</a:t>
            </a:r>
            <a:r>
              <a:rPr lang="en-US" altLang="zh-CN" dirty="0"/>
              <a:t>"</a:t>
            </a:r>
          </a:p>
          <a:p>
            <a:r>
              <a:rPr lang="zh-CN" altLang="en-US" b="1" dirty="0"/>
              <a:t>视觉感知的重要性：</a:t>
            </a:r>
            <a:r>
              <a:rPr lang="zh-CN" altLang="en-US" dirty="0"/>
              <a:t> </a:t>
            </a:r>
            <a:r>
              <a:rPr lang="en-US" altLang="zh-CN" dirty="0"/>
              <a:t>"</a:t>
            </a:r>
            <a:r>
              <a:rPr lang="zh-CN" altLang="en-US" dirty="0"/>
              <a:t>对比第三、四行可以看出视觉感知的层次影响：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只去掉关系检测，还能保持</a:t>
            </a:r>
            <a:r>
              <a:rPr lang="en-US" altLang="zh-CN" dirty="0"/>
              <a:t>38%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连物体检测也去掉，就降到</a:t>
            </a:r>
            <a:r>
              <a:rPr lang="en-US" altLang="zh-CN" dirty="0"/>
              <a:t>30% </a:t>
            </a:r>
            <a:r>
              <a:rPr lang="zh-CN" altLang="en-US" dirty="0"/>
              <a:t>说明真实场景中的视觉理解仍然很有挑战性。</a:t>
            </a:r>
            <a:r>
              <a:rPr lang="en-US" altLang="zh-CN" dirty="0"/>
              <a:t>"</a:t>
            </a:r>
          </a:p>
          <a:p>
            <a:r>
              <a:rPr lang="zh-CN" altLang="en-US" b="1" dirty="0"/>
              <a:t>语言不是问题：</a:t>
            </a:r>
            <a:r>
              <a:rPr lang="zh-CN" altLang="en-US" dirty="0"/>
              <a:t> </a:t>
            </a:r>
            <a:r>
              <a:rPr lang="en-US" altLang="zh-CN" dirty="0"/>
              <a:t>"</a:t>
            </a:r>
            <a:r>
              <a:rPr lang="zh-CN" altLang="en-US" dirty="0"/>
              <a:t>第五行很有趣：去掉完美语言理解几乎没有影响，</a:t>
            </a:r>
            <a:r>
              <a:rPr lang="en-US" altLang="zh-CN" dirty="0"/>
              <a:t>99.98%</a:t>
            </a:r>
            <a:r>
              <a:rPr lang="zh-CN" altLang="en-US" dirty="0"/>
              <a:t>。这符合</a:t>
            </a:r>
            <a:r>
              <a:rPr lang="en-GB" altLang="zh-CN" dirty="0"/>
              <a:t>STAR</a:t>
            </a:r>
            <a:r>
              <a:rPr lang="zh-CN" altLang="en-US" dirty="0"/>
              <a:t>的设计思路</a:t>
            </a:r>
            <a:r>
              <a:rPr lang="en-US" altLang="zh-CN" dirty="0"/>
              <a:t>——</a:t>
            </a:r>
            <a:r>
              <a:rPr lang="zh-CN" altLang="en-US" dirty="0"/>
              <a:t>简化语言复杂度，专注于视觉推理挑战。</a:t>
            </a:r>
            <a:r>
              <a:rPr lang="en-US" altLang="zh-CN" dirty="0"/>
              <a:t>"</a:t>
            </a:r>
          </a:p>
          <a:p>
            <a:r>
              <a:rPr lang="zh-CN" altLang="en-US" b="1" dirty="0"/>
              <a:t>现实条件下的表现：</a:t>
            </a:r>
            <a:r>
              <a:rPr lang="zh-CN" altLang="en-US" dirty="0"/>
              <a:t> </a:t>
            </a:r>
            <a:r>
              <a:rPr lang="en-US" altLang="zh-CN" dirty="0"/>
              <a:t>"</a:t>
            </a:r>
            <a:r>
              <a:rPr lang="zh-CN" altLang="en-US" dirty="0"/>
              <a:t>最后一行是完全真实的条件，</a:t>
            </a:r>
            <a:r>
              <a:rPr lang="en-US" altLang="zh-CN" dirty="0"/>
              <a:t>30%</a:t>
            </a:r>
            <a:r>
              <a:rPr lang="zh-CN" altLang="en-US" dirty="0"/>
              <a:t>左右，基本跟最好的</a:t>
            </a:r>
            <a:r>
              <a:rPr lang="en-GB" altLang="zh-CN" dirty="0"/>
              <a:t>baseline</a:t>
            </a:r>
            <a:r>
              <a:rPr lang="zh-CN" altLang="en-US" dirty="0"/>
              <a:t>持平。</a:t>
            </a:r>
            <a:r>
              <a:rPr lang="en-US" altLang="zh-CN" dirty="0"/>
              <a:t>"</a:t>
            </a:r>
          </a:p>
          <a:p>
            <a:r>
              <a:rPr lang="zh-CN" altLang="en-US" b="1" dirty="0"/>
              <a:t>诊断结论：</a:t>
            </a:r>
            <a:r>
              <a:rPr lang="zh-CN" altLang="en-US" dirty="0"/>
              <a:t> </a:t>
            </a:r>
            <a:r>
              <a:rPr lang="en-US" altLang="zh-CN" dirty="0"/>
              <a:t>"</a:t>
            </a:r>
            <a:r>
              <a:rPr lang="zh-CN" altLang="en-US" dirty="0"/>
              <a:t>这个表格清楚地告诉我们：情境抽象能力是当前</a:t>
            </a:r>
            <a:r>
              <a:rPr lang="en-GB" altLang="zh-CN" dirty="0"/>
              <a:t>AI</a:t>
            </a:r>
            <a:r>
              <a:rPr lang="zh-CN" altLang="en-US" dirty="0"/>
              <a:t>在</a:t>
            </a:r>
            <a:r>
              <a:rPr lang="en-GB" altLang="zh-CN" dirty="0"/>
              <a:t>situated reasoning</a:t>
            </a:r>
            <a:r>
              <a:rPr lang="zh-CN" altLang="en-US" dirty="0"/>
              <a:t>上的最大短板。如何有效地将动态视频转换为结构化知识表示，这是未来研究的关键方向。</a:t>
            </a:r>
            <a:r>
              <a:rPr lang="en-US" altLang="zh-CN" dirty="0"/>
              <a:t>"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8C9FD2-A045-C3B0-7568-B655976AB8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ACBED-D150-446B-8DD3-8D2427C9799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26536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18835-D4D1-0201-7CEE-DA91DDEF2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1C135D9-ADA4-98C4-5397-25FBA41EFC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CC452AC-5CB5-26BB-1CD6-2491868DA7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实验设计理念：</a:t>
            </a:r>
            <a:r>
              <a:rPr lang="zh-CN" altLang="en-US" dirty="0"/>
              <a:t> </a:t>
            </a:r>
            <a:r>
              <a:rPr lang="en-US" altLang="zh-CN" dirty="0"/>
              <a:t>"</a:t>
            </a:r>
            <a:r>
              <a:rPr lang="zh-CN" altLang="en-US" dirty="0"/>
              <a:t>这是一个很巧妙的诊断实验。通过逐步移除不同的</a:t>
            </a:r>
            <a:r>
              <a:rPr lang="en-US" altLang="zh-CN" dirty="0"/>
              <a:t>'</a:t>
            </a:r>
            <a:r>
              <a:rPr lang="zh-CN" altLang="en-US" dirty="0"/>
              <a:t>完美条件</a:t>
            </a:r>
            <a:r>
              <a:rPr lang="en-US" altLang="zh-CN" dirty="0"/>
              <a:t>'</a:t>
            </a:r>
            <a:r>
              <a:rPr lang="zh-CN" altLang="en-US" dirty="0"/>
              <a:t>，我们能精确定位</a:t>
            </a:r>
            <a:r>
              <a:rPr lang="en-GB" altLang="zh-CN" dirty="0"/>
              <a:t>situated reasoning</a:t>
            </a:r>
            <a:r>
              <a:rPr lang="zh-CN" altLang="en-US" dirty="0"/>
              <a:t>任务的瓶颈在哪里。</a:t>
            </a:r>
            <a:r>
              <a:rPr lang="en-US" altLang="zh-CN" dirty="0"/>
              <a:t>"</a:t>
            </a:r>
          </a:p>
          <a:p>
            <a:r>
              <a:rPr lang="zh-CN" altLang="en-US" b="1" dirty="0"/>
              <a:t>理论上限验证：</a:t>
            </a:r>
            <a:r>
              <a:rPr lang="zh-CN" altLang="en-US" dirty="0"/>
              <a:t> </a:t>
            </a:r>
            <a:r>
              <a:rPr lang="en-US" altLang="zh-CN" dirty="0"/>
              <a:t>"</a:t>
            </a:r>
            <a:r>
              <a:rPr lang="zh-CN" altLang="en-US" dirty="0"/>
              <a:t>第一行是</a:t>
            </a:r>
            <a:r>
              <a:rPr lang="en-GB" altLang="zh-CN" dirty="0"/>
              <a:t>oracle</a:t>
            </a:r>
            <a:r>
              <a:rPr lang="zh-CN" altLang="en-US" dirty="0"/>
              <a:t>版本，所有组件都用标准答案，达到</a:t>
            </a:r>
            <a:r>
              <a:rPr lang="en-US" altLang="zh-CN" dirty="0"/>
              <a:t>100%</a:t>
            </a:r>
            <a:r>
              <a:rPr lang="zh-CN" altLang="en-US" dirty="0"/>
              <a:t>准确率。这证明了任务设计是合理的，理论上完全可解。</a:t>
            </a:r>
            <a:r>
              <a:rPr lang="en-US" altLang="zh-CN" dirty="0"/>
              <a:t>"</a:t>
            </a:r>
          </a:p>
          <a:p>
            <a:r>
              <a:rPr lang="zh-CN" altLang="en-US" b="1" dirty="0"/>
              <a:t>核心瓶颈识别：</a:t>
            </a:r>
            <a:r>
              <a:rPr lang="zh-CN" altLang="en-US" dirty="0"/>
              <a:t> </a:t>
            </a:r>
            <a:r>
              <a:rPr lang="en-US" altLang="zh-CN" dirty="0"/>
              <a:t>"</a:t>
            </a:r>
            <a:r>
              <a:rPr lang="zh-CN" altLang="en-US" dirty="0"/>
              <a:t>关键发现在第二行：去掉完美超图后，性能骤降到</a:t>
            </a:r>
            <a:r>
              <a:rPr lang="en-US" altLang="zh-CN" dirty="0"/>
              <a:t>43%</a:t>
            </a:r>
            <a:r>
              <a:rPr lang="zh-CN" altLang="en-US" dirty="0"/>
              <a:t>左右。这意味着从视频到结构化表示的转换是最大的难点，损失了</a:t>
            </a:r>
            <a:r>
              <a:rPr lang="en-US" altLang="zh-CN" dirty="0"/>
              <a:t>57%</a:t>
            </a:r>
            <a:r>
              <a:rPr lang="zh-CN" altLang="en-US" dirty="0"/>
              <a:t>的性能。</a:t>
            </a:r>
            <a:r>
              <a:rPr lang="en-US" altLang="zh-CN" dirty="0"/>
              <a:t>"</a:t>
            </a:r>
          </a:p>
          <a:p>
            <a:r>
              <a:rPr lang="zh-CN" altLang="en-US" b="1" dirty="0"/>
              <a:t>视觉感知的重要性：</a:t>
            </a:r>
            <a:r>
              <a:rPr lang="zh-CN" altLang="en-US" dirty="0"/>
              <a:t> </a:t>
            </a:r>
            <a:r>
              <a:rPr lang="en-US" altLang="zh-CN" dirty="0"/>
              <a:t>"</a:t>
            </a:r>
            <a:r>
              <a:rPr lang="zh-CN" altLang="en-US" dirty="0"/>
              <a:t>对比第三、四行可以看出视觉感知的层次影响：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只去掉关系检测，还能保持</a:t>
            </a:r>
            <a:r>
              <a:rPr lang="en-US" altLang="zh-CN" dirty="0"/>
              <a:t>38%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连物体检测也去掉，就降到</a:t>
            </a:r>
            <a:r>
              <a:rPr lang="en-US" altLang="zh-CN" dirty="0"/>
              <a:t>30% </a:t>
            </a:r>
            <a:r>
              <a:rPr lang="zh-CN" altLang="en-US" dirty="0"/>
              <a:t>说明真实场景中的视觉理解仍然很有挑战性。</a:t>
            </a:r>
            <a:r>
              <a:rPr lang="en-US" altLang="zh-CN" dirty="0"/>
              <a:t>"</a:t>
            </a:r>
          </a:p>
          <a:p>
            <a:r>
              <a:rPr lang="zh-CN" altLang="en-US" b="1" dirty="0"/>
              <a:t>语言不是问题：</a:t>
            </a:r>
            <a:r>
              <a:rPr lang="zh-CN" altLang="en-US" dirty="0"/>
              <a:t> </a:t>
            </a:r>
            <a:r>
              <a:rPr lang="en-US" altLang="zh-CN" dirty="0"/>
              <a:t>"</a:t>
            </a:r>
            <a:r>
              <a:rPr lang="zh-CN" altLang="en-US" dirty="0"/>
              <a:t>第五行很有趣：去掉完美语言理解几乎没有影响，</a:t>
            </a:r>
            <a:r>
              <a:rPr lang="en-US" altLang="zh-CN" dirty="0"/>
              <a:t>99.98%</a:t>
            </a:r>
            <a:r>
              <a:rPr lang="zh-CN" altLang="en-US" dirty="0"/>
              <a:t>。这符合</a:t>
            </a:r>
            <a:r>
              <a:rPr lang="en-GB" altLang="zh-CN" dirty="0"/>
              <a:t>STAR</a:t>
            </a:r>
            <a:r>
              <a:rPr lang="zh-CN" altLang="en-US" dirty="0"/>
              <a:t>的设计思路</a:t>
            </a:r>
            <a:r>
              <a:rPr lang="en-US" altLang="zh-CN" dirty="0"/>
              <a:t>——</a:t>
            </a:r>
            <a:r>
              <a:rPr lang="zh-CN" altLang="en-US" dirty="0"/>
              <a:t>简化语言复杂度，专注于视觉推理挑战。</a:t>
            </a:r>
            <a:r>
              <a:rPr lang="en-US" altLang="zh-CN" dirty="0"/>
              <a:t>"</a:t>
            </a:r>
          </a:p>
          <a:p>
            <a:r>
              <a:rPr lang="zh-CN" altLang="en-US" b="1" dirty="0"/>
              <a:t>现实条件下的表现：</a:t>
            </a:r>
            <a:r>
              <a:rPr lang="zh-CN" altLang="en-US" dirty="0"/>
              <a:t> </a:t>
            </a:r>
            <a:r>
              <a:rPr lang="en-US" altLang="zh-CN" dirty="0"/>
              <a:t>"</a:t>
            </a:r>
            <a:r>
              <a:rPr lang="zh-CN" altLang="en-US" dirty="0"/>
              <a:t>最后一行是完全真实的条件，</a:t>
            </a:r>
            <a:r>
              <a:rPr lang="en-US" altLang="zh-CN" dirty="0"/>
              <a:t>30%</a:t>
            </a:r>
            <a:r>
              <a:rPr lang="zh-CN" altLang="en-US" dirty="0"/>
              <a:t>左右，基本跟最好的</a:t>
            </a:r>
            <a:r>
              <a:rPr lang="en-GB" altLang="zh-CN" dirty="0"/>
              <a:t>baseline</a:t>
            </a:r>
            <a:r>
              <a:rPr lang="zh-CN" altLang="en-US" dirty="0"/>
              <a:t>持平。</a:t>
            </a:r>
            <a:r>
              <a:rPr lang="en-US" altLang="zh-CN" dirty="0"/>
              <a:t>"</a:t>
            </a:r>
          </a:p>
          <a:p>
            <a:r>
              <a:rPr lang="zh-CN" altLang="en-US" b="1" dirty="0"/>
              <a:t>诊断结论：</a:t>
            </a:r>
            <a:r>
              <a:rPr lang="zh-CN" altLang="en-US" dirty="0"/>
              <a:t> </a:t>
            </a:r>
            <a:r>
              <a:rPr lang="en-US" altLang="zh-CN" dirty="0"/>
              <a:t>"</a:t>
            </a:r>
            <a:r>
              <a:rPr lang="zh-CN" altLang="en-US" dirty="0"/>
              <a:t>这个表格清楚地告诉我们：情境抽象能力是当前</a:t>
            </a:r>
            <a:r>
              <a:rPr lang="en-GB" altLang="zh-CN" dirty="0"/>
              <a:t>AI</a:t>
            </a:r>
            <a:r>
              <a:rPr lang="zh-CN" altLang="en-US" dirty="0"/>
              <a:t>在</a:t>
            </a:r>
            <a:r>
              <a:rPr lang="en-GB" altLang="zh-CN" dirty="0"/>
              <a:t>situated reasoning</a:t>
            </a:r>
            <a:r>
              <a:rPr lang="zh-CN" altLang="en-US" dirty="0"/>
              <a:t>上的最大短板。如何有效地将动态视频转换为结构化知识表示，这是未来研究的关键方向。</a:t>
            </a:r>
            <a:r>
              <a:rPr lang="en-US" altLang="zh-CN" dirty="0"/>
              <a:t>"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B0F0EA-C8D5-5714-ADCA-81C74AEAC4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ACBED-D150-446B-8DD3-8D2427C9799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04419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3F1B49-ED87-E58C-6BF3-C4A995623F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09D47DC-84E1-BFE5-6FDA-8B39C2E854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B6A695-4957-653B-90F6-C39974672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219E-4E2F-4EDE-9F6F-BA03EAE93585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E5D043-F678-CE05-0C72-79072B490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BE6A0A-D69F-199B-4921-80D418981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72E3-C90E-40DC-937F-4A200CFE7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533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55A58B-6391-3669-E785-F49670284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790769-86D7-9715-305C-4AEF5B867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8BE63A-4BD1-372C-9456-33BC134C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219E-4E2F-4EDE-9F6F-BA03EAE93585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E87CA5-9680-EC2A-5086-846B2F011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43713A-B346-F359-C2C7-042B9FC25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72E3-C90E-40DC-937F-4A200CFE7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614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36E2C0-2929-BAAE-AA4C-BA3DC80B2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02965A-133D-9A53-EE04-D43FC6C417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524D09-496D-EA7E-0BA1-22265483C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219E-4E2F-4EDE-9F6F-BA03EAE93585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165EF3-74DB-7AC0-0A54-57689DB95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3A9B35-6000-864A-6F38-10668C16C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72E3-C90E-40DC-937F-4A200CFE7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2648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33B7E7-2C81-DFDB-5B08-2BBE1189C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5EEEE5-73B9-E4A0-B8E3-AABADDEF38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2DBBBEC-76B8-4830-A508-1812E6673C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22A09E-A5FD-5F76-5621-FF13DA9D7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219E-4E2F-4EDE-9F6F-BA03EAE93585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1F620B-A4F8-8EEF-D030-C8556835C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CFD1B4-7B43-3D95-28AC-A7110262F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72E3-C90E-40DC-937F-4A200CFE7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5093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7384D1-287C-61F0-68A2-5CA5BA207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859991-DA92-A072-54DD-84FFAD03D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CB8E278-6480-FE64-C1AE-0D9AF04AA1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01AA2C2-B4FC-BC5F-927D-59DD712CE3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27B7ADC-E8AD-6595-AC3B-4CC589B9D0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2DC986D-1275-3060-107B-B82FDFC84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219E-4E2F-4EDE-9F6F-BA03EAE93585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8BFBE38-1E80-901B-1359-9C8651A55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4CA1ACE-C135-A848-1228-3498A3196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72E3-C90E-40DC-937F-4A200CFE7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918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2915E2-6B5D-7EE3-29A5-DB4DB21AB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76AAC36-CEA3-C1A7-645C-F4CCB2439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219E-4E2F-4EDE-9F6F-BA03EAE93585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DA13DDB-3E3B-F07C-4B9E-7545A6A96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CC4F073-88F8-8482-E00C-8887B186E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72E3-C90E-40DC-937F-4A200CFE7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681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0EE04A1-AF73-0F6F-4837-D676B8FC8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219E-4E2F-4EDE-9F6F-BA03EAE93585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10A292B-FD4F-3650-0A4D-468CBE7F1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22E59A-6BCA-922A-FAC8-33DA2C566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72E3-C90E-40DC-937F-4A200CFE7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1336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6C2593-DF50-E36A-A024-04B2D1B36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F9F3D7-1E5E-FECC-9774-C7C61B1B2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2065CB4-3B65-7A04-B435-3441D011BC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CAD35EF-7C75-329F-2DFA-642AA244B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219E-4E2F-4EDE-9F6F-BA03EAE93585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1C8B46-99E8-E8A2-2CA9-22287D27F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D1E8B2-2550-D3FC-2F16-FF078EA85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72E3-C90E-40DC-937F-4A200CFE7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1904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3E16C9-CD0C-CDC1-1B34-454E1CC20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5740A2F-CA2D-0369-EEA3-69DD9C2747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1E8B25C-10B8-8496-5043-30C1BA64AE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AEDCA45-07BC-9270-DE68-5B6473525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219E-4E2F-4EDE-9F6F-BA03EAE93585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80B3CA1-75FC-9827-5524-BDA0BF3A7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508EA56-B204-6395-68B0-668CC0CD5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72E3-C90E-40DC-937F-4A200CFE7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2972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FC3F43-2EAE-C230-9F24-5585B589F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84D95B0-2CD0-EDF9-7EAC-1B9411F250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15ED93-41DC-7D33-3C07-32580E209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219E-4E2F-4EDE-9F6F-BA03EAE93585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7B5D9E-9096-6636-D7E0-B66118260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8F4210-B092-18C4-2809-AE278944F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72E3-C90E-40DC-937F-4A200CFE7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8181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8763702-FBD7-F8C2-A496-686EFC06C3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12804D7-843C-5E70-78E1-3725235FF4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BD3E07-9C8E-2EDA-99C1-FC475F8FB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219E-4E2F-4EDE-9F6F-BA03EAE93585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B97457-AF4E-8CC2-905A-2D1A648D5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FDA8BC-68C8-359F-9A76-7ECE6100C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72E3-C90E-40DC-937F-4A200CFE7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8093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27BAB3E-0FD3-B3D1-276C-29922A05B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2CF1F7D-3E33-E9C9-7AEF-8277DA554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6E7EBF-42AA-8E8F-63A7-48BBB179CD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BB219E-4E2F-4EDE-9F6F-BA03EAE93585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528577-5564-5143-6C46-998E8444AF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BC0C32-9C9A-9269-22FA-F2C07BEFBC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A572E3-C90E-40DC-937F-4A200CFE7F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7732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94C6E55-8DA4-DB72-228D-2012DB79FF91}"/>
              </a:ext>
            </a:extLst>
          </p:cNvPr>
          <p:cNvSpPr txBox="1"/>
          <p:nvPr/>
        </p:nvSpPr>
        <p:spPr>
          <a:xfrm>
            <a:off x="2044390" y="1852235"/>
            <a:ext cx="831137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/>
              <a:t>STAR: A Benchmark for Situated Reasoning</a:t>
            </a:r>
          </a:p>
          <a:p>
            <a:pPr algn="ctr"/>
            <a:r>
              <a:rPr lang="en-US" altLang="zh-CN" sz="2800" b="1" dirty="0"/>
              <a:t>in Real-World Videos</a:t>
            </a:r>
          </a:p>
          <a:p>
            <a:pPr algn="ctr"/>
            <a:r>
              <a:rPr lang="en-US" altLang="zh-CN" sz="2800" b="1" dirty="0"/>
              <a:t>(NeurIPS 2021)</a:t>
            </a:r>
            <a:endParaRPr lang="zh-CN" altLang="en-US" sz="28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2B91AFA-5C93-22A9-DC41-899EBE64A660}"/>
              </a:ext>
            </a:extLst>
          </p:cNvPr>
          <p:cNvSpPr txBox="1"/>
          <p:nvPr/>
        </p:nvSpPr>
        <p:spPr>
          <a:xfrm>
            <a:off x="1940311" y="3846444"/>
            <a:ext cx="83113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zh-CN" sz="2400" b="1" dirty="0"/>
              <a:t>STAR</a:t>
            </a:r>
            <a:r>
              <a:rPr lang="zh-CN" altLang="en-GB" sz="2400" b="1" dirty="0"/>
              <a:t>：</a:t>
            </a:r>
            <a:r>
              <a:rPr lang="zh-CN" altLang="en-US" sz="2400" b="1" dirty="0"/>
              <a:t>现实世界视频情境推理基准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4909FC5-EB1D-D260-F3FB-CA9BA8C50854}"/>
              </a:ext>
            </a:extLst>
          </p:cNvPr>
          <p:cNvSpPr txBox="1"/>
          <p:nvPr/>
        </p:nvSpPr>
        <p:spPr>
          <a:xfrm>
            <a:off x="10080703" y="6177775"/>
            <a:ext cx="2326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2025.9.25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875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771CC-1B64-86C9-19E2-1A23139A9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3D4F882-89E5-AD75-6FC2-B2C655B8B98C}"/>
              </a:ext>
            </a:extLst>
          </p:cNvPr>
          <p:cNvSpPr txBox="1"/>
          <p:nvPr/>
        </p:nvSpPr>
        <p:spPr>
          <a:xfrm>
            <a:off x="541593" y="2383427"/>
            <a:ext cx="111088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当前视频理解模型主要依赖</a:t>
            </a:r>
            <a:r>
              <a:rPr lang="zh-CN" altLang="en-US" sz="2400" b="1" dirty="0"/>
              <a:t>相关性匹配</a:t>
            </a:r>
            <a:r>
              <a:rPr lang="zh-CN" altLang="en-US" sz="2400" dirty="0"/>
              <a:t>而非</a:t>
            </a:r>
            <a:r>
              <a:rPr lang="zh-CN" altLang="en-US" sz="2400" b="1" dirty="0"/>
              <a:t>逻辑推理</a:t>
            </a:r>
            <a:r>
              <a:rPr lang="en-US" altLang="zh-CN" sz="2400" b="1" dirty="0"/>
              <a:t>,</a:t>
            </a:r>
            <a:r>
              <a:rPr lang="zh-CN" altLang="en-US" sz="2400" b="1" dirty="0"/>
              <a:t>根据训练数据进行关键词匹配而</a:t>
            </a:r>
            <a:r>
              <a:rPr lang="zh-CN" altLang="en-US" sz="2400" dirty="0"/>
              <a:t>缺乏对动态情境的</a:t>
            </a:r>
            <a:r>
              <a:rPr lang="zh-CN" altLang="en-US" sz="2400" b="1" dirty="0"/>
              <a:t>结构化理解</a:t>
            </a:r>
            <a:r>
              <a:rPr lang="zh-CN" altLang="en-US" sz="2400" dirty="0"/>
              <a:t>和</a:t>
            </a:r>
            <a:r>
              <a:rPr lang="zh-CN" altLang="en-US" sz="2400" b="1" dirty="0"/>
              <a:t>推理能力</a:t>
            </a:r>
            <a:endParaRPr lang="en-US" altLang="zh-CN" sz="24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A4E337A-52D2-87C7-2BE9-2DFDCD9370A3}"/>
              </a:ext>
            </a:extLst>
          </p:cNvPr>
          <p:cNvSpPr txBox="1"/>
          <p:nvPr/>
        </p:nvSpPr>
        <p:spPr>
          <a:xfrm>
            <a:off x="1940311" y="5723129"/>
            <a:ext cx="83113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如何让</a:t>
            </a:r>
            <a:r>
              <a:rPr lang="en-GB" altLang="zh-CN" sz="2400" dirty="0"/>
              <a:t>AI</a:t>
            </a:r>
            <a:r>
              <a:rPr lang="zh-CN" altLang="en-US" sz="2400" dirty="0"/>
              <a:t>真正</a:t>
            </a:r>
            <a:r>
              <a:rPr lang="en-US" altLang="zh-CN" sz="2400" dirty="0"/>
              <a:t>"</a:t>
            </a:r>
            <a:r>
              <a:rPr lang="zh-CN" altLang="en-US" sz="2400" dirty="0"/>
              <a:t>理解</a:t>
            </a:r>
            <a:r>
              <a:rPr lang="en-US" altLang="zh-CN" sz="2400" dirty="0"/>
              <a:t>"</a:t>
            </a:r>
            <a:r>
              <a:rPr lang="zh-CN" altLang="en-US" sz="2400" b="1" dirty="0"/>
              <a:t>动态情境</a:t>
            </a:r>
            <a:r>
              <a:rPr lang="zh-CN" altLang="en-US" sz="2400" dirty="0"/>
              <a:t>而不是简单匹配？如何区分</a:t>
            </a:r>
            <a:r>
              <a:rPr lang="en-US" altLang="zh-CN" sz="2400" dirty="0"/>
              <a:t>"</a:t>
            </a:r>
            <a:r>
              <a:rPr lang="zh-CN" altLang="en-US" sz="2400" dirty="0"/>
              <a:t>看图说话</a:t>
            </a:r>
            <a:r>
              <a:rPr lang="en-US" altLang="zh-CN" sz="2400" dirty="0"/>
              <a:t>"</a:t>
            </a:r>
            <a:r>
              <a:rPr lang="zh-CN" altLang="en-US" sz="2400" dirty="0"/>
              <a:t>和</a:t>
            </a:r>
            <a:r>
              <a:rPr lang="en-US" altLang="zh-CN" sz="2400" dirty="0"/>
              <a:t>"</a:t>
            </a:r>
            <a:r>
              <a:rPr lang="zh-CN" altLang="en-US" sz="2400" dirty="0"/>
              <a:t>逻辑推理</a:t>
            </a:r>
            <a:r>
              <a:rPr lang="en-US" altLang="zh-CN" sz="2400" dirty="0"/>
              <a:t>"</a:t>
            </a:r>
            <a:r>
              <a:rPr lang="zh-CN" altLang="en-US" sz="2400" dirty="0"/>
              <a:t>？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5AAE7F4F-F5A8-D0C3-EB7E-5788F4198276}"/>
              </a:ext>
            </a:extLst>
          </p:cNvPr>
          <p:cNvSpPr/>
          <p:nvPr/>
        </p:nvSpPr>
        <p:spPr>
          <a:xfrm>
            <a:off x="5328705" y="1757773"/>
            <a:ext cx="1534590" cy="51205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背景动机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CDBC6400-FE97-9503-6A77-687701B0C646}"/>
              </a:ext>
            </a:extLst>
          </p:cNvPr>
          <p:cNvSpPr/>
          <p:nvPr/>
        </p:nvSpPr>
        <p:spPr>
          <a:xfrm>
            <a:off x="5528518" y="5059985"/>
            <a:ext cx="1134963" cy="54568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目的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1B92A1E-5EC8-0104-3615-4CF42DCBD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331"/>
            <a:ext cx="12192000" cy="151774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92197C9-61E5-94F6-222B-07C5628136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0304" y="3248904"/>
            <a:ext cx="813410" cy="76203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710AEA73-AAD7-067B-92C2-24F4D34B40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0791" y="3214423"/>
            <a:ext cx="716357" cy="73184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F2AC0ADD-4DD0-A665-4AB5-8674BC0258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4621336" y="3314924"/>
            <a:ext cx="417372" cy="641868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B3C1C7CC-A32C-F24B-1F1E-32E460F3CD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00154" y="4022811"/>
            <a:ext cx="859734" cy="762037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E26C5B2D-78FA-47C1-F6CC-DD5735C648B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9887" y="4058027"/>
            <a:ext cx="537261" cy="417191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FF5FED93-15F8-50D5-73C0-482E85170E6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11738" y="3858212"/>
            <a:ext cx="1074292" cy="1039213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5F0C23ED-C304-A5B5-A733-1E621F16609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08820" y="4011150"/>
            <a:ext cx="577831" cy="477735"/>
          </a:xfrm>
          <a:prstGeom prst="rect">
            <a:avLst/>
          </a:prstGeom>
        </p:spPr>
      </p:pic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59D867AD-2C39-A025-3D7C-7EACC008CA7C}"/>
              </a:ext>
            </a:extLst>
          </p:cNvPr>
          <p:cNvCxnSpPr>
            <a:stCxn id="4" idx="2"/>
          </p:cNvCxnSpPr>
          <p:nvPr/>
        </p:nvCxnSpPr>
        <p:spPr>
          <a:xfrm flipH="1">
            <a:off x="6095999" y="3214424"/>
            <a:ext cx="1" cy="172863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1017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4B96A51-09D2-CF0A-BACF-43BFADE18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192" y="238538"/>
            <a:ext cx="10986688" cy="6186414"/>
          </a:xfrm>
          <a:prstGeom prst="rect">
            <a:avLst/>
          </a:prstGeom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DA1E37C-FC8D-2D77-2324-98084E003C0E}"/>
              </a:ext>
            </a:extLst>
          </p:cNvPr>
          <p:cNvSpPr/>
          <p:nvPr/>
        </p:nvSpPr>
        <p:spPr>
          <a:xfrm>
            <a:off x="5093336" y="86138"/>
            <a:ext cx="2005327" cy="30480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超图表示法</a:t>
            </a:r>
          </a:p>
        </p:txBody>
      </p:sp>
    </p:spTree>
    <p:extLst>
      <p:ext uri="{BB962C8B-B14F-4D97-AF65-F5344CB8AC3E}">
        <p14:creationId xmlns:p14="http://schemas.microsoft.com/office/powerpoint/2010/main" val="3193958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2DF08-9CE4-949F-8FD7-833408647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>
            <a:extLst>
              <a:ext uri="{FF2B5EF4-FFF2-40B4-BE49-F238E27FC236}">
                <a16:creationId xmlns:a16="http://schemas.microsoft.com/office/drawing/2014/main" id="{07376819-8392-C1E0-B03C-47BE3D052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300" y="344505"/>
            <a:ext cx="11098697" cy="4250565"/>
          </a:xfrm>
          <a:prstGeom prst="rect">
            <a:avLst/>
          </a:prstGeom>
        </p:spPr>
      </p:pic>
      <p:sp>
        <p:nvSpPr>
          <p:cNvPr id="4" name="矩形: 圆角 3">
            <a:extLst>
              <a:ext uri="{FF2B5EF4-FFF2-40B4-BE49-F238E27FC236}">
                <a16:creationId xmlns:a16="http://schemas.microsoft.com/office/drawing/2014/main" id="{9599747F-1831-9AE9-4553-C7674601BDBC}"/>
              </a:ext>
            </a:extLst>
          </p:cNvPr>
          <p:cNvSpPr/>
          <p:nvPr/>
        </p:nvSpPr>
        <p:spPr>
          <a:xfrm>
            <a:off x="5251174" y="112592"/>
            <a:ext cx="2020955" cy="46382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把视频转换成超图</a:t>
            </a:r>
            <a:endParaRPr lang="en-US" altLang="zh-CN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5E3EFD30-C4B0-D0DD-1182-67ED80A28877}"/>
              </a:ext>
            </a:extLst>
          </p:cNvPr>
          <p:cNvSpPr/>
          <p:nvPr/>
        </p:nvSpPr>
        <p:spPr>
          <a:xfrm>
            <a:off x="854767" y="4565249"/>
            <a:ext cx="1537250" cy="46382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预处理和分割</a:t>
            </a:r>
            <a:endParaRPr lang="en-US" altLang="zh-CN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C2E7A7D6-D2DE-5C4C-43DE-E226F57C8B54}"/>
              </a:ext>
            </a:extLst>
          </p:cNvPr>
          <p:cNvSpPr/>
          <p:nvPr/>
        </p:nvSpPr>
        <p:spPr>
          <a:xfrm>
            <a:off x="3014870" y="4565249"/>
            <a:ext cx="1537250" cy="46382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实体检测</a:t>
            </a:r>
            <a:endParaRPr lang="en-US" altLang="zh-CN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E714273-C727-5CF7-C9D4-29C6BD834904}"/>
              </a:ext>
            </a:extLst>
          </p:cNvPr>
          <p:cNvSpPr/>
          <p:nvPr/>
        </p:nvSpPr>
        <p:spPr>
          <a:xfrm>
            <a:off x="5372101" y="4565249"/>
            <a:ext cx="1537250" cy="46382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关系抽取</a:t>
            </a:r>
            <a:endParaRPr lang="en-US" altLang="zh-CN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E682070-CB67-7250-B453-A49FF02B91D1}"/>
              </a:ext>
            </a:extLst>
          </p:cNvPr>
          <p:cNvSpPr/>
          <p:nvPr/>
        </p:nvSpPr>
        <p:spPr>
          <a:xfrm>
            <a:off x="7745894" y="4565249"/>
            <a:ext cx="1537250" cy="46382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构建超边</a:t>
            </a:r>
            <a:endParaRPr lang="en-US" altLang="zh-CN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2185F8F-3851-96BF-2CE6-AA161570E853}"/>
              </a:ext>
            </a:extLst>
          </p:cNvPr>
          <p:cNvSpPr/>
          <p:nvPr/>
        </p:nvSpPr>
        <p:spPr>
          <a:xfrm>
            <a:off x="10197547" y="4565249"/>
            <a:ext cx="1537250" cy="46382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时序连接</a:t>
            </a:r>
            <a:endParaRPr lang="en-US" altLang="zh-CN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A64FAC4-2D7E-966F-4272-834AAAF7FFCD}"/>
              </a:ext>
            </a:extLst>
          </p:cNvPr>
          <p:cNvSpPr/>
          <p:nvPr/>
        </p:nvSpPr>
        <p:spPr>
          <a:xfrm>
            <a:off x="112645" y="5244544"/>
            <a:ext cx="3021494" cy="155712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动作分割：</a:t>
            </a:r>
            <a:endParaRPr lang="en-US" altLang="zh-CN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zh-CN" alt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片段</a:t>
            </a:r>
            <a:r>
              <a:rPr lang="en-US" altLang="zh-CN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zh-CN" alt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：人走向桌子 </a:t>
            </a:r>
            <a:r>
              <a:rPr lang="en-US" altLang="zh-CN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(0-3</a:t>
            </a:r>
            <a:r>
              <a:rPr lang="zh-CN" alt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秒</a:t>
            </a:r>
            <a:r>
              <a:rPr lang="en-US" altLang="zh-CN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</a:p>
          <a:p>
            <a:pPr algn="ctr"/>
            <a:r>
              <a:rPr lang="zh-CN" alt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片段</a:t>
            </a:r>
            <a:r>
              <a:rPr lang="en-US" altLang="zh-CN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r>
              <a:rPr lang="zh-CN" alt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：人拿起瓶子 </a:t>
            </a:r>
            <a:r>
              <a:rPr lang="en-US" altLang="zh-CN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(3-5</a:t>
            </a:r>
            <a:r>
              <a:rPr lang="zh-CN" alt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秒</a:t>
            </a:r>
            <a:r>
              <a:rPr lang="en-US" altLang="zh-CN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</a:p>
          <a:p>
            <a:pPr algn="ctr"/>
            <a:r>
              <a:rPr lang="zh-CN" alt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片段</a:t>
            </a:r>
            <a:r>
              <a:rPr lang="en-US" altLang="zh-CN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r>
              <a:rPr lang="zh-CN" alt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：人喝水 </a:t>
            </a:r>
            <a:r>
              <a:rPr lang="en-US" altLang="zh-CN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(5-8</a:t>
            </a:r>
            <a:r>
              <a:rPr lang="zh-CN" alt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秒</a:t>
            </a:r>
            <a:r>
              <a:rPr lang="en-US" altLang="zh-CN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</a:p>
          <a:p>
            <a:pPr algn="ctr"/>
            <a:r>
              <a:rPr lang="zh-CN" alt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片段</a:t>
            </a:r>
            <a:r>
              <a:rPr lang="en-US" altLang="zh-CN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r>
              <a:rPr lang="zh-CN" alt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：人放下瓶子 </a:t>
            </a:r>
            <a:r>
              <a:rPr lang="en-US" altLang="zh-CN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(8-10</a:t>
            </a:r>
            <a:r>
              <a:rPr lang="zh-CN" alt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秒</a:t>
            </a:r>
            <a:r>
              <a:rPr lang="en-US" altLang="zh-CN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)"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4C7CAEC-2C74-1C43-76FD-1DD309ADF8E5}"/>
              </a:ext>
            </a:extLst>
          </p:cNvPr>
          <p:cNvSpPr/>
          <p:nvPr/>
        </p:nvSpPr>
        <p:spPr>
          <a:xfrm>
            <a:off x="4793974" y="5290928"/>
            <a:ext cx="2693504" cy="88127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人</a:t>
            </a:r>
            <a:r>
              <a:rPr lang="en-US" altLang="zh-CN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</a:t>
            </a:r>
            <a:r>
              <a:rPr lang="zh-CN" alt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物关系：</a:t>
            </a:r>
            <a:r>
              <a:rPr lang="en-GB" altLang="zh-CN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holding</a:t>
            </a:r>
            <a:r>
              <a:rPr lang="zh-CN" alt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、</a:t>
            </a:r>
            <a:r>
              <a:rPr lang="en-GB" altLang="zh-CN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near</a:t>
            </a:r>
            <a:endParaRPr lang="en-US" altLang="zh-CN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zh-CN" alt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物</a:t>
            </a:r>
            <a:r>
              <a:rPr lang="en-US" altLang="zh-CN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</a:t>
            </a:r>
            <a:r>
              <a:rPr lang="zh-CN" alt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物关系：</a:t>
            </a:r>
            <a:r>
              <a:rPr lang="en-GB" altLang="zh-CN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on</a:t>
            </a:r>
            <a:r>
              <a:rPr lang="zh-CN" alt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、</a:t>
            </a:r>
            <a:r>
              <a:rPr lang="en-GB" altLang="zh-CN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next_to</a:t>
            </a:r>
            <a:endParaRPr lang="en-US" altLang="zh-CN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AD0558A-AEF5-E2D9-2381-B6A126C591B3}"/>
              </a:ext>
            </a:extLst>
          </p:cNvPr>
          <p:cNvSpPr/>
          <p:nvPr/>
        </p:nvSpPr>
        <p:spPr>
          <a:xfrm>
            <a:off x="7745894" y="5244544"/>
            <a:ext cx="1537250" cy="46382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人工判断各点的关系</a:t>
            </a:r>
            <a:endParaRPr lang="en-US" altLang="zh-CN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389A548-6E72-3933-D10B-35376F93D24C}"/>
              </a:ext>
            </a:extLst>
          </p:cNvPr>
          <p:cNvSpPr/>
          <p:nvPr/>
        </p:nvSpPr>
        <p:spPr>
          <a:xfrm>
            <a:off x="10031893" y="5171657"/>
            <a:ext cx="1868558" cy="69242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根据动作的</a:t>
            </a:r>
            <a:endParaRPr lang="en-US" altLang="zh-CN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altLang="zh-CN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start</a:t>
            </a:r>
            <a:r>
              <a:rPr lang="zh-CN" alt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，</a:t>
            </a:r>
            <a:r>
              <a:rPr lang="en-US" altLang="zh-CN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end</a:t>
            </a:r>
            <a:r>
              <a:rPr lang="zh-CN" alt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帧排序</a:t>
            </a:r>
            <a:endParaRPr lang="en-US" altLang="zh-CN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F1E3502D-7515-3159-5BCA-8E6E8CE011EE}"/>
              </a:ext>
            </a:extLst>
          </p:cNvPr>
          <p:cNvCxnSpPr>
            <a:cxnSpLocks/>
            <a:stCxn id="3" idx="2"/>
            <a:endCxn id="10" idx="0"/>
          </p:cNvCxnSpPr>
          <p:nvPr/>
        </p:nvCxnSpPr>
        <p:spPr>
          <a:xfrm>
            <a:off x="1623392" y="5029075"/>
            <a:ext cx="0" cy="2154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6D21E026-05D5-799C-3310-AC1FCD2A6CB0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>
            <a:off x="6140726" y="5029075"/>
            <a:ext cx="0" cy="2618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10FBA959-CF14-CCEB-BB08-35A680D01A8D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>
            <a:off x="8514519" y="5029075"/>
            <a:ext cx="0" cy="2154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0E143E6D-5008-124D-E63E-B9E3C7188E81}"/>
              </a:ext>
            </a:extLst>
          </p:cNvPr>
          <p:cNvCxnSpPr>
            <a:cxnSpLocks/>
            <a:stCxn id="8" idx="2"/>
            <a:endCxn id="13" idx="0"/>
          </p:cNvCxnSpPr>
          <p:nvPr/>
        </p:nvCxnSpPr>
        <p:spPr>
          <a:xfrm>
            <a:off x="10966172" y="5029075"/>
            <a:ext cx="0" cy="1425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B1F571D1-259D-DC01-4A5F-BE06FEA213F3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2392017" y="4797162"/>
            <a:ext cx="6228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2B92A8B2-D40E-5DC6-2E51-B77F5B9FA750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4552120" y="4797162"/>
            <a:ext cx="81998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60532B82-1384-54CB-0147-4BFE4E450070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9283144" y="4797162"/>
            <a:ext cx="9144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E3FA9A1F-9C21-E4B7-A351-0D8701D4E3CB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6909351" y="4797162"/>
            <a:ext cx="8365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544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88C39-9496-9A91-4C88-480133B68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>
            <a:extLst>
              <a:ext uri="{FF2B5EF4-FFF2-40B4-BE49-F238E27FC236}">
                <a16:creationId xmlns:a16="http://schemas.microsoft.com/office/drawing/2014/main" id="{8270B485-51DC-BEE2-7193-4502248C5E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300" y="344505"/>
            <a:ext cx="11098697" cy="4250565"/>
          </a:xfrm>
          <a:prstGeom prst="rect">
            <a:avLst/>
          </a:prstGeom>
        </p:spPr>
      </p:pic>
      <p:sp>
        <p:nvSpPr>
          <p:cNvPr id="4" name="矩形: 圆角 3">
            <a:extLst>
              <a:ext uri="{FF2B5EF4-FFF2-40B4-BE49-F238E27FC236}">
                <a16:creationId xmlns:a16="http://schemas.microsoft.com/office/drawing/2014/main" id="{E7545934-074B-5F3E-05BF-E4A8DBDBB0CD}"/>
              </a:ext>
            </a:extLst>
          </p:cNvPr>
          <p:cNvSpPr/>
          <p:nvPr/>
        </p:nvSpPr>
        <p:spPr>
          <a:xfrm>
            <a:off x="5251174" y="112592"/>
            <a:ext cx="2020955" cy="46382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把视频转换成超图</a:t>
            </a:r>
            <a:endParaRPr lang="en-US" altLang="zh-CN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13DFBED-C80A-81A4-7A93-C663AA52FC54}"/>
              </a:ext>
            </a:extLst>
          </p:cNvPr>
          <p:cNvSpPr txBox="1"/>
          <p:nvPr/>
        </p:nvSpPr>
        <p:spPr>
          <a:xfrm>
            <a:off x="3048000" y="492637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b="1" dirty="0"/>
              <a:t>STAR</a:t>
            </a:r>
            <a:r>
              <a:rPr lang="zh-CN" altLang="en-US" b="1" dirty="0"/>
              <a:t>依赖现有标注：</a:t>
            </a:r>
            <a:endParaRPr lang="zh-CN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基础视频来自</a:t>
            </a:r>
            <a:r>
              <a:rPr lang="en-GB" altLang="zh-CN" dirty="0"/>
              <a:t>Charades</a:t>
            </a:r>
            <a:r>
              <a:rPr lang="zh-CN" altLang="en-US" dirty="0"/>
              <a:t>数据集（已有动作标注）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人</a:t>
            </a:r>
            <a:r>
              <a:rPr lang="en-US" altLang="zh-CN" dirty="0"/>
              <a:t>-</a:t>
            </a:r>
            <a:r>
              <a:rPr lang="zh-CN" altLang="en-US" dirty="0"/>
              <a:t>物关系来自</a:t>
            </a:r>
            <a:r>
              <a:rPr lang="en-GB" altLang="zh-CN" dirty="0"/>
              <a:t>ActionGenome</a:t>
            </a:r>
            <a:r>
              <a:rPr lang="zh-CN" altLang="en-US" dirty="0"/>
              <a:t>数据集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物</a:t>
            </a:r>
            <a:r>
              <a:rPr lang="en-US" altLang="zh-CN" dirty="0"/>
              <a:t>-</a:t>
            </a:r>
            <a:r>
              <a:rPr lang="zh-CN" altLang="en-US" dirty="0"/>
              <a:t>物关系通过检测器自动生成后人工验证</a:t>
            </a:r>
          </a:p>
        </p:txBody>
      </p:sp>
    </p:spTree>
    <p:extLst>
      <p:ext uri="{BB962C8B-B14F-4D97-AF65-F5344CB8AC3E}">
        <p14:creationId xmlns:p14="http://schemas.microsoft.com/office/powerpoint/2010/main" val="746180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26296-49F1-148F-F745-19536761E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1296C55E-9D78-9B14-73B3-452E3E25CC7D}"/>
              </a:ext>
            </a:extLst>
          </p:cNvPr>
          <p:cNvSpPr/>
          <p:nvPr/>
        </p:nvSpPr>
        <p:spPr>
          <a:xfrm>
            <a:off x="185532" y="212035"/>
            <a:ext cx="3240155" cy="64935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问题生成：设计四种推理类型</a:t>
            </a:r>
            <a:endParaRPr lang="en-US" altLang="zh-CN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zh-CN" alt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程序化验证：确保逻辑正确性</a:t>
            </a:r>
            <a:r>
              <a:rPr lang="en-US" altLang="zh-CN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"</a:t>
            </a:r>
            <a:endParaRPr lang="zh-CN" altLang="en-US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F5C296F-77F1-A744-1F48-F042DEEF67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5175"/>
            <a:ext cx="12192000" cy="2560555"/>
          </a:xfrm>
          <a:prstGeom prst="rect">
            <a:avLst/>
          </a:prstGeom>
        </p:spPr>
      </p:pic>
      <p:sp>
        <p:nvSpPr>
          <p:cNvPr id="9" name="矩形: 圆角 8">
            <a:extLst>
              <a:ext uri="{FF2B5EF4-FFF2-40B4-BE49-F238E27FC236}">
                <a16:creationId xmlns:a16="http://schemas.microsoft.com/office/drawing/2014/main" id="{ACD1F6D6-DD6C-1E7A-41C5-9B9675D1DAB3}"/>
              </a:ext>
            </a:extLst>
          </p:cNvPr>
          <p:cNvSpPr/>
          <p:nvPr/>
        </p:nvSpPr>
        <p:spPr>
          <a:xfrm>
            <a:off x="655985" y="4386345"/>
            <a:ext cx="2020958" cy="56996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Interaction</a:t>
            </a:r>
            <a:r>
              <a:rPr lang="zh-CN" altLang="en-GB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（</a:t>
            </a:r>
            <a:r>
              <a:rPr lang="zh-CN" alt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交互）</a:t>
            </a:r>
            <a:endParaRPr lang="en-US" altLang="zh-CN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55DE76E-74BD-0EF7-5DDD-489F1BA32385}"/>
              </a:ext>
            </a:extLst>
          </p:cNvPr>
          <p:cNvSpPr/>
          <p:nvPr/>
        </p:nvSpPr>
        <p:spPr>
          <a:xfrm>
            <a:off x="3659810" y="4386345"/>
            <a:ext cx="2020958" cy="56996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Sequence</a:t>
            </a:r>
            <a:r>
              <a:rPr lang="zh-CN" altLang="en-GB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（</a:t>
            </a:r>
            <a:r>
              <a:rPr lang="zh-CN" alt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序列）</a:t>
            </a:r>
            <a:endParaRPr lang="en-US" altLang="zh-CN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7875DB2-6660-3A63-128A-00254DD3ACD9}"/>
              </a:ext>
            </a:extLst>
          </p:cNvPr>
          <p:cNvSpPr/>
          <p:nvPr/>
        </p:nvSpPr>
        <p:spPr>
          <a:xfrm>
            <a:off x="6663635" y="4386345"/>
            <a:ext cx="2020958" cy="56996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Prediction</a:t>
            </a:r>
            <a:r>
              <a:rPr lang="zh-CN" altLang="en-GB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（</a:t>
            </a:r>
            <a:r>
              <a:rPr lang="zh-CN" alt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预测）</a:t>
            </a:r>
            <a:endParaRPr lang="en-US" altLang="zh-CN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225FA89-C8BA-825F-6DE2-CB594B7B2920}"/>
              </a:ext>
            </a:extLst>
          </p:cNvPr>
          <p:cNvSpPr/>
          <p:nvPr/>
        </p:nvSpPr>
        <p:spPr>
          <a:xfrm>
            <a:off x="9667460" y="4386345"/>
            <a:ext cx="2020958" cy="56996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Feasibility</a:t>
            </a:r>
            <a:r>
              <a:rPr lang="zh-CN" altLang="en-GB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（</a:t>
            </a:r>
            <a:r>
              <a:rPr lang="zh-CN" alt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可行性）</a:t>
            </a:r>
            <a:endParaRPr lang="en-US" altLang="zh-CN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38A3A37B-3BA4-2655-8B8B-3030611ABDEF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2676943" y="4671329"/>
            <a:ext cx="9828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4FBE8F50-4F91-BC7E-3134-1A9BF6CAA845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5680768" y="4671329"/>
            <a:ext cx="9828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47B474DC-DDC0-60C6-BD72-33FBE8C8CAA7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8684593" y="4671329"/>
            <a:ext cx="9828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4179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370D1-DE57-6DC0-875B-627351B2D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0B45BF0C-00E8-BBCD-361B-640C0103B7F9}"/>
              </a:ext>
            </a:extLst>
          </p:cNvPr>
          <p:cNvSpPr/>
          <p:nvPr/>
        </p:nvSpPr>
        <p:spPr>
          <a:xfrm>
            <a:off x="159027" y="198782"/>
            <a:ext cx="2776329" cy="43732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</a:t>
            </a:r>
            <a:r>
              <a:rPr lang="zh-CN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基线模型实验结果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D63A61B-28CA-B062-A67F-E9E566ABE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12" y="761998"/>
            <a:ext cx="11169306" cy="3765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304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E4F4F-2A6A-0BEC-ABF6-ADC713D0B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92031EDA-B50D-4610-4073-80FDF3A6814A}"/>
              </a:ext>
            </a:extLst>
          </p:cNvPr>
          <p:cNvSpPr/>
          <p:nvPr/>
        </p:nvSpPr>
        <p:spPr>
          <a:xfrm>
            <a:off x="159027" y="198782"/>
            <a:ext cx="2776329" cy="43732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NS-SR</a:t>
            </a:r>
            <a:r>
              <a:rPr lang="zh-CN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诊断实验结果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08A65BD-0E7D-A214-538B-607A2C8E80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99320"/>
            <a:ext cx="12192000" cy="2751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856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5D288-8779-BDD8-DEB2-25096095F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59B4060B-12A7-C363-AEA6-472CB1F76B2B}"/>
              </a:ext>
            </a:extLst>
          </p:cNvPr>
          <p:cNvSpPr/>
          <p:nvPr/>
        </p:nvSpPr>
        <p:spPr>
          <a:xfrm>
            <a:off x="159027" y="198782"/>
            <a:ext cx="2776329" cy="43732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借鉴意义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859446B-3C7C-5003-72FA-94554C55915C}"/>
              </a:ext>
            </a:extLst>
          </p:cNvPr>
          <p:cNvSpPr txBox="1"/>
          <p:nvPr/>
        </p:nvSpPr>
        <p:spPr>
          <a:xfrm>
            <a:off x="474133" y="991570"/>
            <a:ext cx="60960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2000" b="1" dirty="0"/>
              <a:t>STAR</a:t>
            </a:r>
            <a:r>
              <a:rPr lang="zh-CN" altLang="en-US" sz="2000" b="1" dirty="0"/>
              <a:t>的启发：</a:t>
            </a:r>
            <a:endParaRPr lang="zh-CN" alt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dirty="0"/>
              <a:t>不只做简单的视觉</a:t>
            </a:r>
            <a:r>
              <a:rPr lang="en-US" altLang="zh-CN" sz="2000" dirty="0"/>
              <a:t>-</a:t>
            </a:r>
            <a:r>
              <a:rPr lang="zh-CN" altLang="en-US" sz="2000" dirty="0"/>
              <a:t>文本匹配任务。需要定义具体</a:t>
            </a:r>
            <a:r>
              <a:rPr lang="zh-CN" altLang="en-US" sz="2000" b="1" dirty="0"/>
              <a:t>认知能力</a:t>
            </a:r>
            <a:r>
              <a:rPr lang="zh-CN" altLang="en-US" sz="2000" dirty="0"/>
              <a:t>（推理、预测、理解等）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dirty="0"/>
              <a:t>设计递增难度的任务类型</a:t>
            </a:r>
            <a:endParaRPr lang="en-US" altLang="zh-CN" sz="2000" dirty="0"/>
          </a:p>
          <a:p>
            <a:pPr>
              <a:buFont typeface="Arial" panose="020B0604020202020204" pitchFamily="34" charset="0"/>
              <a:buChar char="•"/>
            </a:pPr>
            <a:endParaRPr lang="en-US" altLang="zh-CN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dirty="0"/>
              <a:t>仅有原始视频是不够的，需要某种</a:t>
            </a:r>
            <a:r>
              <a:rPr lang="zh-CN" altLang="en-US" sz="2000" b="1" dirty="0"/>
              <a:t>结构化的中间表示</a:t>
            </a:r>
            <a:r>
              <a:rPr lang="zh-CN" altLang="en-US" sz="2000" dirty="0"/>
              <a:t>（也许是</a:t>
            </a:r>
            <a:r>
              <a:rPr lang="en-GB" altLang="zh-CN" sz="2000" dirty="0"/>
              <a:t>STAR</a:t>
            </a:r>
            <a:r>
              <a:rPr lang="zh-CN" altLang="en-US" sz="2000" dirty="0"/>
              <a:t>用超图）</a:t>
            </a:r>
            <a:endParaRPr lang="en-US" altLang="zh-CN" sz="2000" dirty="0"/>
          </a:p>
          <a:p>
            <a:pPr>
              <a:buFont typeface="Arial" panose="020B0604020202020204" pitchFamily="34" charset="0"/>
              <a:buChar char="•"/>
            </a:pPr>
            <a:endParaRPr lang="en-US" altLang="zh-CN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dirty="0"/>
              <a:t>程序化生成保证逻辑一致性</a:t>
            </a:r>
            <a:endParaRPr lang="en-US" altLang="zh-CN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dirty="0"/>
              <a:t>模板化设计保证语言一致性</a:t>
            </a:r>
            <a:endParaRPr lang="en-US" altLang="zh-CN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dirty="0"/>
              <a:t>严格的去偏处理</a:t>
            </a:r>
            <a:endParaRPr lang="en-US" altLang="zh-CN" sz="2000" dirty="0"/>
          </a:p>
          <a:p>
            <a:pPr>
              <a:buFont typeface="Arial" panose="020B0604020202020204" pitchFamily="34" charset="0"/>
              <a:buChar char="•"/>
            </a:pPr>
            <a:endParaRPr lang="en-US" altLang="zh-CN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dirty="0"/>
              <a:t>设计问题模板而不是随意标注确保问题</a:t>
            </a:r>
            <a:endParaRPr lang="en-US" altLang="zh-CN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dirty="0"/>
              <a:t>答案对的逻辑正确性</a:t>
            </a:r>
          </a:p>
        </p:txBody>
      </p:sp>
    </p:spTree>
    <p:extLst>
      <p:ext uri="{BB962C8B-B14F-4D97-AF65-F5344CB8AC3E}">
        <p14:creationId xmlns:p14="http://schemas.microsoft.com/office/powerpoint/2010/main" val="194916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630</TotalTime>
  <Words>3949</Words>
  <Application>Microsoft Office PowerPoint</Application>
  <PresentationFormat>宽屏</PresentationFormat>
  <Paragraphs>172</Paragraphs>
  <Slides>9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荣臻 王</dc:creator>
  <cp:lastModifiedBy>荣臻 王</cp:lastModifiedBy>
  <cp:revision>4</cp:revision>
  <dcterms:created xsi:type="dcterms:W3CDTF">2025-05-08T02:56:12Z</dcterms:created>
  <dcterms:modified xsi:type="dcterms:W3CDTF">2025-09-25T07:20:55Z</dcterms:modified>
</cp:coreProperties>
</file>