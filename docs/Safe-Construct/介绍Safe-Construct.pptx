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72" r:id="rId3"/>
    <p:sldId id="263" r:id="rId4"/>
    <p:sldId id="273" r:id="rId5"/>
    <p:sldId id="274" r:id="rId6"/>
    <p:sldId id="257" r:id="rId7"/>
    <p:sldId id="275" r:id="rId8"/>
    <p:sldId id="277" r:id="rId9"/>
    <p:sldId id="278" r:id="rId10"/>
    <p:sldId id="27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49" autoAdjust="0"/>
  </p:normalViewPr>
  <p:slideViewPr>
    <p:cSldViewPr snapToGrid="0">
      <p:cViewPr varScale="1">
        <p:scale>
          <a:sx n="89" d="100"/>
          <a:sy n="89" d="100"/>
        </p:scale>
        <p:origin x="4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90646-AADF-4862-98F6-4577E6F15E7A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CBED-D150-446B-8DD3-8D2427C97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9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01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C14E-9A41-47DE-539F-EFD63F1F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817B93-08FE-17FD-F9F9-3017019E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DC090F-7532-FC6F-F391-CBBFBAD56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81FA4-485A-99A3-E042-0AEF216FD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437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E432-3F2F-A6B8-DD63-C19B059C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D1CD6E-A0D3-F392-9C9D-A018D1527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924FDA-F235-2AE0-F1CB-DF924B260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D8947F-FBD9-4F2F-A8D2-7A7A04832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275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44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D177A-68C6-6BAB-230D-5E9686DD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38E6BE-F281-C031-910F-F14BD90CF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4A8633-84CB-0FE6-EFE5-8C93B89F4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5AA80F-2DB0-1D89-D1E1-72DF6F2E4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35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A916-C496-1985-3218-A6323F86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B6A660-4E38-DB8F-D064-B3D2A7086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220386-BA6B-9136-A847-110AF7B58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E63FA-EAB3-85EE-DE38-2CDBDF6D9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569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4F1D6-3B80-2F0D-EBB5-E5548810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A7CCFC-30CE-ABEC-BEF8-204379FCD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1C6B63-8843-D0EE-3D00-CA26ECDC2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CFE4E-C697-20BE-4757-2130BD9D6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479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259D-0A17-42DF-3D9A-323756F4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79DCE1-63C4-9B4A-C44B-821C2FAA6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F13951-7459-793F-067D-13472ABAB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FAE2C-0140-19F2-F5F4-C412DDEB3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22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F1B49-ED87-E58C-6BF3-C4A995623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9D47DC-84E1-BFE5-6FDA-8B39C2E85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6A695-4957-653B-90F6-C3997467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5D043-F678-CE05-0C72-79072B49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E6A0A-D69F-199B-4921-80D41898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A58B-6391-3669-E785-F4967028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790769-86D7-9715-305C-4AEF5B86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BE63A-4BD1-372C-9456-33BC134C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87CA5-9680-EC2A-5086-846B2F01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3713A-B346-F359-C2C7-042B9FC2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61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6E2C0-2929-BAAE-AA4C-BA3DC80B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2965A-133D-9A53-EE04-D43FC6C4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24D09-496D-EA7E-0BA1-22265483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65EF3-74DB-7AC0-0A54-57689DB9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A9B35-6000-864A-6F38-10668C16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4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3B7E7-2C81-DFDB-5B08-2BBE1189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EEEE5-73B9-E4A0-B8E3-AABADDEF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DBBBEC-76B8-4830-A508-1812E667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2A09E-A5FD-5F76-5621-FF13DA9D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F620B-A4F8-8EEF-D030-C8556835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CFD1B4-7B43-3D95-28AC-A7110262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9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384D1-287C-61F0-68A2-5CA5BA20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59991-DA92-A072-54DD-84FFAD03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B8E278-6480-FE64-C1AE-0D9AF04AA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1AA2C2-B4FC-BC5F-927D-59DD712CE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7B7ADC-E8AD-6595-AC3B-4CC589B9D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DC986D-1275-3060-107B-B82FDFC8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BFBE38-1E80-901B-1359-9C8651A5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A1ACE-C135-A848-1228-3498A319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91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915E2-6B5D-7EE3-29A5-DB4DB21A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AAC36-CEA3-C1A7-645C-F4CCB243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A13DDB-3E3B-F07C-4B9E-7545A6A9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C4F073-88F8-8482-E00C-8887B186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68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EE04A1-AF73-0F6F-4837-D676B8FC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0A292B-FD4F-3650-0A4D-468CBE7F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2E59A-6BCA-922A-FAC8-33DA2C56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C2593-DF50-E36A-A024-04B2D1B3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9F3D7-1E5E-FECC-9774-C7C61B1B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65CB4-3B65-7A04-B435-3441D011B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D35EF-7C75-329F-2DFA-642AA244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1C8B46-99E8-E8A2-2CA9-22287D2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1E8B2-2550-D3FC-2F16-FF078EA8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90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E16C9-CD0C-CDC1-1B34-454E1CC2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740A2F-CA2D-0369-EEA3-69DD9C274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E8B25C-10B8-8496-5043-30C1BA64A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EDCA45-07BC-9270-DE68-5B647352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B3CA1-75FC-9827-5524-BDA0BF3A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8EA56-B204-6395-68B0-668CC0CD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7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C3F43-2EAE-C230-9F24-5585B589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D95B0-2CD0-EDF9-7EAC-1B9411F25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15ED93-41DC-7D33-3C07-32580E20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B5D9E-9096-6636-D7E0-B6611826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F4210-B092-18C4-2809-AE278944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1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763702-FBD7-F8C2-A496-686EFC06C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2804D7-843C-5E70-78E1-3725235FF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D3E07-9C8E-2EDA-99C1-FC475F8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97457-AF4E-8CC2-905A-2D1A648D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DA8BC-68C8-359F-9A76-7ECE6100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9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7BAB3E-0FD3-B3D1-276C-29922A05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F1F7D-3E33-E9C9-7AEF-8277DA55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E7EBF-42AA-8E8F-63A7-48BBB179C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B219E-4E2F-4EDE-9F6F-BA03EAE9358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28577-5564-5143-6C46-998E8444A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0C32-9C9A-9269-22FA-F2C07BEFB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73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94C6E55-8DA4-DB72-228D-2012DB79FF91}"/>
              </a:ext>
            </a:extLst>
          </p:cNvPr>
          <p:cNvSpPr txBox="1"/>
          <p:nvPr/>
        </p:nvSpPr>
        <p:spPr>
          <a:xfrm>
            <a:off x="1122557" y="1852235"/>
            <a:ext cx="101550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Safe-Construct_ Redefining Construction Safety Violation Recognition as 3D Multi-View Engagement Task</a:t>
            </a:r>
          </a:p>
          <a:p>
            <a:pPr algn="ctr"/>
            <a:r>
              <a:rPr lang="en-US" altLang="zh-CN" sz="2800" b="1" dirty="0"/>
              <a:t>(CVPR 2025)</a:t>
            </a:r>
            <a:endParaRPr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B91AFA-5C93-22A9-DC41-899EBE64A660}"/>
              </a:ext>
            </a:extLst>
          </p:cNvPr>
          <p:cNvSpPr txBox="1"/>
          <p:nvPr/>
        </p:nvSpPr>
        <p:spPr>
          <a:xfrm>
            <a:off x="815008" y="3448879"/>
            <a:ext cx="10561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/>
              <a:t>Safe-Construct</a:t>
            </a:r>
            <a:r>
              <a:rPr lang="zh-CN" altLang="en-GB" sz="2400" b="1" dirty="0"/>
              <a:t>：</a:t>
            </a:r>
            <a:r>
              <a:rPr lang="zh-CN" altLang="en-US" sz="2400" b="1" dirty="0"/>
              <a:t>将建筑安全违规识别重新定义为三维多视角交互任务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909FC5-EB1D-D260-F3FB-CA9BA8C50854}"/>
              </a:ext>
            </a:extLst>
          </p:cNvPr>
          <p:cNvSpPr txBox="1"/>
          <p:nvPr/>
        </p:nvSpPr>
        <p:spPr>
          <a:xfrm>
            <a:off x="10060825" y="6177775"/>
            <a:ext cx="232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2025.10.30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87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CD8DEC-E2C6-616C-901C-35F8CF81F145}"/>
              </a:ext>
            </a:extLst>
          </p:cNvPr>
          <p:cNvSpPr/>
          <p:nvPr/>
        </p:nvSpPr>
        <p:spPr>
          <a:xfrm rot="10800000" flipV="1">
            <a:off x="182474" y="198586"/>
            <a:ext cx="3525131" cy="601513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2D</a:t>
            </a:r>
            <a:r>
              <a:rPr lang="zh-CN" altLang="en-US" sz="2000" b="1" dirty="0"/>
              <a:t>检测</a:t>
            </a:r>
            <a:r>
              <a:rPr lang="en-US" altLang="zh-CN" sz="2000" b="1" dirty="0"/>
              <a:t>-&gt;</a:t>
            </a:r>
            <a:r>
              <a:rPr lang="zh-CN" altLang="en-US" sz="2000" b="1" dirty="0"/>
              <a:t>多相机</a:t>
            </a:r>
            <a:r>
              <a:rPr lang="en-US" altLang="zh-CN" sz="2000" b="1" dirty="0"/>
              <a:t>3D</a:t>
            </a:r>
            <a:r>
              <a:rPr lang="zh-CN" altLang="en-US" sz="2000" b="1" dirty="0"/>
              <a:t>理解</a:t>
            </a:r>
            <a:endParaRPr lang="zh-CN" altLang="zh-CN" sz="2000" b="1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EF6619-95D6-D233-2013-55739C33FCFA}"/>
              </a:ext>
            </a:extLst>
          </p:cNvPr>
          <p:cNvSpPr/>
          <p:nvPr/>
        </p:nvSpPr>
        <p:spPr>
          <a:xfrm rot="10800000" flipV="1">
            <a:off x="1942217" y="1609476"/>
            <a:ext cx="1379626" cy="563415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2D</a:t>
            </a:r>
            <a:r>
              <a:rPr lang="zh-CN" altLang="en-US" sz="2000" b="1" dirty="0"/>
              <a:t>检测</a:t>
            </a:r>
            <a:endParaRPr lang="zh-CN" altLang="zh-CN" sz="2000" b="1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6D2D41A-EB82-EB1E-0C77-402778277966}"/>
              </a:ext>
            </a:extLst>
          </p:cNvPr>
          <p:cNvSpPr/>
          <p:nvPr/>
        </p:nvSpPr>
        <p:spPr>
          <a:xfrm rot="10800000" flipV="1">
            <a:off x="8073935" y="1609477"/>
            <a:ext cx="1379626" cy="563415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3D</a:t>
            </a:r>
            <a:r>
              <a:rPr lang="zh-CN" altLang="en-US" sz="2000" b="1" dirty="0"/>
              <a:t>理解</a:t>
            </a:r>
            <a:endParaRPr lang="zh-CN" altLang="zh-CN" sz="2000" b="1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D088DF6-4C24-235F-758B-5F71ECD8AC8D}"/>
              </a:ext>
            </a:extLst>
          </p:cNvPr>
          <p:cNvSpPr/>
          <p:nvPr/>
        </p:nvSpPr>
        <p:spPr>
          <a:xfrm>
            <a:off x="777014" y="2447767"/>
            <a:ext cx="4002156" cy="27421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只有平面信息：不知道物体在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3D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空间中的真实位置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无法判断距离：不知道工人离梯子有多远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遮挡就失效：如果安全帽被遮挡，就检测不到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B05DBA-B2C6-991B-1E69-5C0012B82C36}"/>
              </a:ext>
            </a:extLst>
          </p:cNvPr>
          <p:cNvSpPr/>
          <p:nvPr/>
        </p:nvSpPr>
        <p:spPr>
          <a:xfrm>
            <a:off x="6556306" y="2447767"/>
            <a:ext cx="4373631" cy="27421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了解真实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3D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位置：知道每个物体在空间中的确切位置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可以计算距离：工人离梯子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米？还是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0.5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米？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抗遮挡：相机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看不到，相机</a:t>
            </a:r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可能看得到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场景理解：理解工人和物体之间的空间关系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1AE0657-33B7-82E9-CC6D-5D0DF682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19" y="908447"/>
            <a:ext cx="984455" cy="685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6A5C39D-606D-11A8-F411-C156F8AC5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61" y="908447"/>
            <a:ext cx="984455" cy="685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5F6FDAE-A84E-7F69-AE57-9AE546886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99666">
            <a:off x="8929687" y="185873"/>
            <a:ext cx="984455" cy="685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2F84FF7-6819-067E-DD35-D41E0329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949991">
            <a:off x="7560464" y="185873"/>
            <a:ext cx="984455" cy="685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4DB2245-4996-1B6D-9688-0E84107A5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848848" y="908447"/>
            <a:ext cx="984455" cy="6858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8FA12CC-3C99-D973-FE23-C91D0F535AE1}"/>
              </a:ext>
            </a:extLst>
          </p:cNvPr>
          <p:cNvSpPr txBox="1"/>
          <p:nvPr/>
        </p:nvSpPr>
        <p:spPr>
          <a:xfrm>
            <a:off x="8399263" y="970836"/>
            <a:ext cx="825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😎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EB0227-CC27-E14A-008C-561B750DB5FA}"/>
              </a:ext>
            </a:extLst>
          </p:cNvPr>
          <p:cNvSpPr txBox="1"/>
          <p:nvPr/>
        </p:nvSpPr>
        <p:spPr>
          <a:xfrm>
            <a:off x="2255640" y="970836"/>
            <a:ext cx="10519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🤔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18D0191-29E7-DE55-A466-ABB596078716}"/>
              </a:ext>
            </a:extLst>
          </p:cNvPr>
          <p:cNvCxnSpPr>
            <a:cxnSpLocks/>
          </p:cNvCxnSpPr>
          <p:nvPr/>
        </p:nvCxnSpPr>
        <p:spPr>
          <a:xfrm>
            <a:off x="5879306" y="671513"/>
            <a:ext cx="0" cy="5436393"/>
          </a:xfrm>
          <a:prstGeom prst="line">
            <a:avLst/>
          </a:prstGeom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79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71CC-1B64-86C9-19E2-1A23139A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3C1C7CC-A32C-F24B-1F1E-32E460F3C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276" y="2422596"/>
            <a:ext cx="1215132" cy="1077049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01B59E-D764-82A9-CA7B-E054AD703BAB}"/>
              </a:ext>
            </a:extLst>
          </p:cNvPr>
          <p:cNvSpPr/>
          <p:nvPr/>
        </p:nvSpPr>
        <p:spPr>
          <a:xfrm rot="10800000" flipV="1">
            <a:off x="203907" y="198586"/>
            <a:ext cx="1996367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背景与困难</a:t>
            </a:r>
            <a:endParaRPr lang="zh-CN" altLang="zh-CN" sz="2400" b="1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F15E6F9-6596-CAB9-F69E-CB557959374C}"/>
              </a:ext>
            </a:extLst>
          </p:cNvPr>
          <p:cNvGrpSpPr/>
          <p:nvPr/>
        </p:nvGrpSpPr>
        <p:grpSpPr>
          <a:xfrm>
            <a:off x="1279402" y="3839854"/>
            <a:ext cx="3756024" cy="1266202"/>
            <a:chOff x="1323182" y="3839854"/>
            <a:chExt cx="3756024" cy="126620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DDD838E-AF22-9CC9-157C-5D2D1A5FA57C}"/>
                </a:ext>
              </a:extLst>
            </p:cNvPr>
            <p:cNvSpPr/>
            <p:nvPr/>
          </p:nvSpPr>
          <p:spPr>
            <a:xfrm rot="10800000" flipV="1">
              <a:off x="1730376" y="3839854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缺乏场景级理解</a:t>
              </a:r>
              <a:endParaRPr lang="zh-CN" altLang="zh-CN" sz="2000" b="1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76D44DD-A0A2-F56C-4B5A-081C433243F4}"/>
                </a:ext>
              </a:extLst>
            </p:cNvPr>
            <p:cNvSpPr txBox="1"/>
            <p:nvPr/>
          </p:nvSpPr>
          <p:spPr>
            <a:xfrm>
              <a:off x="1323182" y="4398170"/>
              <a:ext cx="375602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只关注单个物体，忽略工人</a:t>
              </a:r>
              <a:r>
                <a:rPr lang="en-US" altLang="zh-CN" sz="2000" dirty="0"/>
                <a:t>-</a:t>
              </a:r>
              <a:r>
                <a:rPr lang="zh-CN" altLang="en-US" sz="2000" dirty="0"/>
                <a:t>物体关系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1B80656-BE88-9A85-B5BB-AF811B615904}"/>
              </a:ext>
            </a:extLst>
          </p:cNvPr>
          <p:cNvGrpSpPr/>
          <p:nvPr/>
        </p:nvGrpSpPr>
        <p:grpSpPr>
          <a:xfrm>
            <a:off x="7042824" y="1173754"/>
            <a:ext cx="4744364" cy="1523070"/>
            <a:chOff x="7042824" y="795136"/>
            <a:chExt cx="4744364" cy="152307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99C2FD0-FDBE-C6FE-3CD3-2274D5B1ECCD}"/>
                </a:ext>
              </a:extLst>
            </p:cNvPr>
            <p:cNvSpPr/>
            <p:nvPr/>
          </p:nvSpPr>
          <p:spPr>
            <a:xfrm rot="10800000" flipV="1">
              <a:off x="7944187" y="795136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缺乏真实训练数据</a:t>
              </a:r>
              <a:endParaRPr lang="en-US" altLang="zh-CN" sz="2000" b="1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5B89C1A-4D7B-2BC3-5340-FF6C23EEC854}"/>
                </a:ext>
              </a:extLst>
            </p:cNvPr>
            <p:cNvSpPr txBox="1"/>
            <p:nvPr/>
          </p:nvSpPr>
          <p:spPr>
            <a:xfrm>
              <a:off x="7042824" y="1302543"/>
              <a:ext cx="47443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现有数据集是从网上抓取的，不能反映真实建筑环境</a:t>
              </a:r>
              <a:endParaRPr lang="en-US" altLang="zh-CN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忽视了视角变化和相机距离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416F147-93C6-F253-4BED-51D3DFB64763}"/>
              </a:ext>
            </a:extLst>
          </p:cNvPr>
          <p:cNvGrpSpPr/>
          <p:nvPr/>
        </p:nvGrpSpPr>
        <p:grpSpPr>
          <a:xfrm>
            <a:off x="1279402" y="1173754"/>
            <a:ext cx="3871242" cy="1208546"/>
            <a:chOff x="1279402" y="1225746"/>
            <a:chExt cx="3871242" cy="12085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63BACEB-B7F1-7521-8036-B5BDC6F4B6F3}"/>
                </a:ext>
              </a:extLst>
            </p:cNvPr>
            <p:cNvSpPr/>
            <p:nvPr/>
          </p:nvSpPr>
          <p:spPr>
            <a:xfrm rot="10800000" flipV="1">
              <a:off x="1744205" y="1225746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可扩展性有限</a:t>
              </a:r>
              <a:endParaRPr lang="zh-CN" altLang="zh-CN" sz="2000" b="1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BDE0F5D-6D9D-5901-C746-37D201C0BF9E}"/>
                </a:ext>
              </a:extLst>
            </p:cNvPr>
            <p:cNvSpPr txBox="1"/>
            <p:nvPr/>
          </p:nvSpPr>
          <p:spPr>
            <a:xfrm>
              <a:off x="1279402" y="1726406"/>
              <a:ext cx="387124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现有方法将违规识别简化为物体检测（如检测</a:t>
              </a:r>
              <a:r>
                <a:rPr lang="en-US" altLang="zh-CN" sz="2000" dirty="0"/>
                <a:t>"</a:t>
              </a:r>
              <a:r>
                <a:rPr lang="zh-CN" altLang="en-US" sz="2000" dirty="0"/>
                <a:t>安全帽</a:t>
              </a:r>
              <a:r>
                <a:rPr lang="en-US" altLang="zh-CN" sz="2000" dirty="0"/>
                <a:t>"</a:t>
              </a:r>
              <a:r>
                <a:rPr lang="zh-CN" altLang="en-US" sz="2000" dirty="0"/>
                <a:t>）</a:t>
              </a:r>
              <a:endParaRPr lang="en-US" altLang="zh-CN" sz="2000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B53A92E-A385-AFBE-AE73-037176048855}"/>
              </a:ext>
            </a:extLst>
          </p:cNvPr>
          <p:cNvGrpSpPr/>
          <p:nvPr/>
        </p:nvGrpSpPr>
        <p:grpSpPr>
          <a:xfrm>
            <a:off x="7042824" y="3396941"/>
            <a:ext cx="3425150" cy="1562072"/>
            <a:chOff x="7104738" y="3396941"/>
            <a:chExt cx="3425150" cy="15620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89D8C37-F222-EB62-D774-89DC39BEA2FF}"/>
                </a:ext>
              </a:extLst>
            </p:cNvPr>
            <p:cNvSpPr/>
            <p:nvPr/>
          </p:nvSpPr>
          <p:spPr>
            <a:xfrm rot="10800000" flipV="1">
              <a:off x="7346494" y="3396941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忽略时间动态</a:t>
              </a:r>
              <a:endParaRPr lang="en-US" altLang="zh-CN" sz="2000" b="1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0B241AF-E9DF-9C45-8694-5C087F0EDD0E}"/>
                </a:ext>
              </a:extLst>
            </p:cNvPr>
            <p:cNvSpPr txBox="1"/>
            <p:nvPr/>
          </p:nvSpPr>
          <p:spPr>
            <a:xfrm>
              <a:off x="7104738" y="3943350"/>
              <a:ext cx="34251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短暂遮挡会触发误报</a:t>
              </a:r>
              <a:endParaRPr lang="en-US" altLang="zh-CN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单视角模型在遮挡时表现不佳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101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E634-F4B7-073F-4842-1C61F356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7A3B1A-8A6F-62E0-B65A-803330097718}"/>
              </a:ext>
            </a:extLst>
          </p:cNvPr>
          <p:cNvSpPr/>
          <p:nvPr/>
        </p:nvSpPr>
        <p:spPr>
          <a:xfrm rot="10800000" flipV="1">
            <a:off x="203907" y="198586"/>
            <a:ext cx="1996367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创新点</a:t>
            </a:r>
            <a:endParaRPr lang="zh-CN" altLang="zh-CN" sz="2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07B8F1F-2F4C-0817-728D-ED401459C7C3}"/>
              </a:ext>
            </a:extLst>
          </p:cNvPr>
          <p:cNvGrpSpPr/>
          <p:nvPr/>
        </p:nvGrpSpPr>
        <p:grpSpPr>
          <a:xfrm>
            <a:off x="430213" y="3011178"/>
            <a:ext cx="3756024" cy="1881755"/>
            <a:chOff x="430213" y="3011178"/>
            <a:chExt cx="3756024" cy="1881755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2529C74C-6AAD-C3D9-4F6A-3B77D8103F9E}"/>
                </a:ext>
              </a:extLst>
            </p:cNvPr>
            <p:cNvSpPr/>
            <p:nvPr/>
          </p:nvSpPr>
          <p:spPr>
            <a:xfrm rot="10800000" flipV="1">
              <a:off x="837407" y="3011178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合成数据</a:t>
              </a:r>
              <a:r>
                <a:rPr lang="en-US" altLang="zh-CN" sz="2000" b="1" dirty="0"/>
                <a:t>SICSG</a:t>
              </a:r>
              <a:r>
                <a:rPr lang="zh-CN" altLang="en-US" sz="2000" b="1" dirty="0"/>
                <a:t>生成器</a:t>
              </a:r>
              <a:endParaRPr lang="zh-CN" altLang="zh-CN" sz="2000" b="1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2CEA432-67EB-8321-34D4-B72C6DC45325}"/>
                </a:ext>
              </a:extLst>
            </p:cNvPr>
            <p:cNvSpPr txBox="1"/>
            <p:nvPr/>
          </p:nvSpPr>
          <p:spPr>
            <a:xfrm>
              <a:off x="430213" y="3569494"/>
              <a:ext cx="375602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生成</a:t>
              </a:r>
              <a:r>
                <a:rPr lang="en-US" altLang="zh-CN" sz="2000" dirty="0"/>
                <a:t>4000</a:t>
              </a:r>
              <a:r>
                <a:rPr lang="zh-CN" altLang="en-US" sz="2000" dirty="0"/>
                <a:t>张高质量图像</a:t>
              </a:r>
              <a:endParaRPr lang="en-US" altLang="zh-CN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包含</a:t>
              </a:r>
              <a:r>
                <a:rPr lang="en-US" altLang="zh-CN" sz="2000" dirty="0"/>
                <a:t>100</a:t>
              </a:r>
              <a:r>
                <a:rPr lang="zh-CN" altLang="en-US" sz="2000" dirty="0"/>
                <a:t>种不同的房间布局，系统性地变化光照、视角、遮挡等条件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BE7F3BB-52BD-3AE7-C9C8-4075E82E8776}"/>
              </a:ext>
            </a:extLst>
          </p:cNvPr>
          <p:cNvGrpSpPr/>
          <p:nvPr/>
        </p:nvGrpSpPr>
        <p:grpSpPr>
          <a:xfrm>
            <a:off x="4006730" y="3011178"/>
            <a:ext cx="3629939" cy="1215293"/>
            <a:chOff x="4006730" y="3295449"/>
            <a:chExt cx="3629939" cy="121529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ED8935F-6D86-FA39-7338-C32C1A4D3F70}"/>
                </a:ext>
              </a:extLst>
            </p:cNvPr>
            <p:cNvSpPr/>
            <p:nvPr/>
          </p:nvSpPr>
          <p:spPr>
            <a:xfrm rot="10800000" flipV="1">
              <a:off x="4908093" y="3295449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3D</a:t>
              </a:r>
              <a:r>
                <a:rPr lang="zh-CN" altLang="en-US" sz="2000" b="1" dirty="0"/>
                <a:t>场景理解</a:t>
              </a:r>
              <a:endParaRPr lang="en-US" altLang="zh-CN" sz="2000" b="1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574A2EA-711B-1209-8835-9D7A93037B1A}"/>
                </a:ext>
              </a:extLst>
            </p:cNvPr>
            <p:cNvSpPr txBox="1"/>
            <p:nvPr/>
          </p:nvSpPr>
          <p:spPr>
            <a:xfrm>
              <a:off x="4006730" y="3802856"/>
              <a:ext cx="36299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理解工人和物体在</a:t>
              </a:r>
              <a:r>
                <a:rPr lang="en-US" altLang="zh-CN" sz="2000" dirty="0"/>
                <a:t>3D</a:t>
              </a:r>
              <a:r>
                <a:rPr lang="zh-CN" altLang="en-US" sz="2000" dirty="0"/>
                <a:t>空间中的关系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F760F40-0A72-6168-5595-80A45A046488}"/>
              </a:ext>
            </a:extLst>
          </p:cNvPr>
          <p:cNvGrpSpPr/>
          <p:nvPr/>
        </p:nvGrpSpPr>
        <p:grpSpPr>
          <a:xfrm>
            <a:off x="8133438" y="3011178"/>
            <a:ext cx="3425150" cy="1282870"/>
            <a:chOff x="7669094" y="4075597"/>
            <a:chExt cx="3425150" cy="1282870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25598AE-D06F-2EC4-297F-06E7B0475727}"/>
                </a:ext>
              </a:extLst>
            </p:cNvPr>
            <p:cNvSpPr/>
            <p:nvPr/>
          </p:nvSpPr>
          <p:spPr>
            <a:xfrm rot="10800000" flipV="1">
              <a:off x="7903706" y="4075597"/>
              <a:ext cx="2700000" cy="432000"/>
            </a:xfrm>
            <a:prstGeom prst="roundRect">
              <a:avLst>
                <a:gd name="adj" fmla="val 12755"/>
              </a:avLst>
            </a:prstGeom>
            <a:solidFill>
              <a:srgbClr val="2E75B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几何推理</a:t>
              </a:r>
              <a:endParaRPr lang="en-US" altLang="zh-CN" sz="2000" b="1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81D6CEE-8037-31C6-9A39-32D65096DA12}"/>
                </a:ext>
              </a:extLst>
            </p:cNvPr>
            <p:cNvSpPr txBox="1"/>
            <p:nvPr/>
          </p:nvSpPr>
          <p:spPr>
            <a:xfrm>
              <a:off x="7669094" y="4650581"/>
              <a:ext cx="34251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基于</a:t>
              </a:r>
              <a:r>
                <a:rPr lang="en-US" altLang="zh-CN" sz="2000" dirty="0"/>
                <a:t>L2</a:t>
              </a:r>
              <a:r>
                <a:rPr lang="zh-CN" altLang="en-US" sz="2000" dirty="0"/>
                <a:t>距离的几何规则来判断违规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6B95500-A9FE-4550-F281-2D266C9C2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8" y="-147638"/>
            <a:ext cx="6846093" cy="10103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406BC3E-871F-E175-6B1D-F0B3221A0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1" y="766293"/>
            <a:ext cx="10965657" cy="577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8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AA8BE-A4C6-E976-1462-253AB22D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41E2A3F9-EA67-136F-5BE9-3DEC40A66B7B}"/>
              </a:ext>
            </a:extLst>
          </p:cNvPr>
          <p:cNvSpPr/>
          <p:nvPr/>
        </p:nvSpPr>
        <p:spPr>
          <a:xfrm rot="10800000" flipV="1">
            <a:off x="203907" y="177155"/>
            <a:ext cx="1996367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SICSG</a:t>
            </a:r>
            <a:endParaRPr lang="zh-CN" altLang="zh-CN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800BC9-E174-2458-FF21-548887C0837F}"/>
              </a:ext>
            </a:extLst>
          </p:cNvPr>
          <p:cNvSpPr txBox="1"/>
          <p:nvPr/>
        </p:nvSpPr>
        <p:spPr>
          <a:xfrm>
            <a:off x="319683" y="1129784"/>
            <a:ext cx="959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😭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E2086A9-8739-B62B-D171-D716D45B95B8}"/>
              </a:ext>
            </a:extLst>
          </p:cNvPr>
          <p:cNvSpPr/>
          <p:nvPr/>
        </p:nvSpPr>
        <p:spPr>
          <a:xfrm rot="10800000" flipV="1">
            <a:off x="1134976" y="1201094"/>
            <a:ext cx="2336886" cy="491976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数据收集困难</a:t>
            </a:r>
            <a:endParaRPr lang="zh-CN" altLang="zh-CN" sz="2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257C79-49A9-B16F-2A25-A4C97CB697F3}"/>
              </a:ext>
            </a:extLst>
          </p:cNvPr>
          <p:cNvSpPr txBox="1"/>
          <p:nvPr/>
        </p:nvSpPr>
        <p:spPr>
          <a:xfrm>
            <a:off x="364331" y="2107406"/>
            <a:ext cx="50077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 危险（工地到处是危险）</a:t>
            </a: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 昂贵（需要雇人、买设备）</a:t>
            </a: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 耗时（要去很多不同的工地）</a:t>
            </a: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 隐私问题（拍工人需要同意）</a:t>
            </a: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 难以控制（天气、光照不可控）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0E9E09-E4DE-DCD3-825E-7DC5FEA9CB9B}"/>
              </a:ext>
            </a:extLst>
          </p:cNvPr>
          <p:cNvSpPr txBox="1"/>
          <p:nvPr/>
        </p:nvSpPr>
        <p:spPr>
          <a:xfrm>
            <a:off x="6287096" y="1146453"/>
            <a:ext cx="959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🤩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5678F9C-7E4C-720C-2E7A-5CD5BCCD3059}"/>
              </a:ext>
            </a:extLst>
          </p:cNvPr>
          <p:cNvSpPr/>
          <p:nvPr/>
        </p:nvSpPr>
        <p:spPr>
          <a:xfrm rot="10800000" flipV="1">
            <a:off x="7102389" y="1217763"/>
            <a:ext cx="2748842" cy="491976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Blender</a:t>
            </a:r>
            <a:r>
              <a:rPr lang="zh-CN" altLang="en-US" sz="2400" dirty="0"/>
              <a:t>生成数据</a:t>
            </a:r>
            <a:endParaRPr lang="zh-CN" altLang="zh-CN" sz="2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624F04-0803-7EAE-CDF1-78410E4AA139}"/>
              </a:ext>
            </a:extLst>
          </p:cNvPr>
          <p:cNvSpPr txBox="1"/>
          <p:nvPr/>
        </p:nvSpPr>
        <p:spPr>
          <a:xfrm>
            <a:off x="6331744" y="2124075"/>
            <a:ext cx="50077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开源免费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物理真实（光照、阴影、反射都真实）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可编程（</a:t>
            </a:r>
            <a:r>
              <a:rPr lang="en-US" altLang="zh-CN" sz="2400" b="1" dirty="0"/>
              <a:t>Python</a:t>
            </a:r>
            <a:r>
              <a:rPr lang="zh-CN" altLang="en-US" sz="2400" b="1" dirty="0"/>
              <a:t>脚本自动生成场景）</a:t>
            </a:r>
          </a:p>
        </p:txBody>
      </p:sp>
    </p:spTree>
    <p:extLst>
      <p:ext uri="{BB962C8B-B14F-4D97-AF65-F5344CB8AC3E}">
        <p14:creationId xmlns:p14="http://schemas.microsoft.com/office/powerpoint/2010/main" val="364161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13C4C2-299A-2999-4D69-BE9FB38A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390" y="0"/>
            <a:ext cx="5585381" cy="685800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C00B05-ABDC-02FC-3D1A-BEA35F0BBDB9}"/>
              </a:ext>
            </a:extLst>
          </p:cNvPr>
          <p:cNvSpPr/>
          <p:nvPr/>
        </p:nvSpPr>
        <p:spPr>
          <a:xfrm rot="10800000" flipV="1">
            <a:off x="203907" y="177155"/>
            <a:ext cx="1996367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SICSG</a:t>
            </a:r>
            <a:endParaRPr lang="zh-CN" altLang="zh-CN" sz="2400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E2F38D-48E7-877F-64CE-7CC9CA929868}"/>
              </a:ext>
            </a:extLst>
          </p:cNvPr>
          <p:cNvSpPr/>
          <p:nvPr/>
        </p:nvSpPr>
        <p:spPr>
          <a:xfrm rot="10800000" flipV="1">
            <a:off x="320585" y="821531"/>
            <a:ext cx="6080214" cy="1921668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SICSG</a:t>
            </a:r>
            <a:r>
              <a:rPr lang="zh-CN" altLang="en-US" sz="2400" dirty="0"/>
              <a:t>借助于</a:t>
            </a:r>
            <a:r>
              <a:rPr lang="en-US" altLang="zh-CN" sz="2400" b="1" dirty="0"/>
              <a:t>Blender 3.1.2</a:t>
            </a:r>
            <a:r>
              <a:rPr lang="zh-CN" altLang="en-US" sz="2400" dirty="0"/>
              <a:t>中开发。使用物理渲染引擎，可以真实模拟光线传播、阴影投射、材质反射。</a:t>
            </a:r>
            <a:endParaRPr lang="en-US" altLang="zh-CN" sz="2400" dirty="0"/>
          </a:p>
          <a:p>
            <a:pPr algn="ctr"/>
            <a:r>
              <a:rPr lang="zh-CN" altLang="en-US" sz="2400" dirty="0"/>
              <a:t>所有物体都有精确的</a:t>
            </a:r>
            <a:r>
              <a:rPr lang="en-US" altLang="zh-CN" sz="2400" dirty="0"/>
              <a:t>3D</a:t>
            </a:r>
            <a:r>
              <a:rPr lang="zh-CN" altLang="en-US" sz="2400" dirty="0"/>
              <a:t>模型和物理属性，生成的数据视觉真实，</a:t>
            </a:r>
            <a:r>
              <a:rPr lang="en-US" altLang="zh-CN" sz="2400" dirty="0"/>
              <a:t>3D</a:t>
            </a:r>
            <a:r>
              <a:rPr lang="zh-CN" altLang="en-US" sz="2400" b="1" dirty="0"/>
              <a:t>几何信息准确</a:t>
            </a:r>
            <a:r>
              <a:rPr lang="zh-CN" altLang="en-US" sz="2400" dirty="0"/>
              <a:t>。</a:t>
            </a:r>
            <a:endParaRPr lang="zh-CN" altLang="zh-CN" sz="24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652B28A-2B70-BF84-F2CF-95D0909B9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28373"/>
              </p:ext>
            </p:extLst>
          </p:nvPr>
        </p:nvGraphicFramePr>
        <p:xfrm>
          <a:off x="396079" y="2841360"/>
          <a:ext cx="5954714" cy="15222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888">
                  <a:extLst>
                    <a:ext uri="{9D8B030D-6E8A-4147-A177-3AD203B41FA5}">
                      <a16:colId xmlns:a16="http://schemas.microsoft.com/office/drawing/2014/main" val="3291349140"/>
                    </a:ext>
                  </a:extLst>
                </a:gridCol>
                <a:gridCol w="4825826">
                  <a:extLst>
                    <a:ext uri="{9D8B030D-6E8A-4147-A177-3AD203B41FA5}">
                      <a16:colId xmlns:a16="http://schemas.microsoft.com/office/drawing/2014/main" val="1407601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核心工具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Blender 3.1.2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71094"/>
                  </a:ext>
                </a:extLst>
              </a:tr>
              <a:tr h="409682">
                <a:tc>
                  <a:txBody>
                    <a:bodyPr/>
                    <a:lstStyle/>
                    <a:p>
                      <a:r>
                        <a:rPr lang="zh-CN" altLang="en-US" dirty="0"/>
                        <a:t>脚本语言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Python (Blender Python API)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574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渲染引擎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Cycles### 5️⃣ **</a:t>
                      </a:r>
                      <a:r>
                        <a:rPr lang="zh-CN" altLang="en-US" dirty="0"/>
                        <a:t>场景级评估方法**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289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输出格式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PNG</a:t>
                      </a:r>
                      <a:r>
                        <a:rPr lang="zh-CN" altLang="en-US" dirty="0"/>
                        <a:t>图像 </a:t>
                      </a:r>
                      <a:r>
                        <a:rPr lang="en-US" altLang="zh-CN" dirty="0"/>
                        <a:t>+ JSON</a:t>
                      </a:r>
                      <a:r>
                        <a:rPr lang="zh-CN" altLang="en-US" dirty="0"/>
                        <a:t>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048463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F371194-6CC2-82B7-B1CF-A0EDB5B5A432}"/>
              </a:ext>
            </a:extLst>
          </p:cNvPr>
          <p:cNvSpPr/>
          <p:nvPr/>
        </p:nvSpPr>
        <p:spPr>
          <a:xfrm rot="10800000" flipV="1">
            <a:off x="321471" y="4450558"/>
            <a:ext cx="2364579" cy="2271712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/>
              <a:t>制作流程：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3D</a:t>
            </a:r>
            <a:r>
              <a:rPr lang="zh-CN" altLang="en-US" sz="2000" dirty="0"/>
              <a:t>模型制作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场景生成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光照系统设计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相机视角设置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批量渲染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自动标注</a:t>
            </a:r>
            <a:endParaRPr lang="zh-CN" altLang="zh-CN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BAA782-71D1-2308-E822-8AA824B958B0}"/>
              </a:ext>
            </a:extLst>
          </p:cNvPr>
          <p:cNvSpPr txBox="1"/>
          <p:nvPr/>
        </p:nvSpPr>
        <p:spPr>
          <a:xfrm rot="1828706">
            <a:off x="3270051" y="5651778"/>
            <a:ext cx="5947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E54D36-0F05-24B8-81CC-4F8300F8ADCA}"/>
              </a:ext>
            </a:extLst>
          </p:cNvPr>
          <p:cNvSpPr txBox="1"/>
          <p:nvPr/>
        </p:nvSpPr>
        <p:spPr>
          <a:xfrm>
            <a:off x="3657600" y="5414963"/>
            <a:ext cx="211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尚未开源</a:t>
            </a:r>
          </a:p>
        </p:txBody>
      </p:sp>
    </p:spTree>
    <p:extLst>
      <p:ext uri="{BB962C8B-B14F-4D97-AF65-F5344CB8AC3E}">
        <p14:creationId xmlns:p14="http://schemas.microsoft.com/office/powerpoint/2010/main" val="319395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761D-6CCD-6510-48B4-5FFA27B9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5F9B0EA7-D96C-4F14-966A-0B41BE6A07D5}"/>
              </a:ext>
            </a:extLst>
          </p:cNvPr>
          <p:cNvSpPr/>
          <p:nvPr/>
        </p:nvSpPr>
        <p:spPr>
          <a:xfrm rot="10800000" flipV="1">
            <a:off x="203906" y="177155"/>
            <a:ext cx="2882193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多视角</a:t>
            </a:r>
            <a:r>
              <a:rPr lang="en-US" altLang="zh-CN" sz="2400" dirty="0"/>
              <a:t>3D</a:t>
            </a:r>
            <a:r>
              <a:rPr lang="zh-CN" altLang="en-US" sz="2400" dirty="0"/>
              <a:t>空间理解</a:t>
            </a:r>
            <a:endParaRPr lang="zh-CN" altLang="zh-CN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364D7-491C-BB02-9E8C-F7434DD2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019" y="2687392"/>
            <a:ext cx="12094370" cy="466114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DDA9672-36F7-2EE1-5668-F244496D8F04}"/>
              </a:ext>
            </a:extLst>
          </p:cNvPr>
          <p:cNvSpPr txBox="1"/>
          <p:nvPr/>
        </p:nvSpPr>
        <p:spPr>
          <a:xfrm>
            <a:off x="5743574" y="1385887"/>
            <a:ext cx="5743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b="1" dirty="0"/>
              <a:t>对极几何距离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b="1" dirty="0"/>
              <a:t>pi, pj</a:t>
            </a:r>
            <a:r>
              <a:rPr lang="zh-CN" altLang="en-US" b="1" dirty="0"/>
              <a:t>：相机</a:t>
            </a:r>
            <a:r>
              <a:rPr lang="en-US" altLang="zh-CN" b="1" dirty="0"/>
              <a:t>i</a:t>
            </a:r>
            <a:r>
              <a:rPr lang="zh-CN" altLang="en-US" b="1" dirty="0"/>
              <a:t>和</a:t>
            </a:r>
            <a:r>
              <a:rPr lang="en-US" altLang="zh-CN" b="1" dirty="0"/>
              <a:t>j</a:t>
            </a:r>
            <a:r>
              <a:rPr lang="zh-CN" altLang="en-US" b="1" dirty="0"/>
              <a:t>上检测到的</a:t>
            </a:r>
            <a:r>
              <a:rPr lang="en-US" altLang="zh-CN" b="1" dirty="0"/>
              <a:t>2D</a:t>
            </a:r>
            <a:r>
              <a:rPr lang="zh-CN" altLang="en-US" b="1" dirty="0"/>
              <a:t>点（齐次坐标）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b="1" dirty="0"/>
              <a:t>F^(i,j)</a:t>
            </a:r>
            <a:r>
              <a:rPr lang="zh-CN" altLang="en-US" b="1" dirty="0"/>
              <a:t>：相机</a:t>
            </a:r>
            <a:r>
              <a:rPr lang="en-US" altLang="zh-CN" b="1" dirty="0"/>
              <a:t>i</a:t>
            </a:r>
            <a:r>
              <a:rPr lang="zh-CN" altLang="en-US" b="1" dirty="0"/>
              <a:t>到相机</a:t>
            </a:r>
            <a:r>
              <a:rPr lang="en-US" altLang="zh-CN" b="1" dirty="0"/>
              <a:t>j</a:t>
            </a:r>
            <a:r>
              <a:rPr lang="zh-CN" altLang="en-US" b="1" dirty="0"/>
              <a:t>的基础矩阵 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第一项：</a:t>
            </a:r>
            <a:r>
              <a:rPr lang="en-US" altLang="zh-CN" b="1" dirty="0"/>
              <a:t>pj</a:t>
            </a:r>
            <a:r>
              <a:rPr lang="zh-CN" altLang="en-US" b="1" dirty="0"/>
              <a:t>到由</a:t>
            </a:r>
            <a:r>
              <a:rPr lang="en-US" altLang="zh-CN" b="1" dirty="0"/>
              <a:t>pi</a:t>
            </a:r>
            <a:r>
              <a:rPr lang="zh-CN" altLang="en-US" b="1" dirty="0"/>
              <a:t>产生的对极线的距离 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第二项：</a:t>
            </a:r>
            <a:r>
              <a:rPr lang="en-US" altLang="zh-CN" b="1" dirty="0"/>
              <a:t>pi</a:t>
            </a:r>
            <a:r>
              <a:rPr lang="zh-CN" altLang="en-US" b="1" dirty="0"/>
              <a:t>到由</a:t>
            </a:r>
            <a:r>
              <a:rPr lang="en-US" altLang="zh-CN" b="1" dirty="0"/>
              <a:t>pj</a:t>
            </a:r>
            <a:r>
              <a:rPr lang="zh-CN" altLang="en-US" b="1" dirty="0"/>
              <a:t>产生的对极线的距离（对称验证）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690BCEF-1BDE-FDEC-C2F4-CDC02B820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799" y="588167"/>
            <a:ext cx="5726907" cy="8469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0DF5782-2A42-E523-69D1-9D7F26230BE7}"/>
              </a:ext>
            </a:extLst>
          </p:cNvPr>
          <p:cNvSpPr txBox="1"/>
          <p:nvPr/>
        </p:nvSpPr>
        <p:spPr>
          <a:xfrm>
            <a:off x="371474" y="1064418"/>
            <a:ext cx="5743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b="1" dirty="0"/>
              <a:t>1.</a:t>
            </a:r>
            <a:r>
              <a:rPr lang="zh-CN" altLang="en-US" b="1" dirty="0"/>
              <a:t>多视角输入与 </a:t>
            </a:r>
            <a:r>
              <a:rPr lang="en-US" altLang="zh-CN" b="1" dirty="0"/>
              <a:t>3D </a:t>
            </a:r>
            <a:r>
              <a:rPr lang="zh-CN" altLang="en-US" b="1" dirty="0"/>
              <a:t>重建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使用 </a:t>
            </a:r>
            <a:r>
              <a:rPr lang="en-US" altLang="zh-CN" b="1" dirty="0"/>
              <a:t>4 </a:t>
            </a:r>
            <a:r>
              <a:rPr lang="zh-CN" altLang="en-US" b="1" dirty="0"/>
              <a:t>台同步 </a:t>
            </a:r>
            <a:r>
              <a:rPr lang="en-US" altLang="zh-CN" b="1" dirty="0"/>
              <a:t>Nikon FHD </a:t>
            </a:r>
            <a:r>
              <a:rPr lang="zh-CN" altLang="en-US" b="1" dirty="0"/>
              <a:t>相机（</a:t>
            </a:r>
            <a:r>
              <a:rPr lang="en-US" altLang="zh-CN" b="1" dirty="0"/>
              <a:t>30 FPS</a:t>
            </a:r>
            <a:r>
              <a:rPr lang="zh-CN" altLang="en-US" b="1" dirty="0"/>
              <a:t>）围成半圆布局；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对每台相机进行标定与时间同步；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利用 </a:t>
            </a:r>
            <a:r>
              <a:rPr lang="en-US" altLang="zh-CN" b="1" dirty="0"/>
              <a:t>YOLOv7pose </a:t>
            </a:r>
            <a:r>
              <a:rPr lang="zh-CN" altLang="en-US" b="1" dirty="0"/>
              <a:t>预测每视角工人关键点；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利用 </a:t>
            </a:r>
            <a:r>
              <a:rPr lang="en-US" altLang="zh-CN" b="1" dirty="0"/>
              <a:t>YOLOv7 </a:t>
            </a:r>
            <a:r>
              <a:rPr lang="zh-CN" altLang="en-US" b="1" dirty="0"/>
              <a:t>检测施工物体。</a:t>
            </a:r>
          </a:p>
        </p:txBody>
      </p:sp>
    </p:spTree>
    <p:extLst>
      <p:ext uri="{BB962C8B-B14F-4D97-AF65-F5344CB8AC3E}">
        <p14:creationId xmlns:p14="http://schemas.microsoft.com/office/powerpoint/2010/main" val="6131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C28A-CCA2-F03D-F0F1-5B330D24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536414-E73B-DD59-1FDE-C4CDDA58545E}"/>
              </a:ext>
            </a:extLst>
          </p:cNvPr>
          <p:cNvSpPr/>
          <p:nvPr/>
        </p:nvSpPr>
        <p:spPr>
          <a:xfrm rot="10800000" flipV="1">
            <a:off x="203906" y="177155"/>
            <a:ext cx="2882193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多视角</a:t>
            </a:r>
            <a:r>
              <a:rPr lang="en-US" altLang="zh-CN" sz="2400" dirty="0"/>
              <a:t>3D</a:t>
            </a:r>
            <a:r>
              <a:rPr lang="zh-CN" altLang="en-US" sz="2400" dirty="0"/>
              <a:t>空间理解</a:t>
            </a:r>
            <a:endParaRPr lang="zh-CN" altLang="zh-CN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38FE2F-EAED-6DA8-7FDD-CB4086BFB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019" y="2687392"/>
            <a:ext cx="12094370" cy="466114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048846D-698E-76C5-167D-CBD9C5064B1F}"/>
              </a:ext>
            </a:extLst>
          </p:cNvPr>
          <p:cNvSpPr txBox="1"/>
          <p:nvPr/>
        </p:nvSpPr>
        <p:spPr>
          <a:xfrm>
            <a:off x="6286499" y="935831"/>
            <a:ext cx="5743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b="1" dirty="0"/>
              <a:t>3 </a:t>
            </a:r>
            <a:r>
              <a:rPr lang="zh-CN" altLang="en-US" b="1" dirty="0"/>
              <a:t>时序跟踪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用连续帧之间的 </a:t>
            </a:r>
            <a:r>
              <a:rPr lang="en-US" altLang="zh-CN" b="1" dirty="0"/>
              <a:t>3D </a:t>
            </a:r>
            <a:r>
              <a:rPr lang="zh-CN" altLang="en-US" b="1" dirty="0"/>
              <a:t>位置距离匹配同一工人或物体可在短暂遮挡时保持身份连续。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6C5E9F-D3F2-B038-64DD-F1FA0FEF4ABD}"/>
              </a:ext>
            </a:extLst>
          </p:cNvPr>
          <p:cNvSpPr txBox="1"/>
          <p:nvPr/>
        </p:nvSpPr>
        <p:spPr>
          <a:xfrm>
            <a:off x="371474" y="1064418"/>
            <a:ext cx="5743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b="1" dirty="0"/>
              <a:t>2 </a:t>
            </a:r>
            <a:r>
              <a:rPr lang="zh-CN" altLang="en-US" b="1" dirty="0"/>
              <a:t>跨视角匹配通过对极几何 </a:t>
            </a:r>
            <a:r>
              <a:rPr lang="en-US" altLang="zh-CN" b="1" dirty="0"/>
              <a:t>Epipolar Geometry </a:t>
            </a:r>
            <a:r>
              <a:rPr lang="zh-CN" altLang="en-US" b="1" dirty="0"/>
              <a:t>计算不同视角中相同工人或物体的对应关系；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使用二分图匹配 </a:t>
            </a:r>
            <a:r>
              <a:rPr lang="en-US" altLang="zh-CN" b="1" dirty="0"/>
              <a:t>Bipartite Matching </a:t>
            </a:r>
            <a:r>
              <a:rPr lang="zh-CN" altLang="en-US" b="1" dirty="0"/>
              <a:t>来确认同一实体；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zh-CN" altLang="en-US" b="1" dirty="0"/>
              <a:t>再通过三角化 得到</a:t>
            </a:r>
            <a:r>
              <a:rPr lang="en-US" altLang="zh-CN" b="1" dirty="0"/>
              <a:t>3D </a:t>
            </a:r>
            <a:r>
              <a:rPr lang="zh-CN" altLang="en-US" b="1" dirty="0"/>
              <a:t>坐标。</a:t>
            </a:r>
          </a:p>
        </p:txBody>
      </p:sp>
    </p:spTree>
    <p:extLst>
      <p:ext uri="{BB962C8B-B14F-4D97-AF65-F5344CB8AC3E}">
        <p14:creationId xmlns:p14="http://schemas.microsoft.com/office/powerpoint/2010/main" val="359394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6AC7-12BF-9B7B-81BE-917F267F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73F395B-DA1A-2119-9709-CAA2AA4AA1FA}"/>
              </a:ext>
            </a:extLst>
          </p:cNvPr>
          <p:cNvSpPr/>
          <p:nvPr/>
        </p:nvSpPr>
        <p:spPr>
          <a:xfrm rot="10800000" flipV="1">
            <a:off x="203906" y="177155"/>
            <a:ext cx="2882193" cy="530077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多视角</a:t>
            </a:r>
            <a:r>
              <a:rPr lang="en-US" altLang="zh-CN" sz="2400" dirty="0"/>
              <a:t>3D</a:t>
            </a:r>
            <a:r>
              <a:rPr lang="zh-CN" altLang="en-US" sz="2400" dirty="0"/>
              <a:t>空间理解</a:t>
            </a:r>
            <a:endParaRPr lang="zh-CN" altLang="zh-CN" sz="24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63C170-0760-25DC-29A8-4558ADA5D178}"/>
              </a:ext>
            </a:extLst>
          </p:cNvPr>
          <p:cNvSpPr txBox="1"/>
          <p:nvPr/>
        </p:nvSpPr>
        <p:spPr>
          <a:xfrm>
            <a:off x="371474" y="1064418"/>
            <a:ext cx="574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b="1" dirty="0"/>
              <a:t>4 </a:t>
            </a:r>
            <a:r>
              <a:rPr lang="zh-CN" altLang="en-US" b="1" dirty="0"/>
              <a:t>合规与违规判断（</a:t>
            </a:r>
            <a:r>
              <a:rPr lang="en-US" altLang="zh-CN" b="1" dirty="0"/>
              <a:t>Compliance Query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07C23FD-210E-04C4-55AA-FE459248C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685749"/>
              </p:ext>
            </p:extLst>
          </p:nvPr>
        </p:nvGraphicFramePr>
        <p:xfrm>
          <a:off x="838199" y="2177416"/>
          <a:ext cx="9434514" cy="18288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4717257">
                  <a:extLst>
                    <a:ext uri="{9D8B030D-6E8A-4147-A177-3AD203B41FA5}">
                      <a16:colId xmlns:a16="http://schemas.microsoft.com/office/drawing/2014/main" val="1657432017"/>
                    </a:ext>
                  </a:extLst>
                </a:gridCol>
                <a:gridCol w="4717257">
                  <a:extLst>
                    <a:ext uri="{9D8B030D-6E8A-4147-A177-3AD203B41FA5}">
                      <a16:colId xmlns:a16="http://schemas.microsoft.com/office/drawing/2014/main" val="480677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违规类型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几何规则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802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未戴安全帽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‖W_neck − O_hat‖ &gt; </a:t>
                      </a:r>
                      <a:r>
                        <a:rPr lang="el-GR" dirty="0"/>
                        <a:t>τ₁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896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梯子无人扶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‖W_torso − O_ladder‖ &gt; </a:t>
                      </a:r>
                      <a:r>
                        <a:rPr lang="el-GR" dirty="0"/>
                        <a:t>τ₃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5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窗户单人搬运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仅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名工人满足 </a:t>
                      </a:r>
                      <a:r>
                        <a:rPr lang="en-US" altLang="zh-CN" dirty="0"/>
                        <a:t>‖</a:t>
                      </a:r>
                      <a:r>
                        <a:rPr lang="en-US" dirty="0"/>
                        <a:t>W_torso − O_window‖ &lt; </a:t>
                      </a:r>
                      <a:r>
                        <a:rPr lang="el-GR" dirty="0"/>
                        <a:t>τ₄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593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平台双人作业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两人同时 </a:t>
                      </a:r>
                      <a:r>
                        <a:rPr lang="en-US" altLang="zh-CN" dirty="0"/>
                        <a:t>‖</a:t>
                      </a:r>
                      <a:r>
                        <a:rPr lang="en-US" dirty="0"/>
                        <a:t>W_feet − O_platform‖ &lt; </a:t>
                      </a:r>
                      <a:r>
                        <a:rPr lang="el-GR" dirty="0"/>
                        <a:t>τ₂ → </a:t>
                      </a:r>
                      <a:r>
                        <a:rPr lang="zh-CN" altLang="en-US" dirty="0"/>
                        <a:t>违规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6357598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D20EB6E-6446-F447-D2A9-C7860CC27FD8}"/>
              </a:ext>
            </a:extLst>
          </p:cNvPr>
          <p:cNvSpPr txBox="1"/>
          <p:nvPr/>
        </p:nvSpPr>
        <p:spPr>
          <a:xfrm>
            <a:off x="3643312" y="1685925"/>
            <a:ext cx="5050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基于 </a:t>
            </a:r>
            <a:r>
              <a:rPr lang="en-US" altLang="zh-CN" b="1" dirty="0"/>
              <a:t>L2 </a:t>
            </a:r>
            <a:r>
              <a:rPr lang="zh-CN" altLang="en-US" b="1" dirty="0"/>
              <a:t>距离阈值 </a:t>
            </a:r>
            <a:r>
              <a:rPr lang="el-GR" altLang="zh-CN" b="1" dirty="0"/>
              <a:t>τ₁–τ₄ </a:t>
            </a:r>
            <a:r>
              <a:rPr lang="zh-CN" altLang="en-US" b="1" dirty="0"/>
              <a:t>定义四种违规场景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8827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B021B-F350-10F2-5EF8-47B42C0E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5D0ACC6-ECA3-DEA8-C442-3DF289FC2879}"/>
              </a:ext>
            </a:extLst>
          </p:cNvPr>
          <p:cNvSpPr/>
          <p:nvPr/>
        </p:nvSpPr>
        <p:spPr>
          <a:xfrm rot="10800000" flipV="1">
            <a:off x="203906" y="177155"/>
            <a:ext cx="1810632" cy="551508"/>
          </a:xfrm>
          <a:prstGeom prst="roundRect">
            <a:avLst>
              <a:gd name="adj" fmla="val 12755"/>
            </a:avLst>
          </a:prstGeom>
          <a:solidFill>
            <a:srgbClr val="2E75B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实验</a:t>
            </a:r>
            <a:endParaRPr lang="zh-CN" altLang="zh-CN" sz="2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F8974F-7B18-77BC-DEC8-378F6A28D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1" y="998561"/>
            <a:ext cx="11294269" cy="295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2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1119</Words>
  <Application>Microsoft Office PowerPoint</Application>
  <PresentationFormat>宽屏</PresentationFormat>
  <Paragraphs>107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荣臻 王</dc:creator>
  <cp:lastModifiedBy>荣臻 王</cp:lastModifiedBy>
  <cp:revision>5</cp:revision>
  <dcterms:created xsi:type="dcterms:W3CDTF">2025-05-08T02:56:12Z</dcterms:created>
  <dcterms:modified xsi:type="dcterms:W3CDTF">2025-10-30T10:24:39Z</dcterms:modified>
</cp:coreProperties>
</file>