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png"/><Relationship Id="rId10" Type="http://schemas.openxmlformats.org/officeDocument/2006/relationships/image" Target="../media/image14.jp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jpg"/><Relationship Id="rId14" Type="http://schemas.openxmlformats.org/officeDocument/2006/relationships/image" Target="../media/image18.jpg"/><Relationship Id="rId15" Type="http://schemas.openxmlformats.org/officeDocument/2006/relationships/image" Target="../media/image19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17800"/>
            <a:ext cx="17475200" cy="7035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3300" y="876300"/>
            <a:ext cx="3009900" cy="6096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2800" y="876300"/>
            <a:ext cx="2413000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52000" y="876300"/>
            <a:ext cx="2413000" cy="609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41200" y="863600"/>
            <a:ext cx="1778000" cy="622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18033" y="3693583"/>
            <a:ext cx="3004184" cy="66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3146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400" y="5245100"/>
            <a:ext cx="5651500" cy="2425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5676900"/>
            <a:ext cx="1168400" cy="1270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600" y="6311900"/>
            <a:ext cx="1485900" cy="4191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41300" y="6629400"/>
            <a:ext cx="355600" cy="1143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88900" y="4381500"/>
            <a:ext cx="1193800" cy="13589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0900" y="685800"/>
            <a:ext cx="3302000" cy="4953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309600" y="7835900"/>
            <a:ext cx="241300" cy="7493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88200" y="6299200"/>
            <a:ext cx="787400" cy="4318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1400" y="3086100"/>
            <a:ext cx="5791200" cy="2540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157200" y="7759700"/>
            <a:ext cx="825500" cy="5969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373100" y="6578600"/>
            <a:ext cx="508000" cy="3048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41400" y="2743200"/>
            <a:ext cx="5791200" cy="2540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41400" y="3441700"/>
            <a:ext cx="5638800" cy="27940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642600" y="2743200"/>
            <a:ext cx="5664200" cy="2730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146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146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146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1428" y="719638"/>
            <a:ext cx="13512800" cy="1157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3146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png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pn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jp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jp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jp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73553" y="6201833"/>
            <a:ext cx="66040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85">
                <a:solidFill>
                  <a:srgbClr val="3A3A3A"/>
                </a:solidFill>
                <a:latin typeface="Lucida Sans Unicode"/>
                <a:cs typeface="Lucida Sans Unicode"/>
              </a:rPr>
              <a:t>NLP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03790" y="6201833"/>
            <a:ext cx="438784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365">
                <a:solidFill>
                  <a:srgbClr val="424242"/>
                </a:solidFill>
                <a:latin typeface="Lucida Sans Unicode"/>
                <a:cs typeface="Lucida Sans Unicode"/>
              </a:rPr>
              <a:t>CV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85483" y="2844800"/>
            <a:ext cx="577977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00"/>
              </a:lnSpc>
              <a:spcBef>
                <a:spcPts val="100"/>
              </a:spcBef>
              <a:tabLst>
                <a:tab pos="2904490" algn="l"/>
              </a:tabLst>
            </a:pPr>
            <a:r>
              <a:rPr dirty="0" sz="3750" spc="-650">
                <a:solidFill>
                  <a:srgbClr val="000000"/>
                </a:solidFill>
                <a:latin typeface="Lucida Sans Unicode"/>
                <a:cs typeface="Lucida Sans Unicode"/>
              </a:rPr>
              <a:t>RašžVBAfiD,</a:t>
            </a:r>
            <a:r>
              <a:rPr dirty="0" sz="3750" spc="25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490">
                <a:solidFill>
                  <a:srgbClr val="000000"/>
                </a:solidFill>
                <a:latin typeface="Lucida Sans Unicode"/>
                <a:cs typeface="Lucida Sans Unicode"/>
              </a:rPr>
              <a:t>ï</a:t>
            </a:r>
            <a:r>
              <a:rPr dirty="0" sz="3750" spc="33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735">
                <a:solidFill>
                  <a:srgbClr val="000000"/>
                </a:solidFill>
                <a:latin typeface="Lucida Sans Unicode"/>
                <a:cs typeface="Lucida Sans Unicode"/>
              </a:rPr>
              <a:t>łs</a:t>
            </a:r>
            <a:r>
              <a:rPr dirty="0" sz="37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3750" spc="-720">
                <a:solidFill>
                  <a:srgbClr val="000000"/>
                </a:solidFill>
                <a:latin typeface="Lucida Sans Unicode"/>
                <a:cs typeface="Lucida Sans Unicode"/>
              </a:rPr>
              <a:t>tøA1P•NRP17a</a:t>
            </a:r>
            <a:endParaRPr sz="3750">
              <a:latin typeface="Lucida Sans Unicode"/>
              <a:cs typeface="Lucida Sans Unicode"/>
            </a:endParaRPr>
          </a:p>
          <a:p>
            <a:pPr marL="38100">
              <a:lnSpc>
                <a:spcPts val="3600"/>
              </a:lnSpc>
            </a:pPr>
            <a:r>
              <a:rPr dirty="0" sz="3750" spc="-430">
                <a:solidFill>
                  <a:srgbClr val="000000"/>
                </a:solidFill>
                <a:latin typeface="Lucida Sans Unicode"/>
                <a:cs typeface="Lucida Sans Unicode"/>
              </a:rPr>
              <a:t>¥.</a:t>
            </a:r>
            <a:r>
              <a:rPr dirty="0" sz="3750" spc="-73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265">
                <a:solidFill>
                  <a:srgbClr val="000000"/>
                </a:solidFill>
                <a:latin typeface="Lucida Sans Unicode"/>
                <a:cs typeface="Lucida Sans Unicode"/>
              </a:rPr>
              <a:t>6</a:t>
            </a:r>
            <a:r>
              <a:rPr dirty="0" sz="3750" spc="27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450">
                <a:solidFill>
                  <a:srgbClr val="000000"/>
                </a:solidFill>
                <a:latin typeface="Lucida Sans Unicode"/>
                <a:cs typeface="Lucida Sans Unicode"/>
              </a:rPr>
              <a:t>.mskea&amp;AP,</a:t>
            </a:r>
            <a:r>
              <a:rPr dirty="0" sz="3750" spc="27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560">
                <a:solidFill>
                  <a:srgbClr val="000000"/>
                </a:solidFill>
                <a:latin typeface="Lucida Sans Unicode"/>
                <a:cs typeface="Lucida Sans Unicode"/>
              </a:rPr>
              <a:t>Ł</a:t>
            </a:r>
            <a:r>
              <a:rPr dirty="0" sz="3750" spc="28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844">
                <a:solidFill>
                  <a:srgbClr val="000000"/>
                </a:solidFill>
                <a:latin typeface="Lucida Sans Unicode"/>
                <a:cs typeface="Lucida Sans Unicode"/>
              </a:rPr>
              <a:t>tż›säż</a:t>
            </a:r>
            <a:r>
              <a:rPr dirty="0" sz="3750" spc="32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625">
                <a:solidFill>
                  <a:srgbClr val="000000"/>
                </a:solidFill>
                <a:latin typeface="Lucida Sans Unicode"/>
                <a:cs typeface="Lucida Sans Unicode"/>
              </a:rPr>
              <a:t>t7ëtsz6</a:t>
            </a:r>
            <a:endParaRPr sz="3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6769100"/>
            <a:ext cx="6057900" cy="1549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1000" y="3340100"/>
            <a:ext cx="5499100" cy="4140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16000" y="5575300"/>
            <a:ext cx="2679700" cy="203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7900" y="825500"/>
            <a:ext cx="2057400" cy="533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987800"/>
            <a:ext cx="5842000" cy="330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0600" y="3492500"/>
            <a:ext cx="5842000" cy="33655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600" y="5702300"/>
            <a:ext cx="4495800" cy="330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80373" y="727427"/>
            <a:ext cx="13367385" cy="11366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795780">
              <a:lnSpc>
                <a:spcPts val="5620"/>
              </a:lnSpc>
              <a:spcBef>
                <a:spcPts val="120"/>
              </a:spcBef>
              <a:tabLst>
                <a:tab pos="2584450" algn="l"/>
              </a:tabLst>
            </a:pPr>
            <a:r>
              <a:rPr dirty="0" sz="4700" spc="-535">
                <a:solidFill>
                  <a:srgbClr val="000000"/>
                </a:solidFill>
                <a:latin typeface="Cambria"/>
                <a:cs typeface="Cambria"/>
              </a:rPr>
              <a:t>z:</a:t>
            </a:r>
            <a:r>
              <a:rPr dirty="0" sz="470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dirty="0" sz="4700" spc="-10">
                <a:solidFill>
                  <a:srgbClr val="000000"/>
                </a:solidFill>
                <a:latin typeface="Cambria"/>
                <a:cs typeface="Cambria"/>
              </a:rPr>
              <a:t>BiféBIM@i!?j2Ié%@%</a:t>
            </a:r>
            <a:endParaRPr sz="4700">
              <a:latin typeface="Cambria"/>
              <a:cs typeface="Cambria"/>
            </a:endParaRPr>
          </a:p>
          <a:p>
            <a:pPr marL="12700">
              <a:lnSpc>
                <a:spcPts val="3100"/>
              </a:lnSpc>
              <a:tabLst>
                <a:tab pos="963294" algn="l"/>
              </a:tabLst>
            </a:pPr>
            <a:r>
              <a:rPr dirty="0" sz="2600">
                <a:solidFill>
                  <a:srgbClr val="444444"/>
                </a:solidFill>
                <a:latin typeface="Cambria"/>
                <a:cs typeface="Cambria"/>
              </a:rPr>
              <a:t>,</a:t>
            </a:r>
            <a:r>
              <a:rPr dirty="0" sz="2600" spc="10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2600" spc="165">
                <a:solidFill>
                  <a:srgbClr val="4D4D4D"/>
                </a:solidFill>
                <a:latin typeface="Cambria"/>
                <a:cs typeface="Cambria"/>
              </a:rPr>
              <a:t>iéA:</a:t>
            </a:r>
            <a:r>
              <a:rPr dirty="0" sz="2600">
                <a:solidFill>
                  <a:srgbClr val="4D4D4D"/>
                </a:solidFill>
                <a:latin typeface="Cambria"/>
                <a:cs typeface="Cambria"/>
              </a:rPr>
              <a:t>	</a:t>
            </a:r>
            <a:r>
              <a:rPr dirty="0" sz="2600" spc="-85">
                <a:solidFill>
                  <a:srgbClr val="3F3F3F"/>
                </a:solidFill>
                <a:latin typeface="Cambria"/>
                <a:cs typeface="Cambria"/>
              </a:rPr>
              <a:t>StructVQA:</a:t>
            </a:r>
            <a:r>
              <a:rPr dirty="0" sz="2600" spc="-6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dirty="0" sz="2600" spc="-40">
                <a:solidFill>
                  <a:srgbClr val="4D4D4D"/>
                </a:solidFill>
                <a:latin typeface="Cambria"/>
                <a:cs typeface="Cambria"/>
              </a:rPr>
              <a:t>A</a:t>
            </a:r>
            <a:r>
              <a:rPr dirty="0" sz="2600" spc="-120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2600" spc="-135">
                <a:solidFill>
                  <a:srgbClr val="414141"/>
                </a:solidFill>
                <a:latin typeface="Cambria"/>
                <a:cs typeface="Cambria"/>
              </a:rPr>
              <a:t>Framework</a:t>
            </a:r>
            <a:r>
              <a:rPr dirty="0" sz="2600" spc="40">
                <a:solidFill>
                  <a:srgbClr val="414141"/>
                </a:solidFill>
                <a:latin typeface="Cambria"/>
                <a:cs typeface="Cambria"/>
              </a:rPr>
              <a:t> </a:t>
            </a:r>
            <a:r>
              <a:rPr dirty="0" sz="2600" spc="-60">
                <a:solidFill>
                  <a:srgbClr val="444444"/>
                </a:solidFill>
                <a:latin typeface="Cambria"/>
                <a:cs typeface="Cambria"/>
              </a:rPr>
              <a:t>for</a:t>
            </a:r>
            <a:r>
              <a:rPr dirty="0" sz="2600" spc="-8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2600" spc="-120">
                <a:solidFill>
                  <a:srgbClr val="464646"/>
                </a:solidFill>
                <a:latin typeface="Cambria"/>
                <a:cs typeface="Cambria"/>
              </a:rPr>
              <a:t>VQA</a:t>
            </a:r>
            <a:r>
              <a:rPr dirty="0" sz="2600" spc="-45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dirty="0" sz="2600" spc="-10">
                <a:solidFill>
                  <a:srgbClr val="444444"/>
                </a:solidFill>
                <a:latin typeface="Cambria"/>
                <a:cs typeface="Cambria"/>
              </a:rPr>
              <a:t>on</a:t>
            </a:r>
            <a:r>
              <a:rPr dirty="0" sz="2600" spc="-13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2600" spc="-85">
                <a:solidFill>
                  <a:srgbClr val="414141"/>
                </a:solidFill>
                <a:latin typeface="Cambria"/>
                <a:cs typeface="Cambria"/>
              </a:rPr>
              <a:t>Building</a:t>
            </a:r>
            <a:r>
              <a:rPr dirty="0" sz="2600" spc="-5">
                <a:solidFill>
                  <a:srgbClr val="414141"/>
                </a:solidFill>
                <a:latin typeface="Cambria"/>
                <a:cs typeface="Cambria"/>
              </a:rPr>
              <a:t> </a:t>
            </a:r>
            <a:r>
              <a:rPr dirty="0" sz="2600" spc="-75">
                <a:solidFill>
                  <a:srgbClr val="383838"/>
                </a:solidFill>
                <a:latin typeface="Cambria"/>
                <a:cs typeface="Cambria"/>
              </a:rPr>
              <a:t>Information</a:t>
            </a:r>
            <a:r>
              <a:rPr dirty="0" sz="2600" spc="-35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2600" spc="-45">
                <a:solidFill>
                  <a:srgbClr val="3F3F3F"/>
                </a:solidFill>
                <a:latin typeface="Cambria"/>
                <a:cs typeface="Cambria"/>
              </a:rPr>
              <a:t>Models,</a:t>
            </a:r>
            <a:r>
              <a:rPr dirty="0" sz="2600" spc="25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dirty="0" sz="2600">
                <a:solidFill>
                  <a:srgbClr val="363636"/>
                </a:solidFill>
                <a:latin typeface="Cambria"/>
                <a:cs typeface="Cambria"/>
              </a:rPr>
              <a:t>fictional</a:t>
            </a:r>
            <a:r>
              <a:rPr dirty="0" sz="2600" spc="-75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2600" spc="-55">
                <a:solidFill>
                  <a:srgbClr val="3B3B3B"/>
                </a:solidFill>
                <a:latin typeface="Cambria"/>
                <a:cs typeface="Cambria"/>
              </a:rPr>
              <a:t>Conference,</a:t>
            </a:r>
            <a:r>
              <a:rPr dirty="0" sz="2600" spc="75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dirty="0" sz="2600" spc="-70">
                <a:solidFill>
                  <a:srgbClr val="3B3B3B"/>
                </a:solidFill>
                <a:latin typeface="Cambria"/>
                <a:cs typeface="Cambria"/>
              </a:rPr>
              <a:t>2023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6502400"/>
            <a:ext cx="5461000" cy="1778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1300" y="3924300"/>
            <a:ext cx="8623300" cy="2971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" y="863600"/>
            <a:ext cx="2057400" cy="508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13200" y="850900"/>
            <a:ext cx="6756400" cy="533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7900" y="3594100"/>
            <a:ext cx="3175000" cy="3429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3300" y="3162300"/>
            <a:ext cx="5537200" cy="3175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600" y="5283200"/>
            <a:ext cx="3149600" cy="3175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09000" y="7112000"/>
            <a:ext cx="2514600" cy="3238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10" rIns="0" bIns="0" rtlCol="0" vert="horz">
            <a:spAutoFit/>
          </a:bodyPr>
          <a:lstStyle/>
          <a:p>
            <a:pPr marL="1927860">
              <a:lnSpc>
                <a:spcPct val="100000"/>
              </a:lnSpc>
              <a:spcBef>
                <a:spcPts val="430"/>
              </a:spcBef>
            </a:pPr>
            <a:r>
              <a:rPr dirty="0" spc="-335"/>
              <a:t>2:</a:t>
            </a:r>
          </a:p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1121410" algn="l"/>
              </a:tabLst>
            </a:pPr>
            <a:r>
              <a:rPr dirty="0" sz="2600" spc="65">
                <a:solidFill>
                  <a:srgbClr val="000000"/>
                </a:solidFill>
              </a:rPr>
              <a:t>C¿€@:</a:t>
            </a:r>
            <a:r>
              <a:rPr dirty="0" sz="2600">
                <a:solidFill>
                  <a:srgbClr val="000000"/>
                </a:solidFill>
              </a:rPr>
              <a:t>	</a:t>
            </a:r>
            <a:r>
              <a:rPr dirty="0" sz="2600" spc="-20">
                <a:solidFill>
                  <a:srgbClr val="000000"/>
                </a:solidFill>
              </a:rPr>
              <a:t>Scan2Text:</a:t>
            </a:r>
            <a:r>
              <a:rPr dirty="0" sz="2600" spc="-80">
                <a:solidFill>
                  <a:srgbClr val="000000"/>
                </a:solidFill>
              </a:rPr>
              <a:t> </a:t>
            </a:r>
            <a:r>
              <a:rPr dirty="0" sz="2600" spc="-35">
                <a:solidFill>
                  <a:srgbClr val="000000"/>
                </a:solidFill>
              </a:rPr>
              <a:t>End-</a:t>
            </a:r>
            <a:r>
              <a:rPr dirty="0" sz="2600">
                <a:solidFill>
                  <a:srgbClr val="000000"/>
                </a:solidFill>
              </a:rPr>
              <a:t>to</a:t>
            </a:r>
            <a:r>
              <a:rPr dirty="0" sz="2600" spc="22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End</a:t>
            </a:r>
            <a:r>
              <a:rPr dirty="0" sz="2600" spc="-60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Scene</a:t>
            </a:r>
            <a:r>
              <a:rPr dirty="0" sz="2600" spc="-65">
                <a:solidFill>
                  <a:srgbClr val="000000"/>
                </a:solidFill>
              </a:rPr>
              <a:t> </a:t>
            </a:r>
            <a:r>
              <a:rPr dirty="0" sz="2600" spc="-10">
                <a:solidFill>
                  <a:srgbClr val="000000"/>
                </a:solidFill>
              </a:rPr>
              <a:t>Description</a:t>
            </a:r>
            <a:r>
              <a:rPr dirty="0" sz="2600" spc="50">
                <a:solidFill>
                  <a:srgbClr val="000000"/>
                </a:solidFill>
              </a:rPr>
              <a:t> </a:t>
            </a:r>
            <a:r>
              <a:rPr dirty="0" sz="2600" spc="-55">
                <a:solidFill>
                  <a:srgbClr val="000000"/>
                </a:solidFill>
              </a:rPr>
              <a:t>for</a:t>
            </a:r>
            <a:r>
              <a:rPr dirty="0" sz="2600" spc="-95">
                <a:solidFill>
                  <a:srgbClr val="000000"/>
                </a:solidFill>
              </a:rPr>
              <a:t> </a:t>
            </a:r>
            <a:r>
              <a:rPr dirty="0" sz="2600" spc="-20">
                <a:solidFill>
                  <a:srgbClr val="000000"/>
                </a:solidFill>
              </a:rPr>
              <a:t>Construction</a:t>
            </a:r>
            <a:r>
              <a:rPr dirty="0" sz="2600" spc="5">
                <a:solidFill>
                  <a:srgbClr val="000000"/>
                </a:solidFill>
              </a:rPr>
              <a:t> </a:t>
            </a:r>
            <a:r>
              <a:rPr dirty="0" sz="2600" spc="-45">
                <a:solidFill>
                  <a:srgbClr val="000000"/>
                </a:solidFill>
              </a:rPr>
              <a:t>Monitoring,</a:t>
            </a:r>
            <a:r>
              <a:rPr dirty="0" sz="2600" spc="110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Fictional</a:t>
            </a:r>
            <a:r>
              <a:rPr dirty="0" sz="2600" spc="-80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Journal,</a:t>
            </a:r>
            <a:r>
              <a:rPr dirty="0" sz="2600" spc="-90">
                <a:solidFill>
                  <a:srgbClr val="000000"/>
                </a:solidFill>
              </a:rPr>
              <a:t> </a:t>
            </a:r>
            <a:r>
              <a:rPr dirty="0" sz="2600" spc="-20">
                <a:solidFill>
                  <a:srgbClr val="000000"/>
                </a:solidFill>
              </a:rPr>
              <a:t>2024</a:t>
            </a:r>
            <a:endParaRPr sz="2600"/>
          </a:p>
        </p:txBody>
      </p:sp>
      <p:sp>
        <p:nvSpPr>
          <p:cNvPr id="11" name="object 11" descr="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00">
                <a:latin typeface="Calibri"/>
                <a:cs typeface="Calibri"/>
              </a:rPr>
              <a:t> 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37235" y="3728861"/>
            <a:ext cx="2348865" cy="618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850" spc="-215">
                <a:latin typeface="Lucida Sans Unicode"/>
                <a:cs typeface="Lucida Sans Unicode"/>
              </a:rPr>
              <a:t>(The</a:t>
            </a:r>
            <a:r>
              <a:rPr dirty="0" sz="3850" spc="-240">
                <a:latin typeface="Lucida Sans Unicode"/>
                <a:cs typeface="Lucida Sans Unicode"/>
              </a:rPr>
              <a:t> </a:t>
            </a:r>
            <a:r>
              <a:rPr dirty="0" sz="3850" spc="-105">
                <a:latin typeface="Lucida Sans Unicode"/>
                <a:cs typeface="Lucida Sans Unicode"/>
              </a:rPr>
              <a:t>What)</a:t>
            </a:r>
            <a:endParaRPr sz="385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912537" y="5173133"/>
            <a:ext cx="3619500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 spc="114">
                <a:solidFill>
                  <a:srgbClr val="CAAE87"/>
                </a:solidFill>
                <a:latin typeface="Calibri"/>
                <a:cs typeface="Calibri"/>
              </a:rPr>
              <a:t>(Lack</a:t>
            </a:r>
            <a:r>
              <a:rPr dirty="0" sz="4150" spc="80">
                <a:solidFill>
                  <a:srgbClr val="CAAE87"/>
                </a:solidFill>
                <a:latin typeface="Calibri"/>
                <a:cs typeface="Calibri"/>
              </a:rPr>
              <a:t> </a:t>
            </a:r>
            <a:r>
              <a:rPr dirty="0" sz="4150">
                <a:solidFill>
                  <a:srgbClr val="CDAC7E"/>
                </a:solidFill>
                <a:latin typeface="Calibri"/>
                <a:cs typeface="Calibri"/>
              </a:rPr>
              <a:t>of</a:t>
            </a:r>
            <a:r>
              <a:rPr dirty="0" sz="4150" spc="-195">
                <a:solidFill>
                  <a:srgbClr val="CDAC7E"/>
                </a:solidFill>
                <a:latin typeface="Calibri"/>
                <a:cs typeface="Calibri"/>
              </a:rPr>
              <a:t> </a:t>
            </a:r>
            <a:r>
              <a:rPr dirty="0" sz="4150" spc="-10">
                <a:solidFill>
                  <a:srgbClr val="CDAC80"/>
                </a:solidFill>
                <a:latin typeface="Calibri"/>
                <a:cs typeface="Calibri"/>
              </a:rPr>
              <a:t>Agency)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>
                <a:solidFill>
                  <a:srgbClr val="000000"/>
                </a:solidFill>
              </a:rPr>
              <a:t>(The</a:t>
            </a:r>
            <a:r>
              <a:rPr dirty="0" sz="4150" spc="-110">
                <a:solidFill>
                  <a:srgbClr val="000000"/>
                </a:solidFill>
              </a:rPr>
              <a:t> </a:t>
            </a:r>
            <a:r>
              <a:rPr dirty="0" sz="4150" spc="120">
                <a:solidFill>
                  <a:srgbClr val="000000"/>
                </a:solidFill>
              </a:rPr>
              <a:t>So</a:t>
            </a:r>
            <a:r>
              <a:rPr dirty="0" sz="4150" spc="-245">
                <a:solidFill>
                  <a:srgbClr val="000000"/>
                </a:solidFill>
              </a:rPr>
              <a:t> </a:t>
            </a:r>
            <a:r>
              <a:rPr dirty="0" sz="4150" spc="-85">
                <a:solidFill>
                  <a:srgbClr val="000000"/>
                </a:solidFill>
              </a:rPr>
              <a:t>What)</a:t>
            </a:r>
            <a:endParaRPr sz="4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6654800"/>
            <a:ext cx="838200" cy="762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00" y="5448300"/>
            <a:ext cx="673100" cy="762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2600" y="4254500"/>
            <a:ext cx="673100" cy="762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6400" y="3086100"/>
            <a:ext cx="825500" cy="698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1300" y="2882900"/>
            <a:ext cx="11912600" cy="47117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986000" y="6159500"/>
            <a:ext cx="825500" cy="8255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86000" y="3606800"/>
            <a:ext cx="825500" cy="7493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29200" y="939800"/>
            <a:ext cx="7404100" cy="5969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98700" y="4826000"/>
            <a:ext cx="660400" cy="850900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066800" y="4495800"/>
            <a:ext cx="279400" cy="901700"/>
            <a:chOff x="1066800" y="4495800"/>
            <a:chExt cx="279400" cy="901700"/>
          </a:xfrm>
        </p:grpSpPr>
        <p:pic>
          <p:nvPicPr>
            <p:cNvPr id="12" name="object 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6800" y="4495800"/>
              <a:ext cx="279400" cy="5969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6800" y="5118100"/>
              <a:ext cx="279400" cy="279400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129000" y="5435600"/>
            <a:ext cx="279400" cy="2667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154400" y="5740400"/>
            <a:ext cx="241300" cy="2794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79500" y="5753100"/>
            <a:ext cx="266700" cy="26670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066800" y="4495800"/>
            <a:ext cx="279400" cy="901700"/>
            <a:chOff x="1066800" y="4495800"/>
            <a:chExt cx="279400" cy="901700"/>
          </a:xfrm>
        </p:grpSpPr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6800" y="4495800"/>
              <a:ext cx="279400" cy="5969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6800" y="5118100"/>
              <a:ext cx="279400" cy="279400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129000" y="4813300"/>
            <a:ext cx="279400" cy="279400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16129000" y="5435600"/>
            <a:ext cx="279400" cy="584200"/>
            <a:chOff x="16129000" y="5435600"/>
            <a:chExt cx="279400" cy="584200"/>
          </a:xfrm>
        </p:grpSpPr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29000" y="5435600"/>
              <a:ext cx="279400" cy="26670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154400" y="5740400"/>
              <a:ext cx="241300" cy="279400"/>
            </a:xfrm>
            <a:prstGeom prst="rect">
              <a:avLst/>
            </a:prstGeom>
          </p:spPr>
        </p:pic>
      </p:grpSp>
      <p:pic>
        <p:nvPicPr>
          <p:cNvPr id="24" name="object 2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66800" y="5435600"/>
            <a:ext cx="279400" cy="27940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129000" y="5118100"/>
            <a:ext cx="279400" cy="279400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3848823" y="4885266"/>
            <a:ext cx="2453005" cy="93980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2065" marR="5080">
              <a:lnSpc>
                <a:spcPts val="2350"/>
              </a:lnSpc>
              <a:spcBef>
                <a:spcPts val="300"/>
              </a:spcBef>
            </a:pPr>
            <a:r>
              <a:rPr dirty="0" sz="2050" spc="-235">
                <a:latin typeface="Lucida Sans Unicode"/>
                <a:cs typeface="Lucida Sans Unicode"/>
              </a:rPr>
              <a:t>Fuses</a:t>
            </a:r>
            <a:r>
              <a:rPr dirty="0" sz="2050" spc="-245">
                <a:latin typeface="Lucida Sans Unicode"/>
                <a:cs typeface="Lucida Sans Unicode"/>
              </a:rPr>
              <a:t> </a:t>
            </a:r>
            <a:r>
              <a:rPr dirty="0" sz="2050" spc="-250">
                <a:latin typeface="Lucida Sans Unicode"/>
                <a:cs typeface="Lucida Sans Unicode"/>
              </a:rPr>
              <a:t>and</a:t>
            </a:r>
            <a:r>
              <a:rPr dirty="0" sz="2050" spc="-210">
                <a:latin typeface="Lucida Sans Unicode"/>
                <a:cs typeface="Lucida Sans Unicode"/>
              </a:rPr>
              <a:t> </a:t>
            </a:r>
            <a:r>
              <a:rPr dirty="0" sz="2050" spc="-265">
                <a:latin typeface="Lucida Sans Unicode"/>
                <a:cs typeface="Lucida Sans Unicode"/>
              </a:rPr>
              <a:t>embeds</a:t>
            </a:r>
            <a:r>
              <a:rPr dirty="0" sz="2050" spc="-204">
                <a:latin typeface="Lucida Sans Unicode"/>
                <a:cs typeface="Lucida Sans Unicode"/>
              </a:rPr>
              <a:t> </a:t>
            </a:r>
            <a:r>
              <a:rPr dirty="0" sz="2050" spc="-210">
                <a:latin typeface="Lucida Sans Unicode"/>
                <a:cs typeface="Lucida Sans Unicode"/>
              </a:rPr>
              <a:t>input </a:t>
            </a:r>
            <a:r>
              <a:rPr dirty="0" sz="2050" spc="-254">
                <a:latin typeface="Lucida Sans Unicode"/>
                <a:cs typeface="Lucida Sans Unicode"/>
              </a:rPr>
              <a:t>data</a:t>
            </a:r>
            <a:r>
              <a:rPr dirty="0" sz="2050" spc="-160">
                <a:latin typeface="Lucida Sans Unicode"/>
                <a:cs typeface="Lucida Sans Unicode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into</a:t>
            </a:r>
            <a:r>
              <a:rPr dirty="0" sz="2050" spc="-204">
                <a:latin typeface="Lucida Sans Unicode"/>
                <a:cs typeface="Lucida Sans Unicode"/>
              </a:rPr>
              <a:t> </a:t>
            </a:r>
            <a:r>
              <a:rPr dirty="0" sz="2050" spc="-254">
                <a:latin typeface="Lucida Sans Unicode"/>
                <a:cs typeface="Lucida Sans Unicode"/>
              </a:rPr>
              <a:t>a</a:t>
            </a:r>
            <a:r>
              <a:rPr dirty="0" sz="2050" spc="-215">
                <a:latin typeface="Lucida Sans Unicode"/>
                <a:cs typeface="Lucida Sans Unicode"/>
              </a:rPr>
              <a:t> </a:t>
            </a:r>
            <a:r>
              <a:rPr dirty="0" sz="2050" spc="-75">
                <a:latin typeface="Lucida Sans Unicode"/>
                <a:cs typeface="Lucida Sans Unicode"/>
              </a:rPr>
              <a:t>unified </a:t>
            </a:r>
            <a:r>
              <a:rPr dirty="0" sz="2050" spc="-140">
                <a:latin typeface="Lucida Sans Unicode"/>
                <a:cs typeface="Lucida Sans Unicode"/>
              </a:rPr>
              <a:t>representation.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059580" y="4885266"/>
            <a:ext cx="2659380" cy="12319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 indent="354965">
              <a:lnSpc>
                <a:spcPct val="91400"/>
              </a:lnSpc>
              <a:spcBef>
                <a:spcPts val="345"/>
              </a:spcBef>
            </a:pPr>
            <a:r>
              <a:rPr dirty="0" sz="2050" spc="-285">
                <a:latin typeface="Lucida Sans Unicode"/>
                <a:cs typeface="Lucida Sans Unicode"/>
              </a:rPr>
              <a:t>Takes</a:t>
            </a:r>
            <a:r>
              <a:rPr dirty="0" sz="2050" spc="-315">
                <a:latin typeface="Lucida Sans Unicode"/>
                <a:cs typeface="Lucida Sans Unicode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the</a:t>
            </a:r>
            <a:r>
              <a:rPr dirty="0" sz="2050" spc="-380">
                <a:latin typeface="Lucida Sans Unicode"/>
                <a:cs typeface="Lucida Sans Unicode"/>
              </a:rPr>
              <a:t> </a:t>
            </a:r>
            <a:r>
              <a:rPr dirty="0" sz="2050" spc="-130">
                <a:latin typeface="Lucida Sans Unicode"/>
                <a:cs typeface="Lucida Sans Unicode"/>
              </a:rPr>
              <a:t>reasoned </a:t>
            </a:r>
            <a:r>
              <a:rPr dirty="0" sz="2150" spc="-290">
                <a:latin typeface="Lucida Sans Unicode"/>
                <a:cs typeface="Lucida Sans Unicode"/>
              </a:rPr>
              <a:t>output</a:t>
            </a:r>
            <a:r>
              <a:rPr dirty="0" sz="2150" spc="-180">
                <a:latin typeface="Lucida Sans Unicode"/>
                <a:cs typeface="Lucida Sans Unicode"/>
              </a:rPr>
              <a:t> </a:t>
            </a:r>
            <a:r>
              <a:rPr dirty="0" sz="2150" spc="-275">
                <a:latin typeface="Lucida Sans Unicode"/>
                <a:cs typeface="Lucida Sans Unicode"/>
              </a:rPr>
              <a:t>and</a:t>
            </a:r>
            <a:r>
              <a:rPr dirty="0" sz="2150" spc="-345">
                <a:latin typeface="Lucida Sans Unicode"/>
                <a:cs typeface="Lucida Sans Unicode"/>
              </a:rPr>
              <a:t> </a:t>
            </a:r>
            <a:r>
              <a:rPr dirty="0" sz="2150" spc="-335">
                <a:latin typeface="Lucida Sans Unicode"/>
                <a:cs typeface="Lucida Sans Unicode"/>
              </a:rPr>
              <a:t>decomposes</a:t>
            </a:r>
            <a:r>
              <a:rPr dirty="0" sz="2150" spc="-175">
                <a:latin typeface="Lucida Sans Unicode"/>
                <a:cs typeface="Lucida Sans Unicode"/>
              </a:rPr>
              <a:t> </a:t>
            </a:r>
            <a:r>
              <a:rPr dirty="0" sz="2150" spc="-25">
                <a:solidFill>
                  <a:srgbClr val="131313"/>
                </a:solidFill>
                <a:latin typeface="Lucida Sans Unicode"/>
                <a:cs typeface="Lucida Sans Unicode"/>
              </a:rPr>
              <a:t>it </a:t>
            </a:r>
            <a:r>
              <a:rPr dirty="0" sz="2150" spc="-245">
                <a:latin typeface="Lucida Sans Unicode"/>
                <a:cs typeface="Lucida Sans Unicode"/>
              </a:rPr>
              <a:t>into</a:t>
            </a:r>
            <a:r>
              <a:rPr dirty="0" sz="2150" spc="-260">
                <a:latin typeface="Lucida Sans Unicode"/>
                <a:cs typeface="Lucida Sans Unicode"/>
              </a:rPr>
              <a:t> </a:t>
            </a:r>
            <a:r>
              <a:rPr dirty="0" sz="2150" spc="-285">
                <a:solidFill>
                  <a:srgbClr val="0E0E0E"/>
                </a:solidFill>
                <a:latin typeface="Lucida Sans Unicode"/>
                <a:cs typeface="Lucida Sans Unicode"/>
              </a:rPr>
              <a:t>a </a:t>
            </a:r>
            <a:r>
              <a:rPr dirty="0" sz="2150" spc="-275">
                <a:latin typeface="Lucida Sans Unicode"/>
                <a:cs typeface="Lucida Sans Unicode"/>
              </a:rPr>
              <a:t>concrete</a:t>
            </a:r>
            <a:r>
              <a:rPr dirty="0" sz="2150" spc="-160">
                <a:latin typeface="Lucida Sans Unicode"/>
                <a:cs typeface="Lucida Sans Unicode"/>
              </a:rPr>
              <a:t> </a:t>
            </a:r>
            <a:r>
              <a:rPr dirty="0" sz="2150" spc="-275">
                <a:latin typeface="Lucida Sans Unicode"/>
                <a:cs typeface="Lucida Sans Unicode"/>
              </a:rPr>
              <a:t>plan</a:t>
            </a:r>
            <a:r>
              <a:rPr dirty="0" sz="2150" spc="-200">
                <a:latin typeface="Lucida Sans Unicode"/>
                <a:cs typeface="Lucida Sans Unicode"/>
              </a:rPr>
              <a:t> </a:t>
            </a:r>
            <a:r>
              <a:rPr dirty="0" sz="2150" spc="-270">
                <a:latin typeface="Lucida Sans Unicode"/>
                <a:cs typeface="Lucida Sans Unicode"/>
              </a:rPr>
              <a:t>or</a:t>
            </a:r>
            <a:r>
              <a:rPr dirty="0" sz="2150" spc="-240">
                <a:latin typeface="Lucida Sans Unicode"/>
                <a:cs typeface="Lucida Sans Unicode"/>
              </a:rPr>
              <a:t> </a:t>
            </a:r>
            <a:r>
              <a:rPr dirty="0" sz="2150" spc="-455">
                <a:latin typeface="Lucida Sans Unicode"/>
                <a:cs typeface="Lucida Sans Unicode"/>
              </a:rPr>
              <a:t>a</a:t>
            </a:r>
            <a:endParaRPr sz="2150">
              <a:latin typeface="Lucida Sans Unicode"/>
              <a:cs typeface="Lucida Sans Unicode"/>
            </a:endParaRPr>
          </a:p>
          <a:p>
            <a:pPr marL="286385">
              <a:lnSpc>
                <a:spcPts val="2280"/>
              </a:lnSpc>
            </a:pPr>
            <a:r>
              <a:rPr dirty="0" sz="2050" spc="-235">
                <a:latin typeface="Lucida Sans Unicode"/>
                <a:cs typeface="Lucida Sans Unicode"/>
              </a:rPr>
              <a:t>sequence</a:t>
            </a:r>
            <a:r>
              <a:rPr dirty="0" sz="2050" spc="-170">
                <a:latin typeface="Lucida Sans Unicode"/>
                <a:cs typeface="Lucida Sans Unicode"/>
              </a:rPr>
              <a:t> </a:t>
            </a:r>
            <a:r>
              <a:rPr dirty="0" sz="2050" spc="-220">
                <a:latin typeface="Lucida Sans Unicode"/>
                <a:cs typeface="Lucida Sans Unicode"/>
              </a:rPr>
              <a:t>of</a:t>
            </a:r>
            <a:r>
              <a:rPr dirty="0" sz="2050" spc="-195">
                <a:latin typeface="Lucida Sans Unicode"/>
                <a:cs typeface="Lucida Sans Unicode"/>
              </a:rPr>
              <a:t> </a:t>
            </a:r>
            <a:r>
              <a:rPr dirty="0" sz="2050" spc="-100">
                <a:latin typeface="Lucida Sans Unicode"/>
                <a:cs typeface="Lucida Sans Unicode"/>
              </a:rPr>
              <a:t>actions.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5057983" y="5022850"/>
            <a:ext cx="2940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343434"/>
                </a:solidFill>
                <a:latin typeface="Lucida Sans Unicode"/>
                <a:cs typeface="Lucida Sans Unicode"/>
              </a:rPr>
              <a:t>BI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3949700"/>
            <a:ext cx="5803900" cy="3111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4400" y="952500"/>
            <a:ext cx="5486400" cy="5969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267200" y="23854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4233">
            <a:solidFill>
              <a:srgbClr val="28282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193800" y="5969000"/>
            <a:ext cx="927100" cy="482600"/>
            <a:chOff x="1193800" y="5969000"/>
            <a:chExt cx="927100" cy="4826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3800" y="5969000"/>
              <a:ext cx="215900" cy="1778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800" y="6184900"/>
              <a:ext cx="927100" cy="266700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98900" y="2260600"/>
            <a:ext cx="1422400" cy="3556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38500" y="3136900"/>
            <a:ext cx="2806700" cy="2921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67000" y="7277100"/>
            <a:ext cx="5156200" cy="9398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66600" y="2260600"/>
            <a:ext cx="1422400" cy="3556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7300" y="4038600"/>
            <a:ext cx="863600" cy="6096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06500" y="4851400"/>
            <a:ext cx="914400" cy="4699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93800" y="6616700"/>
            <a:ext cx="927100" cy="52070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540635" y="3518605"/>
            <a:ext cx="59182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20">
                <a:latin typeface="Cambria"/>
                <a:cs typeface="Cambria"/>
              </a:rPr>
              <a:t>100%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66784" y="5510036"/>
            <a:ext cx="46291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55">
                <a:latin typeface="Cambria"/>
                <a:cs typeface="Cambria"/>
              </a:rPr>
              <a:t>40°4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46653" y="8188677"/>
            <a:ext cx="4536440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04595" algn="l"/>
              </a:tabLst>
            </a:pPr>
            <a:r>
              <a:rPr dirty="0" sz="3450" spc="335" i="1">
                <a:latin typeface="Cambria"/>
                <a:cs typeface="Cambria"/>
              </a:rPr>
              <a:t>KSL›</a:t>
            </a:r>
            <a:r>
              <a:rPr dirty="0" sz="3450" i="1">
                <a:latin typeface="Cambria"/>
                <a:cs typeface="Cambria"/>
              </a:rPr>
              <a:t>	</a:t>
            </a:r>
            <a:r>
              <a:rPr dirty="0" sz="3450" spc="-10">
                <a:latin typeface="Cambria"/>
                <a:cs typeface="Cambria"/>
              </a:rPr>
              <a:t>.$0T&amp;ZtXTfPifiXfi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271845" y="3100211"/>
            <a:ext cx="320421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40">
                <a:latin typeface="Calibri"/>
                <a:cs typeface="Calibri"/>
              </a:rPr>
              <a:t>Agent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Chain-</a:t>
            </a:r>
            <a:r>
              <a:rPr dirty="0" sz="2600" spc="-20">
                <a:latin typeface="Calibri"/>
                <a:cs typeface="Calibri"/>
              </a:rPr>
              <a:t>of-</a:t>
            </a:r>
            <a:r>
              <a:rPr dirty="0" sz="2600" spc="-10">
                <a:latin typeface="Calibri"/>
                <a:cs typeface="Calibri"/>
              </a:rPr>
              <a:t>Thought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621404" y="3834694"/>
            <a:ext cx="6184900" cy="319913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92100" indent="-269240">
              <a:lnSpc>
                <a:spcPct val="100000"/>
              </a:lnSpc>
              <a:spcBef>
                <a:spcPts val="705"/>
              </a:spcBef>
              <a:buChar char="&gt;"/>
              <a:tabLst>
                <a:tab pos="292100" algn="l"/>
              </a:tabLst>
            </a:pPr>
            <a:r>
              <a:rPr dirty="0" sz="2200" spc="-300">
                <a:latin typeface="Courier New"/>
                <a:cs typeface="Courier New"/>
              </a:rPr>
              <a:t>GOAL:</a:t>
            </a:r>
            <a:r>
              <a:rPr dirty="0" sz="2200" spc="-215">
                <a:latin typeface="Courier New"/>
                <a:cs typeface="Courier New"/>
              </a:rPr>
              <a:t> </a:t>
            </a:r>
            <a:r>
              <a:rPr dirty="0" sz="2200" spc="-310">
                <a:latin typeface="Courier New"/>
                <a:cs typeface="Courier New"/>
              </a:rPr>
              <a:t>Check</a:t>
            </a:r>
            <a:r>
              <a:rPr dirty="0" sz="2200" spc="-195">
                <a:latin typeface="Courier New"/>
                <a:cs typeface="Courier New"/>
              </a:rPr>
              <a:t> </a:t>
            </a:r>
            <a:r>
              <a:rPr dirty="0" sz="2200" spc="-310">
                <a:latin typeface="Courier New"/>
                <a:cs typeface="Courier New"/>
              </a:rPr>
              <a:t>corridor</a:t>
            </a:r>
            <a:r>
              <a:rPr dirty="0" sz="2200" spc="-80">
                <a:latin typeface="Courier New"/>
                <a:cs typeface="Courier New"/>
              </a:rPr>
              <a:t> </a:t>
            </a:r>
            <a:r>
              <a:rPr dirty="0" sz="2200" spc="-270">
                <a:latin typeface="Courier New"/>
                <a:cs typeface="Courier New"/>
              </a:rPr>
              <a:t>C-</a:t>
            </a:r>
            <a:r>
              <a:rPr dirty="0" sz="2200" spc="-265">
                <a:latin typeface="Courier New"/>
                <a:cs typeface="Courier New"/>
              </a:rPr>
              <a:t>3</a:t>
            </a:r>
            <a:r>
              <a:rPr dirty="0" sz="2200" spc="-415">
                <a:latin typeface="Courier New"/>
                <a:cs typeface="Courier New"/>
              </a:rPr>
              <a:t> </a:t>
            </a:r>
            <a:r>
              <a:rPr dirty="0" sz="2200" spc="-270">
                <a:latin typeface="Courier New"/>
                <a:cs typeface="Courier New"/>
              </a:rPr>
              <a:t>for</a:t>
            </a:r>
            <a:r>
              <a:rPr dirty="0" sz="2200" spc="-235">
                <a:latin typeface="Courier New"/>
                <a:cs typeface="Courier New"/>
              </a:rPr>
              <a:t> </a:t>
            </a:r>
            <a:r>
              <a:rPr dirty="0" sz="2200" spc="-295">
                <a:latin typeface="Courier New"/>
                <a:cs typeface="Courier New"/>
              </a:rPr>
              <a:t>accessibility.</a:t>
            </a:r>
            <a:endParaRPr sz="2200">
              <a:latin typeface="Courier New"/>
              <a:cs typeface="Courier New"/>
            </a:endParaRPr>
          </a:p>
          <a:p>
            <a:pPr marL="28575" marR="28575" indent="-16510">
              <a:lnSpc>
                <a:spcPct val="102299"/>
              </a:lnSpc>
              <a:spcBef>
                <a:spcPts val="550"/>
              </a:spcBef>
              <a:buChar char="&gt;"/>
              <a:tabLst>
                <a:tab pos="28575" algn="l"/>
                <a:tab pos="294005" algn="l"/>
                <a:tab pos="561340" algn="l"/>
                <a:tab pos="1489710" algn="l"/>
                <a:tab pos="1616075" algn="l"/>
                <a:tab pos="1743075" algn="l"/>
                <a:tab pos="2040255" algn="l"/>
                <a:tab pos="2433955" algn="l"/>
                <a:tab pos="2825750" algn="l"/>
                <a:tab pos="2962275" algn="l"/>
                <a:tab pos="3500754" algn="l"/>
                <a:tab pos="4028440" algn="l"/>
                <a:tab pos="4397375" algn="l"/>
                <a:tab pos="5489575" algn="l"/>
              </a:tabLst>
            </a:pPr>
            <a:r>
              <a:rPr dirty="0" sz="2200" spc="-480">
                <a:latin typeface="Lucida Sans Unicode"/>
                <a:cs typeface="Lucida Sans Unicode"/>
              </a:rPr>
              <a:t>	</a:t>
            </a:r>
            <a:r>
              <a:rPr dirty="0" sz="2200" spc="-480">
                <a:latin typeface="Lucida Sans Unicode"/>
                <a:cs typeface="Lucida Sans Unicode"/>
              </a:rPr>
              <a:t>THOUGHT: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50">
                <a:solidFill>
                  <a:srgbClr val="0F0F0F"/>
                </a:solidFill>
                <a:latin typeface="Lucida Sans Unicode"/>
                <a:cs typeface="Lucida Sans Unicode"/>
              </a:rPr>
              <a:t>I</a:t>
            </a:r>
            <a:r>
              <a:rPr dirty="0" sz="2200">
                <a:solidFill>
                  <a:srgbClr val="0F0F0F"/>
                </a:solidFill>
                <a:latin typeface="Lucida Sans Unicode"/>
                <a:cs typeface="Lucida Sans Unicode"/>
              </a:rPr>
              <a:t>		</a:t>
            </a:r>
            <a:r>
              <a:rPr dirty="0" sz="2200" spc="-275">
                <a:latin typeface="Lucida Sans Unicode"/>
                <a:cs typeface="Lucida Sans Unicode"/>
              </a:rPr>
              <a:t>need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25">
                <a:latin typeface="Lucida Sans Unicode"/>
                <a:cs typeface="Lucida Sans Unicode"/>
              </a:rPr>
              <a:t>to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20">
                <a:latin typeface="Lucida Sans Unicode"/>
                <a:cs typeface="Lucida Sans Unicode"/>
              </a:rPr>
              <a:t>find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25">
                <a:latin typeface="Lucida Sans Unicode"/>
                <a:cs typeface="Lucida Sans Unicode"/>
              </a:rPr>
              <a:t>the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10">
                <a:latin typeface="Lucida Sans Unicode"/>
                <a:cs typeface="Lucida Sans Unicode"/>
              </a:rPr>
              <a:t>corridor's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160">
                <a:latin typeface="Lucida Sans Unicode"/>
                <a:cs typeface="Lucida Sans Unicode"/>
              </a:rPr>
              <a:t>width </a:t>
            </a:r>
            <a:r>
              <a:rPr dirty="0" sz="2200" spc="-335">
                <a:latin typeface="Lucida Sans Unicode"/>
                <a:cs typeface="Lucida Sans Unicode"/>
              </a:rPr>
              <a:t>and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320">
                <a:latin typeface="Lucida Sans Unicode"/>
                <a:cs typeface="Lucida Sans Unicode"/>
              </a:rPr>
              <a:t>compare</a:t>
            </a:r>
            <a:r>
              <a:rPr dirty="0" sz="2200">
                <a:latin typeface="Lucida Sans Unicode"/>
                <a:cs typeface="Lucida Sans Unicode"/>
              </a:rPr>
              <a:t>		</a:t>
            </a:r>
            <a:r>
              <a:rPr dirty="0" sz="2200" spc="-25">
                <a:latin typeface="Lucida Sans Unicode"/>
                <a:cs typeface="Lucida Sans Unicode"/>
              </a:rPr>
              <a:t>it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25">
                <a:latin typeface="Lucida Sans Unicode"/>
                <a:cs typeface="Lucida Sans Unicode"/>
              </a:rPr>
              <a:t>to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25">
                <a:latin typeface="Lucida Sans Unicode"/>
                <a:cs typeface="Lucida Sans Unicode"/>
              </a:rPr>
              <a:t>the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10">
                <a:latin typeface="Lucida Sans Unicode"/>
                <a:cs typeface="Lucida Sans Unicode"/>
              </a:rPr>
              <a:t>regulation</a:t>
            </a:r>
            <a:r>
              <a:rPr dirty="0" sz="2200">
                <a:latin typeface="Lucida Sans Unicode"/>
                <a:cs typeface="Lucida Sans Unicode"/>
              </a:rPr>
              <a:t>	</a:t>
            </a:r>
            <a:r>
              <a:rPr dirty="0" sz="2200" spc="-370">
                <a:latin typeface="Lucida Sans Unicode"/>
                <a:cs typeface="Lucida Sans Unicode"/>
              </a:rPr>
              <a:t>minimum.</a:t>
            </a:r>
            <a:endParaRPr sz="2200">
              <a:latin typeface="Lucida Sans Unicode"/>
              <a:cs typeface="Lucida Sans Unicode"/>
            </a:endParaRPr>
          </a:p>
          <a:p>
            <a:pPr marL="294640" indent="-271780">
              <a:lnSpc>
                <a:spcPct val="100000"/>
              </a:lnSpc>
              <a:spcBef>
                <a:spcPts val="660"/>
              </a:spcBef>
              <a:buChar char="&gt;"/>
              <a:tabLst>
                <a:tab pos="294640" algn="l"/>
              </a:tabLst>
            </a:pPr>
            <a:r>
              <a:rPr dirty="0" sz="2200" spc="-310">
                <a:latin typeface="Courier New"/>
                <a:cs typeface="Courier New"/>
              </a:rPr>
              <a:t>ACTION:</a:t>
            </a:r>
            <a:r>
              <a:rPr dirty="0" sz="2200" spc="-185">
                <a:latin typeface="Courier New"/>
                <a:cs typeface="Courier New"/>
              </a:rPr>
              <a:t> </a:t>
            </a:r>
            <a:r>
              <a:rPr dirty="0" sz="2200" spc="-285">
                <a:latin typeface="Courier New"/>
                <a:cs typeface="Courier New"/>
              </a:rPr>
              <a:t>QueryBIM(ID="C-3",</a:t>
            </a:r>
            <a:r>
              <a:rPr dirty="0" sz="2200" spc="-200">
                <a:latin typeface="Courier New"/>
                <a:cs typeface="Courier New"/>
              </a:rPr>
              <a:t> </a:t>
            </a:r>
            <a:r>
              <a:rPr dirty="0" sz="2200" spc="-295">
                <a:latin typeface="Courier New"/>
                <a:cs typeface="Courier New"/>
              </a:rPr>
              <a:t>property=”width”)</a:t>
            </a:r>
            <a:endParaRPr sz="2200">
              <a:latin typeface="Courier New"/>
              <a:cs typeface="Courier New"/>
            </a:endParaRPr>
          </a:p>
          <a:p>
            <a:pPr marL="295275" indent="-272415">
              <a:lnSpc>
                <a:spcPct val="100000"/>
              </a:lnSpc>
              <a:spcBef>
                <a:spcPts val="610"/>
              </a:spcBef>
              <a:buChar char="&gt;"/>
              <a:tabLst>
                <a:tab pos="295275" algn="l"/>
              </a:tabLst>
            </a:pPr>
            <a:r>
              <a:rPr dirty="0" sz="2200" spc="-310">
                <a:latin typeface="Courier New"/>
                <a:cs typeface="Courier New"/>
              </a:rPr>
              <a:t>OBSERVATION:</a:t>
            </a:r>
            <a:r>
              <a:rPr dirty="0" sz="2200" spc="-30">
                <a:latin typeface="Courier New"/>
                <a:cs typeface="Courier New"/>
              </a:rPr>
              <a:t> </a:t>
            </a:r>
            <a:r>
              <a:rPr dirty="0" sz="2200" spc="-335">
                <a:latin typeface="Courier New"/>
                <a:cs typeface="Courier New"/>
              </a:rPr>
              <a:t>ll0Bmm</a:t>
            </a:r>
            <a:endParaRPr sz="2200">
              <a:latin typeface="Courier New"/>
              <a:cs typeface="Courier New"/>
            </a:endParaRPr>
          </a:p>
          <a:p>
            <a:pPr marL="29209" marR="34290" indent="-16510">
              <a:lnSpc>
                <a:spcPct val="104700"/>
              </a:lnSpc>
              <a:spcBef>
                <a:spcPts val="535"/>
              </a:spcBef>
              <a:buChar char="&gt;"/>
              <a:tabLst>
                <a:tab pos="29209" algn="l"/>
                <a:tab pos="292735" algn="l"/>
                <a:tab pos="408940" algn="l"/>
                <a:tab pos="1475740" algn="l"/>
                <a:tab pos="1501140" algn="l"/>
                <a:tab pos="2023110" algn="l"/>
                <a:tab pos="2416810" algn="l"/>
                <a:tab pos="2823210" algn="l"/>
                <a:tab pos="3500754" algn="l"/>
                <a:tab pos="5466715" algn="l"/>
              </a:tabLst>
            </a:pPr>
            <a:r>
              <a:rPr dirty="0" sz="2150" spc="-425">
                <a:latin typeface="Lucida Sans Unicode"/>
                <a:cs typeface="Lucida Sans Unicode"/>
              </a:rPr>
              <a:t>	</a:t>
            </a:r>
            <a:r>
              <a:rPr dirty="0" sz="2150" spc="-425">
                <a:latin typeface="Lucida Sans Unicode"/>
                <a:cs typeface="Lucida Sans Unicode"/>
              </a:rPr>
              <a:t>THOUGHT:</a:t>
            </a:r>
            <a:r>
              <a:rPr dirty="0" sz="2150">
                <a:latin typeface="Lucida Sans Unicode"/>
                <a:cs typeface="Lucida Sans Unicode"/>
              </a:rPr>
              <a:t>		</a:t>
            </a:r>
            <a:r>
              <a:rPr dirty="0" sz="2150" spc="-315">
                <a:latin typeface="Lucida Sans Unicode"/>
                <a:cs typeface="Lucida Sans Unicode"/>
              </a:rPr>
              <a:t>The</a:t>
            </a:r>
            <a:r>
              <a:rPr dirty="0" sz="2150">
                <a:latin typeface="Lucida Sans Unicode"/>
                <a:cs typeface="Lucida Sans Unicode"/>
              </a:rPr>
              <a:t>	regulation</a:t>
            </a:r>
            <a:r>
              <a:rPr dirty="0" sz="2150" spc="204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states</a:t>
            </a:r>
            <a:r>
              <a:rPr dirty="0" sz="2150" spc="190">
                <a:latin typeface="Lucida Sans Unicode"/>
                <a:cs typeface="Lucida Sans Unicode"/>
              </a:rPr>
              <a:t> </a:t>
            </a:r>
            <a:r>
              <a:rPr dirty="0" sz="2150" spc="-620">
                <a:latin typeface="Lucida Sans Unicode"/>
                <a:cs typeface="Lucida Sans Unicode"/>
              </a:rPr>
              <a:t>m1n1mum</a:t>
            </a:r>
            <a:r>
              <a:rPr dirty="0" sz="2150">
                <a:latin typeface="Lucida Sans Unicode"/>
                <a:cs typeface="Lucida Sans Unicode"/>
              </a:rPr>
              <a:t>	</a:t>
            </a:r>
            <a:r>
              <a:rPr dirty="0" sz="2150" spc="-190">
                <a:latin typeface="Lucida Sans Unicode"/>
                <a:cs typeface="Lucida Sans Unicode"/>
              </a:rPr>
              <a:t>u1dth </a:t>
            </a:r>
            <a:r>
              <a:rPr dirty="0" sz="2150" spc="-25">
                <a:latin typeface="Lucida Sans Unicode"/>
                <a:cs typeface="Lucida Sans Unicode"/>
              </a:rPr>
              <a:t>is</a:t>
            </a:r>
            <a:r>
              <a:rPr dirty="0" sz="2150">
                <a:latin typeface="Lucida Sans Unicode"/>
                <a:cs typeface="Lucida Sans Unicode"/>
              </a:rPr>
              <a:t>		</a:t>
            </a:r>
            <a:r>
              <a:rPr dirty="0" sz="2150" spc="-480">
                <a:latin typeface="Lucida Sans Unicode"/>
                <a:cs typeface="Lucida Sans Unicode"/>
              </a:rPr>
              <a:t>1208mm.</a:t>
            </a:r>
            <a:r>
              <a:rPr dirty="0" sz="2150">
                <a:latin typeface="Lucida Sans Unicode"/>
                <a:cs typeface="Lucida Sans Unicode"/>
              </a:rPr>
              <a:t>	</a:t>
            </a:r>
            <a:r>
              <a:rPr dirty="0" sz="2150" spc="-570">
                <a:latin typeface="Lucida Sans Unicode"/>
                <a:cs typeface="Lucida Sans Unicode"/>
              </a:rPr>
              <a:t>1108mm</a:t>
            </a:r>
            <a:r>
              <a:rPr dirty="0" sz="2150">
                <a:latin typeface="Lucida Sans Unicode"/>
                <a:cs typeface="Lucida Sans Unicode"/>
              </a:rPr>
              <a:t>	</a:t>
            </a:r>
            <a:r>
              <a:rPr dirty="0" sz="2150" spc="-330">
                <a:latin typeface="Lucida Sans Unicode"/>
                <a:cs typeface="Lucida Sans Unicode"/>
              </a:rPr>
              <a:t>is</a:t>
            </a:r>
            <a:r>
              <a:rPr dirty="0" sz="2150">
                <a:latin typeface="Lucida Sans Unicode"/>
                <a:cs typeface="Lucida Sans Unicode"/>
              </a:rPr>
              <a:t>	</a:t>
            </a:r>
            <a:r>
              <a:rPr dirty="0" sz="2150" spc="-20">
                <a:latin typeface="Lucida Sans Unicode"/>
                <a:cs typeface="Lucida Sans Unicode"/>
              </a:rPr>
              <a:t>less</a:t>
            </a:r>
            <a:r>
              <a:rPr dirty="0" sz="2150">
                <a:latin typeface="Lucida Sans Unicode"/>
                <a:cs typeface="Lucida Sans Unicode"/>
              </a:rPr>
              <a:t>	</a:t>
            </a:r>
            <a:r>
              <a:rPr dirty="0" sz="2150" spc="-85">
                <a:latin typeface="Lucida Sans Unicode"/>
                <a:cs typeface="Lucida Sans Unicode"/>
              </a:rPr>
              <a:t>than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 spc="-465">
                <a:latin typeface="Lucida Sans Unicode"/>
                <a:cs typeface="Lucida Sans Unicode"/>
              </a:rPr>
              <a:t>1280mm.</a:t>
            </a:r>
            <a:endParaRPr sz="2150">
              <a:latin typeface="Lucida Sans Unicode"/>
              <a:cs typeface="Lucida Sans Unicode"/>
            </a:endParaRPr>
          </a:p>
          <a:p>
            <a:pPr marL="296545" indent="-267335">
              <a:lnSpc>
                <a:spcPct val="100000"/>
              </a:lnSpc>
              <a:spcBef>
                <a:spcPts val="720"/>
              </a:spcBef>
              <a:buChar char="&gt;"/>
              <a:tabLst>
                <a:tab pos="296545" algn="l"/>
                <a:tab pos="1896745" algn="l"/>
                <a:tab pos="3090545" algn="l"/>
                <a:tab pos="4022725" algn="l"/>
              </a:tabLst>
            </a:pPr>
            <a:r>
              <a:rPr dirty="0" sz="2150" spc="-10">
                <a:latin typeface="Calibri"/>
                <a:cs typeface="Calibri"/>
              </a:rPr>
              <a:t>COIJCLUSION: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100">
                <a:latin typeface="Calibri"/>
                <a:cs typeface="Calibri"/>
              </a:rPr>
              <a:t>Corridor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100">
                <a:latin typeface="Calibri"/>
                <a:cs typeface="Calibri"/>
              </a:rPr>
              <a:t>C-</a:t>
            </a:r>
            <a:r>
              <a:rPr dirty="0" sz="2150" spc="130">
                <a:latin typeface="Calibri"/>
                <a:cs typeface="Calibri"/>
              </a:rPr>
              <a:t>3</a:t>
            </a:r>
            <a:r>
              <a:rPr dirty="0" sz="2150" spc="500">
                <a:latin typeface="Calibri"/>
                <a:cs typeface="Calibri"/>
              </a:rPr>
              <a:t> </a:t>
            </a:r>
            <a:r>
              <a:rPr dirty="0" sz="2150" spc="55">
                <a:latin typeface="Calibri"/>
                <a:cs typeface="Calibri"/>
              </a:rPr>
              <a:t>is</a:t>
            </a:r>
            <a:r>
              <a:rPr dirty="0" sz="2150">
                <a:latin typeface="Calibri"/>
                <a:cs typeface="Calibri"/>
              </a:rPr>
              <a:t>	non-compliant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412313" y="7784041"/>
            <a:ext cx="6701155" cy="91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 marR="5080" indent="-10160">
              <a:lnSpc>
                <a:spcPct val="108000"/>
              </a:lnSpc>
              <a:spcBef>
                <a:spcPts val="100"/>
              </a:spcBef>
            </a:pPr>
            <a:r>
              <a:rPr dirty="0" sz="2700" spc="-75">
                <a:latin typeface="Cambria"/>
                <a:cs typeface="Cambria"/>
              </a:rPr>
              <a:t>This </a:t>
            </a:r>
            <a:r>
              <a:rPr dirty="0" sz="2700" spc="-114">
                <a:latin typeface="Cambria"/>
                <a:cs typeface="Cambria"/>
              </a:rPr>
              <a:t>qualitative</a:t>
            </a:r>
            <a:r>
              <a:rPr dirty="0" sz="2700" spc="-35">
                <a:latin typeface="Cambria"/>
                <a:cs typeface="Cambria"/>
              </a:rPr>
              <a:t> </a:t>
            </a:r>
            <a:r>
              <a:rPr dirty="0" sz="2700" spc="-70">
                <a:latin typeface="Cambria"/>
                <a:cs typeface="Cambria"/>
              </a:rPr>
              <a:t>example</a:t>
            </a:r>
            <a:r>
              <a:rPr dirty="0" sz="2700" spc="20">
                <a:latin typeface="Cambria"/>
                <a:cs typeface="Cambria"/>
              </a:rPr>
              <a:t> </a:t>
            </a:r>
            <a:r>
              <a:rPr dirty="0" sz="2700" spc="-120">
                <a:latin typeface="Cambria"/>
                <a:cs typeface="Cambria"/>
              </a:rPr>
              <a:t>makes</a:t>
            </a:r>
            <a:r>
              <a:rPr dirty="0" sz="2700" spc="-30">
                <a:latin typeface="Cambria"/>
                <a:cs typeface="Cambria"/>
              </a:rPr>
              <a:t> </a:t>
            </a:r>
            <a:r>
              <a:rPr dirty="0" sz="2700" spc="-80">
                <a:latin typeface="Cambria"/>
                <a:cs typeface="Cambria"/>
              </a:rPr>
              <a:t>the</a:t>
            </a:r>
            <a:r>
              <a:rPr dirty="0" sz="2700" spc="-25">
                <a:latin typeface="Cambria"/>
                <a:cs typeface="Cambria"/>
              </a:rPr>
              <a:t> </a:t>
            </a:r>
            <a:r>
              <a:rPr dirty="0" sz="2700" spc="-10">
                <a:latin typeface="Cambria"/>
                <a:cs typeface="Cambria"/>
              </a:rPr>
              <a:t>agent's </a:t>
            </a:r>
            <a:r>
              <a:rPr dirty="0" sz="2700" spc="-95">
                <a:latin typeface="Cambria"/>
                <a:cs typeface="Cambria"/>
              </a:rPr>
              <a:t>reasoning</a:t>
            </a:r>
            <a:r>
              <a:rPr dirty="0" sz="2700" spc="-55">
                <a:latin typeface="Cambria"/>
                <a:cs typeface="Cambria"/>
              </a:rPr>
              <a:t> </a:t>
            </a:r>
            <a:r>
              <a:rPr dirty="0" sz="2700" spc="-110">
                <a:latin typeface="Cambria"/>
                <a:cs typeface="Cambria"/>
              </a:rPr>
              <a:t>process</a:t>
            </a:r>
            <a:r>
              <a:rPr dirty="0" sz="2700" spc="-40">
                <a:latin typeface="Cambria"/>
                <a:cs typeface="Cambria"/>
              </a:rPr>
              <a:t> </a:t>
            </a:r>
            <a:r>
              <a:rPr dirty="0" sz="2700" spc="-120">
                <a:latin typeface="Cambria"/>
                <a:cs typeface="Cambria"/>
              </a:rPr>
              <a:t>transparent</a:t>
            </a:r>
            <a:r>
              <a:rPr dirty="0" sz="2700" spc="165">
                <a:latin typeface="Cambria"/>
                <a:cs typeface="Cambria"/>
              </a:rPr>
              <a:t> </a:t>
            </a:r>
            <a:r>
              <a:rPr dirty="0" sz="2700" spc="-100">
                <a:latin typeface="Cambria"/>
                <a:cs typeface="Cambria"/>
              </a:rPr>
              <a:t>and</a:t>
            </a:r>
            <a:r>
              <a:rPr dirty="0" sz="2700" spc="-50">
                <a:latin typeface="Cambria"/>
                <a:cs typeface="Cambria"/>
              </a:rPr>
              <a:t> </a:t>
            </a:r>
            <a:r>
              <a:rPr dirty="0" sz="2700" spc="-70">
                <a:latin typeface="Cambria"/>
                <a:cs typeface="Cambria"/>
              </a:rPr>
              <a:t>interpretable.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642412" y="9413522"/>
            <a:ext cx="13589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75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2025-12-25T14:37:17Z</dcterms:created>
  <dcterms:modified xsi:type="dcterms:W3CDTF">2025-12-25T14:37:17Z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2025-12-25T00:00:00Z</vt:filetime>
  </property>
  <property fmtid="{D5CDD505-2E9C-101B-9397-08002B2CF9AE}" pid="3" name="LastSaved">
    <vt:filetime>2025-12-25T00:00:00Z</vt:filetime>
  </property>
</Properties>
</file>