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62" r:id="rId2"/>
    <p:sldId id="272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主题样式 1 - 强调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主题样式 1 - 强调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主题样式 1 - 强调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主题样式 1 - 强调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8762" autoAdjust="0"/>
  </p:normalViewPr>
  <p:slideViewPr>
    <p:cSldViewPr snapToGrid="0">
      <p:cViewPr varScale="1">
        <p:scale>
          <a:sx n="99" d="100"/>
          <a:sy n="99" d="100"/>
        </p:scale>
        <p:origin x="284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790646-AADF-4862-98F6-4577E6F15E7A}" type="datetimeFigureOut">
              <a:rPr lang="zh-CN" altLang="en-US" smtClean="0"/>
              <a:t>2025/10/9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2ACBED-D150-446B-8DD3-8D2427C9799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49916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2ACBED-D150-446B-8DD3-8D2427C97991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24106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3F1B49-ED87-E58C-6BF3-C4A995623F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09D47DC-84E1-BFE5-6FDA-8B39C2E854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2B6A695-4957-653B-90F6-C39974672F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B219E-4E2F-4EDE-9F6F-BA03EAE93585}" type="datetimeFigureOut">
              <a:rPr lang="zh-CN" altLang="en-US" smtClean="0"/>
              <a:t>2025/10/9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3E5D043-F678-CE05-0C72-79072B490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8BE6A0A-D69F-199B-4921-80D4189817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572E3-C90E-40DC-937F-4A200CFE7F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5337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55A58B-6391-3669-E785-F49670284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4790769-86D7-9715-305C-4AEF5B8671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88BE63A-4BD1-372C-9456-33BC134C1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B219E-4E2F-4EDE-9F6F-BA03EAE93585}" type="datetimeFigureOut">
              <a:rPr lang="zh-CN" altLang="en-US" smtClean="0"/>
              <a:t>2025/10/9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FE87CA5-9680-EC2A-5086-846B2F0115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043713A-B346-F359-C2C7-042B9FC25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572E3-C90E-40DC-937F-4A200CFE7F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96146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36E2C0-2929-BAAE-AA4C-BA3DC80B26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302965A-133D-9A53-EE04-D43FC6C417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E524D09-496D-EA7E-0BA1-22265483C7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B219E-4E2F-4EDE-9F6F-BA03EAE93585}" type="datetimeFigureOut">
              <a:rPr lang="zh-CN" altLang="en-US" smtClean="0"/>
              <a:t>2025/10/9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E165EF3-74DB-7AC0-0A54-57689DB95F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E3A9B35-6000-864A-6F38-10668C16C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572E3-C90E-40DC-937F-4A200CFE7F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2648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33B7E7-2C81-DFDB-5B08-2BBE1189C2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C5EEEE5-73B9-E4A0-B8E3-AABADDEF387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2DBBBEC-76B8-4830-A508-1812E6673C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822A09E-A5FD-5F76-5621-FF13DA9D77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B219E-4E2F-4EDE-9F6F-BA03EAE93585}" type="datetimeFigureOut">
              <a:rPr lang="zh-CN" altLang="en-US" smtClean="0"/>
              <a:t>2025/10/9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91F620B-A4F8-8EEF-D030-C8556835C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2CFD1B4-7B43-3D95-28AC-A7110262F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572E3-C90E-40DC-937F-4A200CFE7F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50933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7384D1-287C-61F0-68A2-5CA5BA207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7859991-DA92-A072-54DD-84FFAD03D6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CB8E278-6480-FE64-C1AE-0D9AF04AA1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01AA2C2-B4FC-BC5F-927D-59DD712CE3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27B7ADC-E8AD-6595-AC3B-4CC589B9D0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2DC986D-1275-3060-107B-B82FDFC84B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B219E-4E2F-4EDE-9F6F-BA03EAE93585}" type="datetimeFigureOut">
              <a:rPr lang="zh-CN" altLang="en-US" smtClean="0"/>
              <a:t>2025/10/9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8BFBE38-1E80-901B-1359-9C8651A55A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4CA1ACE-C135-A848-1228-3498A3196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572E3-C90E-40DC-937F-4A200CFE7F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79189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2915E2-6B5D-7EE3-29A5-DB4DB21ABD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76AAC36-CEA3-C1A7-645C-F4CCB2439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B219E-4E2F-4EDE-9F6F-BA03EAE93585}" type="datetimeFigureOut">
              <a:rPr lang="zh-CN" altLang="en-US" smtClean="0"/>
              <a:t>2025/10/9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DA13DDB-3E3B-F07C-4B9E-7545A6A96E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CC4F073-88F8-8482-E00C-8887B186E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572E3-C90E-40DC-937F-4A200CFE7F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16814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0EE04A1-AF73-0F6F-4837-D676B8FC8F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B219E-4E2F-4EDE-9F6F-BA03EAE93585}" type="datetimeFigureOut">
              <a:rPr lang="zh-CN" altLang="en-US" smtClean="0"/>
              <a:t>2025/10/9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10A292B-FD4F-3650-0A4D-468CBE7F11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C22E59A-6BCA-922A-FAC8-33DA2C566A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572E3-C90E-40DC-937F-4A200CFE7F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13368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6C2593-DF50-E36A-A024-04B2D1B368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FF9F3D7-1E5E-FECC-9774-C7C61B1B2D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2065CB4-3B65-7A04-B435-3441D011BC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CAD35EF-7C75-329F-2DFA-642AA244BE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B219E-4E2F-4EDE-9F6F-BA03EAE93585}" type="datetimeFigureOut">
              <a:rPr lang="zh-CN" altLang="en-US" smtClean="0"/>
              <a:t>2025/10/9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31C8B46-99E8-E8A2-2CA9-22287D27F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2D1E8B2-2550-D3FC-2F16-FF078EA85D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572E3-C90E-40DC-937F-4A200CFE7F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19048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3E16C9-CD0C-CDC1-1B34-454E1CC204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5740A2F-CA2D-0369-EEA3-69DD9C27479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1E8B25C-10B8-8496-5043-30C1BA64AE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AEDCA45-07BC-9270-DE68-5B64735253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B219E-4E2F-4EDE-9F6F-BA03EAE93585}" type="datetimeFigureOut">
              <a:rPr lang="zh-CN" altLang="en-US" smtClean="0"/>
              <a:t>2025/10/9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80B3CA1-75FC-9827-5524-BDA0BF3A71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508EA56-B204-6395-68B0-668CC0CD5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572E3-C90E-40DC-937F-4A200CFE7F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29722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FC3F43-2EAE-C230-9F24-5585B589FE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84D95B0-2CD0-EDF9-7EAC-1B9411F250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D15ED93-41DC-7D33-3C07-32580E2099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B219E-4E2F-4EDE-9F6F-BA03EAE93585}" type="datetimeFigureOut">
              <a:rPr lang="zh-CN" altLang="en-US" smtClean="0"/>
              <a:t>2025/10/9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57B5D9E-9096-6636-D7E0-B66118260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18F4210-B092-18C4-2809-AE278944F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572E3-C90E-40DC-937F-4A200CFE7F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81817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8763702-FBD7-F8C2-A496-686EFC06C39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12804D7-843C-5E70-78E1-3725235FF4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7BD3E07-9C8E-2EDA-99C1-FC475F8FB5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B219E-4E2F-4EDE-9F6F-BA03EAE93585}" type="datetimeFigureOut">
              <a:rPr lang="zh-CN" altLang="en-US" smtClean="0"/>
              <a:t>2025/10/9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0B97457-AF4E-8CC2-905A-2D1A648D5A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0FDA8BC-68C8-359F-9A76-7ECE6100C9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572E3-C90E-40DC-937F-4A200CFE7F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80933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27BAB3E-0FD3-B3D1-276C-29922A05BA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2CF1F7D-3E33-E9C9-7AEF-8277DA554B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C6E7EBF-42AA-8E8F-63A7-48BBB179CD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BB219E-4E2F-4EDE-9F6F-BA03EAE93585}" type="datetimeFigureOut">
              <a:rPr lang="zh-CN" altLang="en-US" smtClean="0"/>
              <a:t>2025/10/9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F528577-5564-5143-6C46-998E8444AF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9BC0C32-9C9A-9269-22FA-F2C07BEFBC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A572E3-C90E-40DC-937F-4A200CFE7F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77328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594C6E55-8DA4-DB72-228D-2012DB79FF91}"/>
              </a:ext>
            </a:extLst>
          </p:cNvPr>
          <p:cNvSpPr txBox="1"/>
          <p:nvPr/>
        </p:nvSpPr>
        <p:spPr>
          <a:xfrm>
            <a:off x="2044390" y="1852235"/>
            <a:ext cx="831137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/>
              <a:t>CSA-Bench</a:t>
            </a:r>
            <a:r>
              <a:rPr lang="zh-CN" altLang="en-US" sz="2800" b="1" dirty="0"/>
              <a:t>：</a:t>
            </a:r>
            <a:r>
              <a:rPr lang="en-US" altLang="zh-CN" sz="2800" b="1" dirty="0"/>
              <a:t>A Multi-modal Video Benchmark for Construction-Site Safety Understanding</a:t>
            </a:r>
            <a:endParaRPr lang="zh-CN" altLang="en-US" sz="2800" b="1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2B91AFA-5C93-22A9-DC41-899EBE64A660}"/>
              </a:ext>
            </a:extLst>
          </p:cNvPr>
          <p:cNvSpPr txBox="1"/>
          <p:nvPr/>
        </p:nvSpPr>
        <p:spPr>
          <a:xfrm>
            <a:off x="2039702" y="3733801"/>
            <a:ext cx="83113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altLang="zh-CN" sz="2400" b="1" dirty="0"/>
              <a:t>CSA-Bench</a:t>
            </a:r>
            <a:r>
              <a:rPr lang="zh-CN" altLang="en-GB" sz="2400" b="1" dirty="0"/>
              <a:t>：</a:t>
            </a:r>
            <a:r>
              <a:rPr lang="zh-CN" altLang="en-US" sz="2400" b="1" dirty="0"/>
              <a:t>面向建筑工地安全管理的多模态视频理解基准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4909FC5-EB1D-D260-F3FB-CA9BA8C50854}"/>
              </a:ext>
            </a:extLst>
          </p:cNvPr>
          <p:cNvSpPr txBox="1"/>
          <p:nvPr/>
        </p:nvSpPr>
        <p:spPr>
          <a:xfrm>
            <a:off x="10080703" y="6177775"/>
            <a:ext cx="23268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2025.10.9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78751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25422401-5B86-3422-9075-FB333D5BF6F4}"/>
              </a:ext>
            </a:extLst>
          </p:cNvPr>
          <p:cNvSpPr/>
          <p:nvPr/>
        </p:nvSpPr>
        <p:spPr>
          <a:xfrm>
            <a:off x="0" y="2626340"/>
            <a:ext cx="2095230" cy="85476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</a:rPr>
              <a:t>数据下载</a:t>
            </a:r>
          </a:p>
          <a:p>
            <a:pPr algn="ctr"/>
            <a:r>
              <a:rPr lang="zh-CN" altLang="en-US" sz="1600" b="1" dirty="0">
                <a:solidFill>
                  <a:schemeClr val="tx1"/>
                </a:solidFill>
              </a:rPr>
              <a:t>（由我统一下载发布）</a:t>
            </a:r>
          </a:p>
          <a:p>
            <a:pPr algn="ctr"/>
            <a:r>
              <a:rPr lang="zh-CN" altLang="en-US" sz="1600" b="1" dirty="0">
                <a:solidFill>
                  <a:schemeClr val="tx1"/>
                </a:solidFill>
              </a:rPr>
              <a:t>（</a:t>
            </a:r>
            <a:r>
              <a:rPr lang="zh-CN" altLang="en-US" sz="1600" b="1" dirty="0">
                <a:solidFill>
                  <a:srgbClr val="00B0F0"/>
                </a:solidFill>
              </a:rPr>
              <a:t>半自动</a:t>
            </a:r>
            <a:r>
              <a:rPr lang="zh-CN" altLang="en-US" sz="1600" b="1" dirty="0">
                <a:solidFill>
                  <a:schemeClr val="tx1"/>
                </a:solidFill>
              </a:rPr>
              <a:t>）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25086A3-7CB8-0F6B-48ED-9FC9E0420460}"/>
              </a:ext>
            </a:extLst>
          </p:cNvPr>
          <p:cNvSpPr/>
          <p:nvPr/>
        </p:nvSpPr>
        <p:spPr>
          <a:xfrm>
            <a:off x="2324985" y="2658237"/>
            <a:ext cx="1655751" cy="79096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</a:rPr>
              <a:t>视频分段</a:t>
            </a:r>
          </a:p>
          <a:p>
            <a:pPr algn="ctr"/>
            <a:r>
              <a:rPr lang="zh-CN" altLang="en-US" sz="1600" b="1" dirty="0">
                <a:solidFill>
                  <a:schemeClr val="tx1"/>
                </a:solidFill>
              </a:rPr>
              <a:t>（标注人员执行）</a:t>
            </a:r>
          </a:p>
          <a:p>
            <a:pPr algn="ctr"/>
            <a:r>
              <a:rPr lang="zh-CN" altLang="en-US" sz="1600" b="1" dirty="0">
                <a:solidFill>
                  <a:schemeClr val="tx1"/>
                </a:solidFill>
              </a:rPr>
              <a:t>（</a:t>
            </a:r>
            <a:r>
              <a:rPr lang="zh-CN" altLang="en-US" sz="1600" b="1" dirty="0">
                <a:solidFill>
                  <a:schemeClr val="accent6">
                    <a:lumMod val="75000"/>
                  </a:schemeClr>
                </a:solidFill>
              </a:rPr>
              <a:t>自动化</a:t>
            </a:r>
            <a:r>
              <a:rPr lang="zh-CN" altLang="en-US" sz="1600" b="1" dirty="0">
                <a:solidFill>
                  <a:schemeClr val="tx1"/>
                </a:solidFill>
              </a:rPr>
              <a:t>）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ED376C6B-B3D0-46B8-8B11-AE5900EE4DE2}"/>
              </a:ext>
            </a:extLst>
          </p:cNvPr>
          <p:cNvSpPr/>
          <p:nvPr/>
        </p:nvSpPr>
        <p:spPr>
          <a:xfrm>
            <a:off x="4139608" y="2725576"/>
            <a:ext cx="1024887" cy="65629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</a:rPr>
              <a:t>视频标注</a:t>
            </a:r>
          </a:p>
          <a:p>
            <a:pPr algn="ctr"/>
            <a:r>
              <a:rPr lang="zh-CN" altLang="en-US" sz="1600" b="1" dirty="0">
                <a:solidFill>
                  <a:schemeClr val="tx1"/>
                </a:solidFill>
              </a:rPr>
              <a:t>（</a:t>
            </a:r>
            <a:r>
              <a:rPr lang="zh-CN" altLang="en-US" sz="1600" b="1" dirty="0">
                <a:solidFill>
                  <a:srgbClr val="EE0000"/>
                </a:solidFill>
              </a:rPr>
              <a:t>人工</a:t>
            </a:r>
            <a:r>
              <a:rPr lang="zh-CN" altLang="en-US" sz="1600" b="1" dirty="0">
                <a:solidFill>
                  <a:schemeClr val="tx1"/>
                </a:solidFill>
              </a:rPr>
              <a:t>）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FFF97177-22F4-5FA5-9326-9E2B7F899597}"/>
              </a:ext>
            </a:extLst>
          </p:cNvPr>
          <p:cNvSpPr/>
          <p:nvPr/>
        </p:nvSpPr>
        <p:spPr>
          <a:xfrm>
            <a:off x="9548037" y="2536887"/>
            <a:ext cx="2513444" cy="103366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</a:rPr>
              <a:t>微调新模型</a:t>
            </a:r>
          </a:p>
          <a:p>
            <a:pPr algn="ctr"/>
            <a:r>
              <a:rPr lang="en-US" altLang="zh-CN" sz="1600" b="1" dirty="0">
                <a:solidFill>
                  <a:schemeClr val="tx1"/>
                </a:solidFill>
              </a:rPr>
              <a:t>/</a:t>
            </a:r>
          </a:p>
          <a:p>
            <a:pPr algn="ctr"/>
            <a:r>
              <a:rPr lang="zh-CN" altLang="en-US" sz="1600" b="1" dirty="0">
                <a:solidFill>
                  <a:schemeClr val="tx1"/>
                </a:solidFill>
              </a:rPr>
              <a:t>教练模型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0E90EB62-2AE7-602E-6B2D-D16F8B92CB3A}"/>
              </a:ext>
            </a:extLst>
          </p:cNvPr>
          <p:cNvSpPr/>
          <p:nvPr/>
        </p:nvSpPr>
        <p:spPr>
          <a:xfrm>
            <a:off x="7950222" y="2739213"/>
            <a:ext cx="1262346" cy="62901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chemeClr val="tx1"/>
                </a:solidFill>
              </a:rPr>
              <a:t>CSA</a:t>
            </a:r>
            <a:r>
              <a:rPr lang="zh-CN" altLang="en-US" sz="1600" b="1" dirty="0">
                <a:solidFill>
                  <a:schemeClr val="tx1"/>
                </a:solidFill>
              </a:rPr>
              <a:t>数据集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3AEE79E-C580-A156-04CD-D5782BCA194B}"/>
              </a:ext>
            </a:extLst>
          </p:cNvPr>
          <p:cNvSpPr/>
          <p:nvPr/>
        </p:nvSpPr>
        <p:spPr>
          <a:xfrm>
            <a:off x="5638337" y="4149626"/>
            <a:ext cx="1815010" cy="172490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</a:rPr>
              <a:t>根据需要标注遮罩或检测框</a:t>
            </a:r>
          </a:p>
          <a:p>
            <a:pPr algn="ctr"/>
            <a:r>
              <a:rPr lang="zh-CN" altLang="en-US" sz="1600" b="1" dirty="0">
                <a:solidFill>
                  <a:schemeClr val="tx1"/>
                </a:solidFill>
              </a:rPr>
              <a:t>（开源模型标注）</a:t>
            </a:r>
          </a:p>
          <a:p>
            <a:pPr algn="ctr"/>
            <a:r>
              <a:rPr lang="zh-CN" altLang="en-US" sz="1600" b="1" dirty="0">
                <a:solidFill>
                  <a:schemeClr val="tx1"/>
                </a:solidFill>
              </a:rPr>
              <a:t>（需要调整代码和时序信息匹配）</a:t>
            </a:r>
          </a:p>
          <a:p>
            <a:pPr algn="ctr"/>
            <a:r>
              <a:rPr lang="zh-CN" altLang="en-US" sz="1600" b="1" dirty="0">
                <a:solidFill>
                  <a:schemeClr val="tx1"/>
                </a:solidFill>
              </a:rPr>
              <a:t>（</a:t>
            </a:r>
            <a:r>
              <a:rPr lang="zh-CN" altLang="en-US" sz="1600" b="1" dirty="0">
                <a:solidFill>
                  <a:srgbClr val="00B0F0"/>
                </a:solidFill>
              </a:rPr>
              <a:t>半自动</a:t>
            </a:r>
            <a:r>
              <a:rPr lang="zh-CN" altLang="en-US" sz="1600" b="1" dirty="0">
                <a:solidFill>
                  <a:schemeClr val="tx1"/>
                </a:solidFill>
              </a:rPr>
              <a:t>）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45B77677-02BC-F7B8-3D96-614A8BD21EBD}"/>
              </a:ext>
            </a:extLst>
          </p:cNvPr>
          <p:cNvSpPr/>
          <p:nvPr/>
        </p:nvSpPr>
        <p:spPr>
          <a:xfrm>
            <a:off x="5771089" y="1381618"/>
            <a:ext cx="1524617" cy="83704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chemeClr val="tx1"/>
                </a:solidFill>
              </a:rPr>
              <a:t>gpt</a:t>
            </a:r>
            <a:r>
              <a:rPr lang="zh-CN" altLang="en-US" sz="1600" b="1" dirty="0">
                <a:solidFill>
                  <a:schemeClr val="tx1"/>
                </a:solidFill>
              </a:rPr>
              <a:t>生成问答题</a:t>
            </a:r>
          </a:p>
          <a:p>
            <a:pPr algn="ctr"/>
            <a:r>
              <a:rPr lang="zh-CN" altLang="en-US" sz="1600" b="1" dirty="0">
                <a:solidFill>
                  <a:schemeClr val="tx1"/>
                </a:solidFill>
              </a:rPr>
              <a:t>（提示词工程）</a:t>
            </a:r>
          </a:p>
          <a:p>
            <a:pPr algn="ctr"/>
            <a:r>
              <a:rPr lang="zh-CN" altLang="en-US" sz="1600" b="1" dirty="0">
                <a:solidFill>
                  <a:schemeClr val="tx1"/>
                </a:solidFill>
              </a:rPr>
              <a:t>（</a:t>
            </a:r>
            <a:r>
              <a:rPr lang="zh-CN" altLang="en-US" sz="1600" b="1" dirty="0">
                <a:solidFill>
                  <a:srgbClr val="00B0F0"/>
                </a:solidFill>
              </a:rPr>
              <a:t>半自动</a:t>
            </a:r>
            <a:r>
              <a:rPr lang="zh-CN" altLang="en-US" sz="1600" b="1" dirty="0">
                <a:solidFill>
                  <a:schemeClr val="tx1"/>
                </a:solidFill>
              </a:rPr>
              <a:t>）</a:t>
            </a:r>
          </a:p>
        </p:txBody>
      </p:sp>
      <p:cxnSp>
        <p:nvCxnSpPr>
          <p:cNvPr id="3" name="连接符: 肘形 2">
            <a:extLst>
              <a:ext uri="{FF2B5EF4-FFF2-40B4-BE49-F238E27FC236}">
                <a16:creationId xmlns:a16="http://schemas.microsoft.com/office/drawing/2014/main" id="{601EF20F-5FB3-DF23-CE2F-17D7F641B481}"/>
              </a:ext>
            </a:extLst>
          </p:cNvPr>
          <p:cNvCxnSpPr>
            <a:stCxn id="16" idx="3"/>
            <a:endCxn id="18" idx="1"/>
          </p:cNvCxnSpPr>
          <p:nvPr/>
        </p:nvCxnSpPr>
        <p:spPr>
          <a:xfrm flipV="1">
            <a:off x="2095230" y="3053721"/>
            <a:ext cx="229755" cy="1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连接符: 肘形 4">
            <a:extLst>
              <a:ext uri="{FF2B5EF4-FFF2-40B4-BE49-F238E27FC236}">
                <a16:creationId xmlns:a16="http://schemas.microsoft.com/office/drawing/2014/main" id="{38BEA792-A9A5-AAA7-2C00-253E1E917E2D}"/>
              </a:ext>
            </a:extLst>
          </p:cNvPr>
          <p:cNvCxnSpPr>
            <a:stCxn id="18" idx="3"/>
            <a:endCxn id="21" idx="1"/>
          </p:cNvCxnSpPr>
          <p:nvPr/>
        </p:nvCxnSpPr>
        <p:spPr>
          <a:xfrm>
            <a:off x="3980736" y="3053721"/>
            <a:ext cx="158872" cy="12700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连接符: 肘形 6">
            <a:extLst>
              <a:ext uri="{FF2B5EF4-FFF2-40B4-BE49-F238E27FC236}">
                <a16:creationId xmlns:a16="http://schemas.microsoft.com/office/drawing/2014/main" id="{B50B9003-A3B9-B4E8-31A4-0716A8F9FDE3}"/>
              </a:ext>
            </a:extLst>
          </p:cNvPr>
          <p:cNvCxnSpPr>
            <a:stCxn id="21" idx="3"/>
            <a:endCxn id="26" idx="1"/>
          </p:cNvCxnSpPr>
          <p:nvPr/>
        </p:nvCxnSpPr>
        <p:spPr>
          <a:xfrm flipV="1">
            <a:off x="5164495" y="1800140"/>
            <a:ext cx="606594" cy="1253581"/>
          </a:xfrm>
          <a:prstGeom prst="bentConnector3">
            <a:avLst>
              <a:gd name="adj1" fmla="val 39155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连接符: 肘形 8">
            <a:extLst>
              <a:ext uri="{FF2B5EF4-FFF2-40B4-BE49-F238E27FC236}">
                <a16:creationId xmlns:a16="http://schemas.microsoft.com/office/drawing/2014/main" id="{41D5EAD9-C577-75F1-6B8C-39D4A3C0A828}"/>
              </a:ext>
            </a:extLst>
          </p:cNvPr>
          <p:cNvCxnSpPr>
            <a:cxnSpLocks/>
            <a:stCxn id="21" idx="3"/>
            <a:endCxn id="25" idx="1"/>
          </p:cNvCxnSpPr>
          <p:nvPr/>
        </p:nvCxnSpPr>
        <p:spPr>
          <a:xfrm>
            <a:off x="5164495" y="3053721"/>
            <a:ext cx="473842" cy="1958356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连接符: 肘形 13">
            <a:extLst>
              <a:ext uri="{FF2B5EF4-FFF2-40B4-BE49-F238E27FC236}">
                <a16:creationId xmlns:a16="http://schemas.microsoft.com/office/drawing/2014/main" id="{0432A920-F048-C981-ABA7-750BC52C8D56}"/>
              </a:ext>
            </a:extLst>
          </p:cNvPr>
          <p:cNvCxnSpPr>
            <a:stCxn id="26" idx="3"/>
            <a:endCxn id="24" idx="1"/>
          </p:cNvCxnSpPr>
          <p:nvPr/>
        </p:nvCxnSpPr>
        <p:spPr>
          <a:xfrm>
            <a:off x="7295706" y="1800140"/>
            <a:ext cx="654516" cy="1253581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连接符: 肘形 19">
            <a:extLst>
              <a:ext uri="{FF2B5EF4-FFF2-40B4-BE49-F238E27FC236}">
                <a16:creationId xmlns:a16="http://schemas.microsoft.com/office/drawing/2014/main" id="{8905EDB8-5916-FB5C-9306-D3431E316C48}"/>
              </a:ext>
            </a:extLst>
          </p:cNvPr>
          <p:cNvCxnSpPr>
            <a:stCxn id="25" idx="3"/>
            <a:endCxn id="24" idx="1"/>
          </p:cNvCxnSpPr>
          <p:nvPr/>
        </p:nvCxnSpPr>
        <p:spPr>
          <a:xfrm flipV="1">
            <a:off x="7453347" y="3053721"/>
            <a:ext cx="496875" cy="1958356"/>
          </a:xfrm>
          <a:prstGeom prst="bentConnector3">
            <a:avLst>
              <a:gd name="adj1" fmla="val 34113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连接符: 肘形 28">
            <a:extLst>
              <a:ext uri="{FF2B5EF4-FFF2-40B4-BE49-F238E27FC236}">
                <a16:creationId xmlns:a16="http://schemas.microsoft.com/office/drawing/2014/main" id="{1534B9F2-F89C-8CC3-9B34-61D98FD144DB}"/>
              </a:ext>
            </a:extLst>
          </p:cNvPr>
          <p:cNvCxnSpPr>
            <a:stCxn id="24" idx="3"/>
            <a:endCxn id="23" idx="1"/>
          </p:cNvCxnSpPr>
          <p:nvPr/>
        </p:nvCxnSpPr>
        <p:spPr>
          <a:xfrm>
            <a:off x="9212568" y="3053721"/>
            <a:ext cx="335469" cy="1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13072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663</TotalTime>
  <Words>150</Words>
  <Application>Microsoft Office PowerPoint</Application>
  <PresentationFormat>宽屏</PresentationFormat>
  <Paragraphs>23</Paragraphs>
  <Slides>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荣臻 王</dc:creator>
  <cp:lastModifiedBy>荣臻 王</cp:lastModifiedBy>
  <cp:revision>7</cp:revision>
  <dcterms:created xsi:type="dcterms:W3CDTF">2025-05-08T02:56:12Z</dcterms:created>
  <dcterms:modified xsi:type="dcterms:W3CDTF">2025-10-09T06:21:06Z</dcterms:modified>
</cp:coreProperties>
</file>